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3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sz="1088" b="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en-US" sz="1088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sz="1088" b="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0.02</a:t>
            </a:r>
            <a:r>
              <a:rPr lang="en-US"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899"/>
            <a:ext cx="112183" cy="76201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</a:t>
            </a:r>
            <a:r>
              <a:rPr lang="en-US"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073" b="1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</a:t>
            </a:r>
            <a:r>
              <a:rPr lang="en-US" altLang="zh-CN"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073" b="1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NumPy naive / 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</a:t>
            </a:r>
            <a:r>
              <a:rPr lang="en-US"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</a:t>
            </a:r>
            <a:endParaRPr sz="1073" b="1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</a:t>
            </a:r>
            <a:r>
              <a:rPr lang="en-US"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9</a:t>
            </a:r>
            <a:endParaRPr sz="1073" b="1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78B9A5E-0AAE-4BC4-8A9D-1C8C22C1FA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DB5BC1-FAF1-4149-9AB2-0118A4945A4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B5C2AB-5A1C-4A39-A5E1-D97BDFD23CD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卷积类型与应用情况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165EB0-EE1E-4E6A-8214-3066C91BB50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卷积形态消融已完成：groups=2 与转置卷积 Val MSE 最低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8D754-2C1F-4302-BFB4-505AA4F75697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 DonkeyCar ResNet18-style、base_channels=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、temporal split、20 epoch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EF4A1E-2398-444A-A8DE-10B2D46BDBD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22E2C2-F46B-4E11-AEDD-736E6A503366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0" name="表格底板"/>
          <p:cNvSpPr>
            <a:spLocks noGrp="1"/>
          </p:cNvSpPr>
          <p:nvPr/>
        </p:nvSpPr>
        <p:spPr>
          <a:xfrm>
            <a:off x="666750" y="2133600"/>
            <a:ext cx="7170000" cy="2475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01" name="表头底色"/>
          <p:cNvSpPr>
            <a:spLocks noGrp="1"/>
          </p:cNvSpPr>
          <p:nvPr/>
        </p:nvSpPr>
        <p:spPr>
          <a:xfrm>
            <a:off x="666750" y="2133600"/>
            <a:ext cx="7170000" cy="27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02" name="表头102"/>
          <p:cNvSpPr>
            <a:spLocks noGrp="1"/>
          </p:cNvSpPr>
          <p:nvPr/>
        </p:nvSpPr>
        <p:spPr>
          <a:xfrm>
            <a:off x="736750" y="2198600"/>
            <a:ext cx="17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变体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3" name="表头103"/>
          <p:cNvSpPr>
            <a:spLocks noGrp="1"/>
          </p:cNvSpPr>
          <p:nvPr/>
        </p:nvSpPr>
        <p:spPr>
          <a:xfrm>
            <a:off x="2636750" y="2198600"/>
            <a:ext cx="123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头104"/>
          <p:cNvSpPr>
            <a:spLocks noGrp="1"/>
          </p:cNvSpPr>
          <p:nvPr/>
        </p:nvSpPr>
        <p:spPr>
          <a:xfrm>
            <a:off x="398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acc@0.10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头105"/>
          <p:cNvSpPr>
            <a:spLocks noGrp="1"/>
          </p:cNvSpPr>
          <p:nvPr/>
        </p:nvSpPr>
        <p:spPr>
          <a:xfrm>
            <a:off x="524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GFLOPs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头106"/>
          <p:cNvSpPr>
            <a:spLocks noGrp="1"/>
          </p:cNvSpPr>
          <p:nvPr/>
        </p:nvSpPr>
        <p:spPr>
          <a:xfrm>
            <a:off x="6506750" y="2198600"/>
            <a:ext cx="12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p50 latency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736750" y="24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group2_k3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2636750" y="24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表格文字109"/>
          <p:cNvSpPr>
            <a:spLocks noGrp="1"/>
          </p:cNvSpPr>
          <p:nvPr/>
        </p:nvSpPr>
        <p:spPr>
          <a:xfrm>
            <a:off x="398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.55%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524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0.215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6506750" y="24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11.36ms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隔行底色112"/>
          <p:cNvSpPr>
            <a:spLocks noGrp="1"/>
          </p:cNvSpPr>
          <p:nvPr/>
        </p:nvSpPr>
        <p:spPr>
          <a:xfrm>
            <a:off x="666750" y="26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36750" y="27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transpose_k3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636750" y="27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98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9.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表格文字116"/>
          <p:cNvSpPr>
            <a:spLocks noGrp="1"/>
          </p:cNvSpPr>
          <p:nvPr/>
        </p:nvSpPr>
        <p:spPr>
          <a:xfrm>
            <a:off x="524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6506750" y="27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13.23ms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736750" y="30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kernel31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2636750" y="30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0.01943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398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89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.35%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524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35.40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6506750" y="30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182.83ms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隔行底色123"/>
          <p:cNvSpPr>
            <a:spLocks noGrp="1"/>
          </p:cNvSpPr>
          <p:nvPr/>
        </p:nvSpPr>
        <p:spPr>
          <a:xfrm>
            <a:off x="666750" y="32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24" name="表格文字124"/>
          <p:cNvSpPr>
            <a:spLocks noGrp="1"/>
          </p:cNvSpPr>
          <p:nvPr/>
        </p:nvSpPr>
        <p:spPr>
          <a:xfrm>
            <a:off x="736750" y="32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dilation2_k3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" name="表格文字125"/>
          <p:cNvSpPr>
            <a:spLocks noGrp="1"/>
          </p:cNvSpPr>
          <p:nvPr/>
        </p:nvSpPr>
        <p:spPr>
          <a:xfrm>
            <a:off x="2636750" y="32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0.01997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表格文字126"/>
          <p:cNvSpPr>
            <a:spLocks noGrp="1"/>
          </p:cNvSpPr>
          <p:nvPr/>
        </p:nvSpPr>
        <p:spPr>
          <a:xfrm>
            <a:off x="398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89.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7" name="表格文字127"/>
          <p:cNvSpPr>
            <a:spLocks noGrp="1"/>
          </p:cNvSpPr>
          <p:nvPr/>
        </p:nvSpPr>
        <p:spPr>
          <a:xfrm>
            <a:off x="524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8" name="表格文字128"/>
          <p:cNvSpPr>
            <a:spLocks noGrp="1"/>
          </p:cNvSpPr>
          <p:nvPr/>
        </p:nvSpPr>
        <p:spPr>
          <a:xfrm>
            <a:off x="6506750" y="32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11.82ms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" name="表格文字129"/>
          <p:cNvSpPr>
            <a:spLocks noGrp="1"/>
          </p:cNvSpPr>
          <p:nvPr/>
        </p:nvSpPr>
        <p:spPr>
          <a:xfrm>
            <a:off x="736750" y="35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0" name="表格文字130"/>
          <p:cNvSpPr>
            <a:spLocks noGrp="1"/>
          </p:cNvSpPr>
          <p:nvPr/>
        </p:nvSpPr>
        <p:spPr>
          <a:xfrm>
            <a:off x="2636750" y="35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0.02097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" name="表格文字131"/>
          <p:cNvSpPr>
            <a:spLocks noGrp="1"/>
          </p:cNvSpPr>
          <p:nvPr/>
        </p:nvSpPr>
        <p:spPr>
          <a:xfrm>
            <a:off x="398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86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.10%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" name="表格文字132"/>
          <p:cNvSpPr>
            <a:spLocks noGrp="1"/>
          </p:cNvSpPr>
          <p:nvPr/>
        </p:nvSpPr>
        <p:spPr>
          <a:xfrm>
            <a:off x="524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0.969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" name="表格文字133"/>
          <p:cNvSpPr>
            <a:spLocks noGrp="1"/>
          </p:cNvSpPr>
          <p:nvPr/>
        </p:nvSpPr>
        <p:spPr>
          <a:xfrm>
            <a:off x="6506750" y="35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19.82ms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" name="隔行底色134"/>
          <p:cNvSpPr>
            <a:spLocks noGrp="1"/>
          </p:cNvSpPr>
          <p:nvPr/>
        </p:nvSpPr>
        <p:spPr>
          <a:xfrm>
            <a:off x="666750" y="37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35" name="表格文字135"/>
          <p:cNvSpPr>
            <a:spLocks noGrp="1"/>
          </p:cNvSpPr>
          <p:nvPr/>
        </p:nvSpPr>
        <p:spPr>
          <a:xfrm>
            <a:off x="736750" y="38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standard_k3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" name="表格文字136"/>
          <p:cNvSpPr>
            <a:spLocks noGrp="1"/>
          </p:cNvSpPr>
          <p:nvPr/>
        </p:nvSpPr>
        <p:spPr>
          <a:xfrm>
            <a:off x="2636750" y="38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0.02107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" name="表格文字137"/>
          <p:cNvSpPr>
            <a:spLocks noGrp="1"/>
          </p:cNvSpPr>
          <p:nvPr/>
        </p:nvSpPr>
        <p:spPr>
          <a:xfrm>
            <a:off x="398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.30%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表格文字138"/>
          <p:cNvSpPr>
            <a:spLocks noGrp="1"/>
          </p:cNvSpPr>
          <p:nvPr/>
        </p:nvSpPr>
        <p:spPr>
          <a:xfrm>
            <a:off x="524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9" name="表格文字139"/>
          <p:cNvSpPr>
            <a:spLocks noGrp="1"/>
          </p:cNvSpPr>
          <p:nvPr/>
        </p:nvSpPr>
        <p:spPr>
          <a:xfrm>
            <a:off x="6506750" y="38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11.83ms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" name="表格文字140"/>
          <p:cNvSpPr>
            <a:spLocks noGrp="1"/>
          </p:cNvSpPr>
          <p:nvPr/>
        </p:nvSpPr>
        <p:spPr>
          <a:xfrm>
            <a:off x="736750" y="41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depthwise_k3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1" name="表格文字141"/>
          <p:cNvSpPr>
            <a:spLocks noGrp="1"/>
          </p:cNvSpPr>
          <p:nvPr/>
        </p:nvSpPr>
        <p:spPr>
          <a:xfrm>
            <a:off x="2636750" y="41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0.02422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表格文字142"/>
          <p:cNvSpPr>
            <a:spLocks noGrp="1"/>
          </p:cNvSpPr>
          <p:nvPr/>
        </p:nvSpPr>
        <p:spPr>
          <a:xfrm>
            <a:off x="398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7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.95%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3" name="表格文字143"/>
          <p:cNvSpPr>
            <a:spLocks noGrp="1"/>
          </p:cNvSpPr>
          <p:nvPr/>
        </p:nvSpPr>
        <p:spPr>
          <a:xfrm>
            <a:off x="524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0.091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" name="表格文字144"/>
          <p:cNvSpPr>
            <a:spLocks noGrp="1"/>
          </p:cNvSpPr>
          <p:nvPr/>
        </p:nvSpPr>
        <p:spPr>
          <a:xfrm>
            <a:off x="6506750" y="41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10.70ms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5" name="隔行底色145"/>
          <p:cNvSpPr>
            <a:spLocks noGrp="1"/>
          </p:cNvSpPr>
          <p:nvPr/>
        </p:nvSpPr>
        <p:spPr>
          <a:xfrm>
            <a:off x="666750" y="43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46" name="表格文字146"/>
          <p:cNvSpPr>
            <a:spLocks noGrp="1"/>
          </p:cNvSpPr>
          <p:nvPr/>
        </p:nvSpPr>
        <p:spPr>
          <a:xfrm>
            <a:off x="736750" y="43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7" name="表格文字147"/>
          <p:cNvSpPr>
            <a:spLocks noGrp="1"/>
          </p:cNvSpPr>
          <p:nvPr/>
        </p:nvSpPr>
        <p:spPr>
          <a:xfrm>
            <a:off x="2636750" y="43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0.02761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8" name="表格文字148"/>
          <p:cNvSpPr>
            <a:spLocks noGrp="1"/>
          </p:cNvSpPr>
          <p:nvPr/>
        </p:nvSpPr>
        <p:spPr>
          <a:xfrm>
            <a:off x="398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85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.70%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9" name="表格文字149"/>
          <p:cNvSpPr>
            <a:spLocks noGrp="1"/>
          </p:cNvSpPr>
          <p:nvPr/>
        </p:nvSpPr>
        <p:spPr>
          <a:xfrm>
            <a:off x="524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0.086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0" name="表格文字150"/>
          <p:cNvSpPr>
            <a:spLocks noGrp="1"/>
          </p:cNvSpPr>
          <p:nvPr/>
        </p:nvSpPr>
        <p:spPr>
          <a:xfrm>
            <a:off x="6506750" y="43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6.75ms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1" name="结论卡151"/>
          <p:cNvSpPr>
            <a:spLocks noGrp="1"/>
          </p:cNvSpPr>
          <p:nvPr/>
        </p:nvSpPr>
        <p:spPr>
          <a:xfrm>
            <a:off x="8953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2" name="结论顶线152"/>
          <p:cNvSpPr>
            <a:spLocks noGrp="1"/>
          </p:cNvSpPr>
          <p:nvPr/>
        </p:nvSpPr>
        <p:spPr>
          <a:xfrm>
            <a:off x="8953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3" name="结论标题153"/>
          <p:cNvSpPr>
            <a:spLocks noGrp="1"/>
          </p:cNvSpPr>
          <p:nvPr/>
        </p:nvSpPr>
        <p:spPr>
          <a:xfrm>
            <a:off x="10668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尺寸</a:t>
            </a:r>
            <a:endParaRPr sz="11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4" name="结论正文154"/>
          <p:cNvSpPr>
            <a:spLocks noGrp="1"/>
          </p:cNvSpPr>
          <p:nvPr/>
        </p:nvSpPr>
        <p:spPr>
          <a:xfrm>
            <a:off x="10668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k1 精度最差；k31 MSE 较好但 FLOPs 达 35.40，约为 standard_k3 的 93 倍。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5" name="结论卡155"/>
          <p:cNvSpPr>
            <a:spLocks noGrp="1"/>
          </p:cNvSpPr>
          <p:nvPr/>
        </p:nvSpPr>
        <p:spPr>
          <a:xfrm>
            <a:off x="434340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6" name="结论顶线156"/>
          <p:cNvSpPr>
            <a:spLocks noGrp="1"/>
          </p:cNvSpPr>
          <p:nvPr/>
        </p:nvSpPr>
        <p:spPr>
          <a:xfrm>
            <a:off x="434340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7" name="结论标题157"/>
          <p:cNvSpPr>
            <a:spLocks noGrp="1"/>
          </p:cNvSpPr>
          <p:nvPr/>
        </p:nvSpPr>
        <p:spPr>
          <a:xfrm>
            <a:off x="451485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特殊卷积</a:t>
            </a:r>
            <a:endParaRPr sz="11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结论正文158"/>
          <p:cNvSpPr>
            <a:spLocks noGrp="1"/>
          </p:cNvSpPr>
          <p:nvPr/>
        </p:nvSpPr>
        <p:spPr>
          <a:xfrm>
            <a:off x="451485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group2_k3 取得最低 Val MSE，同时 FLOPs 降到 0.215，可作为后续候选结构。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" name="结论卡159"/>
          <p:cNvSpPr>
            <a:spLocks noGrp="1"/>
          </p:cNvSpPr>
          <p:nvPr/>
        </p:nvSpPr>
        <p:spPr>
          <a:xfrm>
            <a:off x="77914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60" name="结论顶线160"/>
          <p:cNvSpPr>
            <a:spLocks noGrp="1"/>
          </p:cNvSpPr>
          <p:nvPr/>
        </p:nvSpPr>
        <p:spPr>
          <a:xfrm>
            <a:off x="77914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61" name="结论标题161"/>
          <p:cNvSpPr>
            <a:spLocks noGrp="1"/>
          </p:cNvSpPr>
          <p:nvPr/>
        </p:nvSpPr>
        <p:spPr>
          <a:xfrm>
            <a:off x="79629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应用结论</a:t>
            </a:r>
            <a:endParaRPr sz="11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" name="结论正文162"/>
          <p:cNvSpPr>
            <a:spLocks noGrp="1"/>
          </p:cNvSpPr>
          <p:nvPr/>
        </p:nvSpPr>
        <p:spPr>
          <a:xfrm>
            <a:off x="79629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depthwise 参数和 FLOPs 最低，但当前结构下精度下降，需要重新设计通道配置。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299" y="3981450"/>
            <a:ext cx="4663889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930087" y="4601135"/>
            <a:ext cx="5022478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Static Pattern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80328"/>
            <a:ext cx="3200400" cy="1783977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799" y="3976968"/>
            <a:ext cx="3200401" cy="75079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9215" y="4239185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sz="1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792319" y="4597774"/>
            <a:ext cx="3378575" cy="7989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2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</a:t>
            </a:r>
            <a:r>
              <a:rPr lang="en-US" altLang="zh-CN" sz="12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2776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9235889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9407339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9407339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zh-CN" alt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38746" y="5126773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38746" y="5450623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EB161C-3909-524A-3B20-8C3141D03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F8193-C298-DC53-A857-C90C0716FA84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D36C3-D7B7-4F85-FE72-23897E0F2845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CCD11B-62B9-1861-CEC0-8F3F9B2A5430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 dirty="0">
                <a:solidFill>
                  <a:srgbClr val="1B222B"/>
                </a:solidFill>
                <a:latin typeface="Microsoft YaHei" panose="020B0503020204020204" pitchFamily="34" charset="-122"/>
              </a:rPr>
              <a:t>部署实验：</a:t>
            </a:r>
            <a:r>
              <a:rPr lang="en-US" altLang="zh-CN" sz="2580" b="1" dirty="0">
                <a:solidFill>
                  <a:srgbClr val="1B222B"/>
                </a:solidFill>
                <a:latin typeface="Microsoft YaHei" panose="020B0503020204020204" pitchFamily="34" charset="-122"/>
              </a:rPr>
              <a:t>Local → Docker → kind/K8s Job</a:t>
            </a:r>
            <a:endParaRPr lang="zh-CN" altLang="en-US" sz="2580" b="1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A107C9-91F9-84F9-E039-07C0866EF16B}"/>
              </a:ext>
            </a:extLst>
          </p:cNvPr>
          <p:cNvSpPr txBox="1"/>
          <p:nvPr/>
        </p:nvSpPr>
        <p:spPr>
          <a:xfrm>
            <a:off x="596900" y="15113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DonkeyCar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 </a:t>
            </a:r>
            <a:r>
              <a:rPr lang="en-US" altLang="zh-CN" sz="14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MyTorch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 JIT </a:t>
            </a:r>
            <a:r>
              <a:rPr lang="zh-CN" altLang="en-US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训练任务，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4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batch_size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=8</a:t>
            </a:r>
            <a:r>
              <a:rPr lang="zh-CN" altLang="en-US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max train/</a:t>
            </a:r>
            <a:r>
              <a:rPr lang="en-US" altLang="zh-CN" sz="14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val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 batches=20</a:t>
            </a:r>
            <a:endParaRPr lang="zh-CN" altLang="en-US" sz="1400" dirty="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A3BDE-E714-F9A8-0ACC-189D0F3604AB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278A8D-C53D-4EE1-401A-0D65126C68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5F1ACD-15A3-17EE-A12B-09ACA71CE415}"/>
              </a:ext>
            </a:extLst>
          </p:cNvPr>
          <p:cNvSpPr txBox="1"/>
          <p:nvPr/>
        </p:nvSpPr>
        <p:spPr>
          <a:xfrm>
            <a:off x="8001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b="1">
                <a:solidFill>
                  <a:srgbClr val="1B222B"/>
                </a:solidFill>
                <a:latin typeface="Microsoft YaHei" panose="020B0503020204020204" pitchFamily="34" charset="-122"/>
              </a:rPr>
              <a:t>容器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6C29ED-1D19-A825-FC3A-55EB551F7E0A}"/>
              </a:ext>
            </a:extLst>
          </p:cNvPr>
          <p:cNvSpPr txBox="1"/>
          <p:nvPr/>
        </p:nvSpPr>
        <p:spPr>
          <a:xfrm>
            <a:off x="8001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构建成功，镜像 </a:t>
            </a:r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mytorch-donkeycar:latest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；数据和输出通过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volume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挂载。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5CC9EC-DF78-3C9A-3CA3-E31F754A8C25}"/>
              </a:ext>
            </a:extLst>
          </p:cNvPr>
          <p:cNvSpPr txBox="1"/>
          <p:nvPr/>
        </p:nvSpPr>
        <p:spPr>
          <a:xfrm>
            <a:off x="800100" y="3315447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 dirty="0">
                <a:solidFill>
                  <a:srgbClr val="2D65F6"/>
                </a:solidFill>
                <a:latin typeface="Microsoft YaHei" panose="020B0503020204020204" pitchFamily="34" charset="-122"/>
              </a:rPr>
              <a:t>build avg 2.343s / image 673MB</a:t>
            </a:r>
            <a:endParaRPr lang="zh-CN" altLang="en-US" sz="1100" b="1" dirty="0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034EED-3087-AA7E-3BA7-F03CB37B6567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B55ADC-71FA-C80E-78DD-C4F7F2A346A3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1386CB-A079-9511-85D3-3BA157749BDA}"/>
              </a:ext>
            </a:extLst>
          </p:cNvPr>
          <p:cNvSpPr txBox="1"/>
          <p:nvPr/>
        </p:nvSpPr>
        <p:spPr>
          <a:xfrm>
            <a:off x="44577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EB8A32-C4C4-0269-C82A-21F78C04215A}"/>
              </a:ext>
            </a:extLst>
          </p:cNvPr>
          <p:cNvSpPr txBox="1"/>
          <p:nvPr/>
        </p:nvSpPr>
        <p:spPr>
          <a:xfrm>
            <a:off x="44577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kind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集群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；镜像已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load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到节点，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Job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hostPath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挂载数据与输出目录。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2AC35-2206-2A8E-1D36-654636F050F7}"/>
              </a:ext>
            </a:extLst>
          </p:cNvPr>
          <p:cNvSpPr txBox="1"/>
          <p:nvPr/>
        </p:nvSpPr>
        <p:spPr>
          <a:xfrm>
            <a:off x="44577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 dirty="0">
                <a:solidFill>
                  <a:srgbClr val="2B8D5C"/>
                </a:solidFill>
                <a:latin typeface="Microsoft YaHei" panose="020B0503020204020204" pitchFamily="34" charset="-122"/>
              </a:rPr>
              <a:t>Complete 1/1 / duration 37s</a:t>
            </a:r>
            <a:endParaRPr lang="zh-CN" altLang="en-US" sz="1100" b="1" dirty="0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06141-FD2C-2DE6-A719-CF7CE6A540B2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FD0D4E-925B-BBBE-81AB-11B144385938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C79C62-8BBD-1000-1621-C8B299E63DBB}"/>
              </a:ext>
            </a:extLst>
          </p:cNvPr>
          <p:cNvSpPr txBox="1"/>
          <p:nvPr/>
        </p:nvSpPr>
        <p:spPr>
          <a:xfrm>
            <a:off x="81153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8BBB2E-3F1A-C228-EFAC-E5B10E21D516}"/>
              </a:ext>
            </a:extLst>
          </p:cNvPr>
          <p:cNvSpPr txBox="1"/>
          <p:nvPr/>
        </p:nvSpPr>
        <p:spPr>
          <a:xfrm>
            <a:off x="81153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入口已完成；本轮验证到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1261B0-1B36-5E7C-340F-1A13237DCB44}"/>
              </a:ext>
            </a:extLst>
          </p:cNvPr>
          <p:cNvSpPr txBox="1"/>
          <p:nvPr/>
        </p:nvSpPr>
        <p:spPr>
          <a:xfrm>
            <a:off x="81153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D68E1D"/>
                </a:solidFill>
                <a:latin typeface="Microsoft YaHei" panose="020B0503020204020204" pitchFamily="34" charset="-122"/>
              </a:rPr>
              <a:t>YAML </a:t>
            </a:r>
            <a:r>
              <a:rPr lang="zh-CN" altLang="en-US" sz="1100" b="1">
                <a:solidFill>
                  <a:srgbClr val="D68E1D"/>
                </a:solidFill>
                <a:latin typeface="Microsoft YaHei" panose="020B0503020204020204" pitchFamily="34" charset="-122"/>
              </a:rPr>
              <a:t>已生成 </a:t>
            </a:r>
            <a:r>
              <a:rPr lang="en-US" altLang="zh-CN" sz="1100" b="1">
                <a:solidFill>
                  <a:srgbClr val="D68E1D"/>
                </a:solidFill>
                <a:latin typeface="Microsoft YaHei" panose="020B0503020204020204" pitchFamily="34" charset="-122"/>
              </a:rPr>
              <a:t>/ UI</a:t>
            </a:r>
            <a:r>
              <a:rPr lang="zh-CN" altLang="en-US" sz="1100" b="1">
                <a:solidFill>
                  <a:srgbClr val="D68E1D"/>
                </a:solidFill>
                <a:latin typeface="Microsoft YaHei" panose="020B0503020204020204" pitchFamily="34" charset="-122"/>
              </a:rPr>
              <a:t>截图待补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CC58A0-A28A-D6ED-CE9F-20279CAC6174}"/>
              </a:ext>
            </a:extLst>
          </p:cNvPr>
          <p:cNvSpPr/>
          <p:nvPr/>
        </p:nvSpPr>
        <p:spPr>
          <a:xfrm>
            <a:off x="597646" y="3759946"/>
            <a:ext cx="10635129" cy="2031253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E2E370-737B-DEE8-81F9-12BCB0898589}"/>
              </a:ext>
            </a:extLst>
          </p:cNvPr>
          <p:cNvSpPr txBox="1"/>
          <p:nvPr/>
        </p:nvSpPr>
        <p:spPr>
          <a:xfrm>
            <a:off x="826247" y="3937747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E1F2AB-CC24-669B-7882-39C7ED95EB55}"/>
              </a:ext>
            </a:extLst>
          </p:cNvPr>
          <p:cNvSpPr txBox="1"/>
          <p:nvPr/>
        </p:nvSpPr>
        <p:spPr>
          <a:xfrm>
            <a:off x="826247" y="430604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120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D67CE-7587-A430-D0DC-DE6966C69B6F}"/>
              </a:ext>
            </a:extLst>
          </p:cNvPr>
          <p:cNvSpPr txBox="1"/>
          <p:nvPr/>
        </p:nvSpPr>
        <p:spPr>
          <a:xfrm>
            <a:off x="2350247" y="430604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120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5CD304-D31F-D44E-8E22-88D53EFA0D4D}"/>
              </a:ext>
            </a:extLst>
          </p:cNvPr>
          <p:cNvSpPr txBox="1"/>
          <p:nvPr/>
        </p:nvSpPr>
        <p:spPr>
          <a:xfrm>
            <a:off x="3556747" y="430604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526070"/>
                </a:solidFill>
                <a:latin typeface="Microsoft YaHei" panose="020B0503020204020204" pitchFamily="34" charset="-122"/>
              </a:rPr>
              <a:t>wall time</a:t>
            </a:r>
            <a:endParaRPr lang="zh-CN" altLang="en-US" sz="120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5A82B96-9438-F50D-5FAB-962204EE082F}"/>
              </a:ext>
            </a:extLst>
          </p:cNvPr>
          <p:cNvSpPr txBox="1"/>
          <p:nvPr/>
        </p:nvSpPr>
        <p:spPr>
          <a:xfrm>
            <a:off x="4890247" y="4306047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 dirty="0">
                <a:solidFill>
                  <a:srgbClr val="526070"/>
                </a:solidFill>
                <a:latin typeface="Microsoft YaHei" panose="020B0503020204020204" pitchFamily="34" charset="-122"/>
              </a:rPr>
              <a:t>训练结果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7DE8D-D5C8-0138-1CA3-3F790BE3D238}"/>
              </a:ext>
            </a:extLst>
          </p:cNvPr>
          <p:cNvSpPr txBox="1"/>
          <p:nvPr/>
        </p:nvSpPr>
        <p:spPr>
          <a:xfrm>
            <a:off x="6731747" y="430604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526070"/>
                </a:solidFill>
                <a:latin typeface="Microsoft YaHei" panose="020B0503020204020204" pitchFamily="34" charset="-122"/>
              </a:rPr>
              <a:t>说明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6FD8334-C415-6402-81AD-BF3DD9743CCF}"/>
              </a:ext>
            </a:extLst>
          </p:cNvPr>
          <p:cNvSpPr txBox="1"/>
          <p:nvPr/>
        </p:nvSpPr>
        <p:spPr>
          <a:xfrm>
            <a:off x="826247" y="458544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2BF7DBD-80E3-5A80-E707-69CFA0F7F7AA}"/>
              </a:ext>
            </a:extLst>
          </p:cNvPr>
          <p:cNvSpPr txBox="1"/>
          <p:nvPr/>
        </p:nvSpPr>
        <p:spPr>
          <a:xfrm>
            <a:off x="2350247" y="458544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8CEEFF-E38B-9A7A-0B34-7E1FBD8EE8C1}"/>
              </a:ext>
            </a:extLst>
          </p:cNvPr>
          <p:cNvSpPr txBox="1"/>
          <p:nvPr/>
        </p:nvSpPr>
        <p:spPr>
          <a:xfrm>
            <a:off x="3556747" y="458544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avg 52.597s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9DB79B-7247-CD91-5647-140EC17DF2B8}"/>
              </a:ext>
            </a:extLst>
          </p:cNvPr>
          <p:cNvSpPr txBox="1"/>
          <p:nvPr/>
        </p:nvSpPr>
        <p:spPr>
          <a:xfrm>
            <a:off x="4890247" y="4585447"/>
            <a:ext cx="1851212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train 42.083s / MSE 1.418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DAA2738-4DE5-3447-88FD-AF7D1760D3D7}"/>
              </a:ext>
            </a:extLst>
          </p:cNvPr>
          <p:cNvSpPr txBox="1"/>
          <p:nvPr/>
        </p:nvSpPr>
        <p:spPr>
          <a:xfrm>
            <a:off x="6731747" y="458544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本地脚本通过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C7DA9D-3532-1704-FEBD-F0C3E703A646}"/>
              </a:ext>
            </a:extLst>
          </p:cNvPr>
          <p:cNvSpPr txBox="1"/>
          <p:nvPr/>
        </p:nvSpPr>
        <p:spPr>
          <a:xfrm>
            <a:off x="826247" y="477848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233CA3E-B7AE-C74C-DEEA-EB568B58F656}"/>
              </a:ext>
            </a:extLst>
          </p:cNvPr>
          <p:cNvSpPr txBox="1"/>
          <p:nvPr/>
        </p:nvSpPr>
        <p:spPr>
          <a:xfrm>
            <a:off x="2350247" y="477848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36DDA67-EDAF-0A12-C601-995A8B4D791A}"/>
              </a:ext>
            </a:extLst>
          </p:cNvPr>
          <p:cNvSpPr txBox="1"/>
          <p:nvPr/>
        </p:nvSpPr>
        <p:spPr>
          <a:xfrm>
            <a:off x="3556747" y="477848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avg 2.343s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C0A487-F2BB-2D5B-0B45-7E4E678D086E}"/>
              </a:ext>
            </a:extLst>
          </p:cNvPr>
          <p:cNvSpPr txBox="1"/>
          <p:nvPr/>
        </p:nvSpPr>
        <p:spPr>
          <a:xfrm>
            <a:off x="4890247" y="4778487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image 673MB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914612E-C501-4E5E-3843-6F57C4DF559E}"/>
              </a:ext>
            </a:extLst>
          </p:cNvPr>
          <p:cNvSpPr txBox="1"/>
          <p:nvPr/>
        </p:nvSpPr>
        <p:spPr>
          <a:xfrm>
            <a:off x="6731747" y="477848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缓存构建成功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56CC3A-854E-C273-6F5B-F016B081C84F}"/>
              </a:ext>
            </a:extLst>
          </p:cNvPr>
          <p:cNvSpPr txBox="1"/>
          <p:nvPr/>
        </p:nvSpPr>
        <p:spPr>
          <a:xfrm>
            <a:off x="826247" y="497152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E935D1-5717-5F28-A72F-00F0FBED6B0A}"/>
              </a:ext>
            </a:extLst>
          </p:cNvPr>
          <p:cNvSpPr txBox="1"/>
          <p:nvPr/>
        </p:nvSpPr>
        <p:spPr>
          <a:xfrm>
            <a:off x="2350247" y="497152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CA7461-7808-44E9-6CD4-0B0FE92D9BB0}"/>
              </a:ext>
            </a:extLst>
          </p:cNvPr>
          <p:cNvSpPr txBox="1"/>
          <p:nvPr/>
        </p:nvSpPr>
        <p:spPr>
          <a:xfrm>
            <a:off x="3556747" y="4971527"/>
            <a:ext cx="222548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avg 36.903s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7E5AF03-3E59-72CB-F958-3A732A218B2D}"/>
              </a:ext>
            </a:extLst>
          </p:cNvPr>
          <p:cNvSpPr txBox="1"/>
          <p:nvPr/>
        </p:nvSpPr>
        <p:spPr>
          <a:xfrm>
            <a:off x="4890246" y="4971527"/>
            <a:ext cx="2048435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train 31.481s / MSE 1.459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C29BF0-7CC4-B1EB-AF95-1AA80FA47808}"/>
              </a:ext>
            </a:extLst>
          </p:cNvPr>
          <p:cNvSpPr txBox="1"/>
          <p:nvPr/>
        </p:nvSpPr>
        <p:spPr>
          <a:xfrm>
            <a:off x="6731747" y="497152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526070"/>
                </a:solidFill>
                <a:latin typeface="Microsoft YaHei" panose="020B0503020204020204" pitchFamily="34" charset="-122"/>
              </a:rPr>
              <a:t>容器内完成 </a:t>
            </a:r>
            <a:r>
              <a:rPr lang="en-US" altLang="zh-CN" sz="110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1100">
                <a:solidFill>
                  <a:srgbClr val="526070"/>
                </a:solidFill>
                <a:latin typeface="Microsoft YaHei" panose="020B0503020204020204" pitchFamily="34" charset="-122"/>
              </a:rPr>
              <a:t>训练并写回输出目录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C399A-C178-C791-59A0-D2650FBF9B61}"/>
              </a:ext>
            </a:extLst>
          </p:cNvPr>
          <p:cNvSpPr txBox="1"/>
          <p:nvPr/>
        </p:nvSpPr>
        <p:spPr>
          <a:xfrm>
            <a:off x="826247" y="516456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k8s_apply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CCDF8E-F0EC-26C6-D6F9-CD0238C21DC5}"/>
              </a:ext>
            </a:extLst>
          </p:cNvPr>
          <p:cNvSpPr txBox="1"/>
          <p:nvPr/>
        </p:nvSpPr>
        <p:spPr>
          <a:xfrm>
            <a:off x="2350247" y="516456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F69765-5DE3-043C-A725-EC0C54C07F47}"/>
              </a:ext>
            </a:extLst>
          </p:cNvPr>
          <p:cNvSpPr txBox="1"/>
          <p:nvPr/>
        </p:nvSpPr>
        <p:spPr>
          <a:xfrm>
            <a:off x="3556747" y="516456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Avg 0.113s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A9E8744-B20A-FDD9-F98E-E978B679B6F4}"/>
              </a:ext>
            </a:extLst>
          </p:cNvPr>
          <p:cNvSpPr txBox="1"/>
          <p:nvPr/>
        </p:nvSpPr>
        <p:spPr>
          <a:xfrm>
            <a:off x="4890247" y="5164567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job created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87912E-5D6F-D376-3AD1-DD9A4FCAB8F9}"/>
              </a:ext>
            </a:extLst>
          </p:cNvPr>
          <p:cNvSpPr txBox="1"/>
          <p:nvPr/>
        </p:nvSpPr>
        <p:spPr>
          <a:xfrm>
            <a:off x="6731747" y="516456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deploy/k8s/</a:t>
            </a:r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donkeycar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-training-</a:t>
            </a:r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job.kind.yaml</a:t>
            </a:r>
            <a:endParaRPr lang="zh-CN" altLang="en-US" sz="1100" dirty="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340450-3B6F-2FC1-D44D-6BF3A7718A3D}"/>
              </a:ext>
            </a:extLst>
          </p:cNvPr>
          <p:cNvSpPr txBox="1"/>
          <p:nvPr/>
        </p:nvSpPr>
        <p:spPr>
          <a:xfrm>
            <a:off x="826247" y="535760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k8s_wait/logs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C1CB9-54D8-18BC-B520-C3A42DCC1DB9}"/>
              </a:ext>
            </a:extLst>
          </p:cNvPr>
          <p:cNvSpPr txBox="1"/>
          <p:nvPr/>
        </p:nvSpPr>
        <p:spPr>
          <a:xfrm>
            <a:off x="2350247" y="535760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427717-CDEA-A0B2-337F-2FC2890FFFF2}"/>
              </a:ext>
            </a:extLst>
          </p:cNvPr>
          <p:cNvSpPr txBox="1"/>
          <p:nvPr/>
        </p:nvSpPr>
        <p:spPr>
          <a:xfrm>
            <a:off x="3556747" y="535760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avg 38.378s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758B8C5-36F6-E049-DA76-280CABD885EF}"/>
              </a:ext>
            </a:extLst>
          </p:cNvPr>
          <p:cNvSpPr txBox="1"/>
          <p:nvPr/>
        </p:nvSpPr>
        <p:spPr>
          <a:xfrm>
            <a:off x="4890247" y="5357607"/>
            <a:ext cx="2308412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train 27.610s / MSE 1.459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6BD44A7-BF43-399E-E3B6-E96F0A7EB57C}"/>
              </a:ext>
            </a:extLst>
          </p:cNvPr>
          <p:cNvSpPr txBox="1"/>
          <p:nvPr/>
        </p:nvSpPr>
        <p:spPr>
          <a:xfrm>
            <a:off x="6731747" y="535760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526070"/>
                </a:solidFill>
                <a:latin typeface="Microsoft YaHei" panose="020B0503020204020204" pitchFamily="34" charset="-122"/>
              </a:rPr>
              <a:t>Job Complete 1/1</a:t>
            </a:r>
            <a:r>
              <a:rPr lang="zh-CN" altLang="en-US" sz="110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100">
                <a:solidFill>
                  <a:srgbClr val="526070"/>
                </a:solidFill>
                <a:latin typeface="Microsoft YaHei" panose="020B0503020204020204" pitchFamily="34" charset="-122"/>
              </a:rPr>
              <a:t>kubectl logs </a:t>
            </a:r>
            <a:r>
              <a:rPr lang="zh-CN" altLang="en-US" sz="1100">
                <a:solidFill>
                  <a:srgbClr val="526070"/>
                </a:solidFill>
                <a:latin typeface="Microsoft YaHei" panose="020B0503020204020204" pitchFamily="34" charset="-122"/>
              </a:rPr>
              <a:t>已抓取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B5CF82-3CED-2C05-C71A-4C79332DB3B5}"/>
              </a:ext>
            </a:extLst>
          </p:cNvPr>
          <p:cNvSpPr/>
          <p:nvPr/>
        </p:nvSpPr>
        <p:spPr>
          <a:xfrm>
            <a:off x="620059" y="5924177"/>
            <a:ext cx="4902200" cy="6350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8EEB4AD-1586-5271-50FE-D5662F072A16}"/>
              </a:ext>
            </a:extLst>
          </p:cNvPr>
          <p:cNvSpPr txBox="1"/>
          <p:nvPr/>
        </p:nvSpPr>
        <p:spPr>
          <a:xfrm>
            <a:off x="848659" y="6051177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B8D5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F30042-DFAD-F762-049F-3F7F239D1DCC}"/>
              </a:ext>
            </a:extLst>
          </p:cNvPr>
          <p:cNvSpPr txBox="1"/>
          <p:nvPr/>
        </p:nvSpPr>
        <p:spPr>
          <a:xfrm>
            <a:off x="848659" y="6305177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dirty="0" err="1">
                <a:solidFill>
                  <a:srgbClr val="1B222B"/>
                </a:solidFill>
                <a:latin typeface="Microsoft YaHei" panose="020B0503020204020204" pitchFamily="34" charset="-122"/>
              </a:rPr>
              <a:t>DonkeyCar</a:t>
            </a:r>
            <a:r>
              <a:rPr lang="en-US" altLang="zh-CN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训练任务已完成本地、</a:t>
            </a:r>
            <a:r>
              <a:rPr lang="en-US" altLang="zh-CN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容器、</a:t>
            </a:r>
            <a:r>
              <a:rPr lang="en-US" altLang="zh-CN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三种部署运行验证。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6C849C4-15FA-8FA2-78D1-40160F6C0CD1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F3FFC487-4A00-F68E-FAE4-B1B491B683B4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3006.5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360759" cy="76356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629771" y="1508312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934571" y="1755962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934571" y="2365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515721" y="2460812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515721" y="2460812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230221" y="2365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934571" y="2746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515721" y="2841812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515721" y="2841812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230221" y="2746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934571" y="3127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515721" y="3222812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515721" y="3222812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230221" y="3127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934571" y="37371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515721" y="3832412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515721" y="3832412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230221" y="37371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5925671" y="1508312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230471" y="1755962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230471" y="2365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811621" y="2460812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811621" y="2460812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240371" y="2365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230471" y="2746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811621" y="2841812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811621" y="2841812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240371" y="2746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230471" y="3127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811621" y="3222812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811621" y="3222812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240371" y="3127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230471" y="37371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811621" y="3832412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811621" y="3832412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240371" y="37371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182221" y="4784912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182221" y="4784912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353671" y="4975412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353671" y="5280212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36494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4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4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4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8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8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4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911038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 dirty="0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599" y="5238749"/>
            <a:ext cx="62753" cy="920003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</a:t>
            </a:r>
            <a:r>
              <a:rPr lang="en-US" altLang="zh-CN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steering label </a:t>
            </a: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物理一致；否则增强会制造错误监督。</a:t>
            </a:r>
            <a:endParaRPr lang="zh-CN" altLang="en-US"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4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0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07DD829-5D01-E18B-2E8D-94071DFBA7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202239-7B85-BA0D-FEAC-8D4BBFC6422A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D3A2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33F642-663D-893B-D50C-48E470619F87}"/>
              </a:ext>
            </a:extLst>
          </p:cNvPr>
          <p:cNvSpPr txBox="1"/>
          <p:nvPr/>
        </p:nvSpPr>
        <p:spPr>
          <a:xfrm>
            <a:off x="635000" y="3429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AB0221-72BB-14DA-1AD3-7C2950F4065A}"/>
              </a:ext>
            </a:extLst>
          </p:cNvPr>
          <p:cNvSpPr txBox="1"/>
          <p:nvPr/>
        </p:nvSpPr>
        <p:spPr>
          <a:xfrm>
            <a:off x="571500" y="736600"/>
            <a:ext cx="111125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未完整实现：完整编译器困难与本项目替代方案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6B0C0D-54E5-0B05-4BEF-12F9FA2E3032}"/>
              </a:ext>
            </a:extLst>
          </p:cNvPr>
          <p:cNvSpPr txBox="1"/>
          <p:nvPr/>
        </p:nvSpPr>
        <p:spPr>
          <a:xfrm>
            <a:off x="596900" y="1371600"/>
            <a:ext cx="10922000" cy="1723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本项目没有实现通用 </a:t>
            </a:r>
            <a:r>
              <a:rPr lang="en-US" altLang="zh-CN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编译器；最终采用 静态模式融合 </a:t>
            </a:r>
            <a:r>
              <a:rPr lang="en-US" altLang="zh-CN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图执行器 作为轻量化替代，并用 </a:t>
            </a:r>
            <a:r>
              <a:rPr lang="en-US" altLang="zh-CN" sz="112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MyTorch</a:t>
            </a:r>
            <a:r>
              <a:rPr lang="en-US" altLang="zh-CN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内部基线验证收益。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CA4C88-C4C1-AD64-A453-FEEE59509626}"/>
              </a:ext>
            </a:extLst>
          </p:cNvPr>
          <p:cNvSpPr/>
          <p:nvPr/>
        </p:nvSpPr>
        <p:spPr>
          <a:xfrm>
            <a:off x="698500" y="1905000"/>
            <a:ext cx="3302000" cy="2819400"/>
          </a:xfrm>
          <a:prstGeom prst="rect">
            <a:avLst/>
          </a:prstGeom>
          <a:solidFill>
            <a:srgbClr val="FCFAF6"/>
          </a:solidFill>
          <a:ln w="15240"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28086F-41AE-DC12-CB80-49F06FBCBDCF}"/>
              </a:ext>
            </a:extLst>
          </p:cNvPr>
          <p:cNvSpPr/>
          <p:nvPr/>
        </p:nvSpPr>
        <p:spPr>
          <a:xfrm>
            <a:off x="698500" y="1905000"/>
            <a:ext cx="3302000" cy="50800"/>
          </a:xfrm>
          <a:prstGeom prst="rect">
            <a:avLst/>
          </a:prstGeom>
          <a:solidFill>
            <a:srgbClr val="CD3A2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F27868-35EE-37C5-E4E8-33CFF00E9FD7}"/>
              </a:ext>
            </a:extLst>
          </p:cNvPr>
          <p:cNvSpPr txBox="1"/>
          <p:nvPr/>
        </p:nvSpPr>
        <p:spPr>
          <a:xfrm>
            <a:off x="952500" y="2159000"/>
            <a:ext cx="27940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的实现困难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2DCCEE-E983-E3EE-2135-E28BB7EF4310}"/>
              </a:ext>
            </a:extLst>
          </p:cNvPr>
          <p:cNvSpPr/>
          <p:nvPr/>
        </p:nvSpPr>
        <p:spPr>
          <a:xfrm>
            <a:off x="952500" y="2552700"/>
            <a:ext cx="1092200" cy="279400"/>
          </a:xfrm>
          <a:prstGeom prst="rect">
            <a:avLst/>
          </a:prstGeom>
          <a:solidFill>
            <a:srgbClr val="FFEEEB"/>
          </a:solidFill>
          <a:ln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077CC4-DBC4-4EFE-635D-87B6DC239380}"/>
              </a:ext>
            </a:extLst>
          </p:cNvPr>
          <p:cNvSpPr txBox="1"/>
          <p:nvPr/>
        </p:nvSpPr>
        <p:spPr>
          <a:xfrm>
            <a:off x="1117600" y="2616200"/>
            <a:ext cx="9144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 b="1" dirty="0">
                <a:solidFill>
                  <a:srgbClr val="CD3A2E"/>
                </a:solidFill>
                <a:latin typeface="Microsoft YaHei" panose="020B0503020204020204" pitchFamily="34" charset="-122"/>
              </a:rPr>
              <a:t>本阶段未完成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91C703-4DC6-8365-CE13-0B52BFFA7358}"/>
              </a:ext>
            </a:extLst>
          </p:cNvPr>
          <p:cNvSpPr txBox="1"/>
          <p:nvPr/>
        </p:nvSpPr>
        <p:spPr>
          <a:xfrm>
            <a:off x="952499" y="3015128"/>
            <a:ext cx="2991971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动态图捕获与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IR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：需要把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Python/eager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执行转成可分析的计算图，支持控制流、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B4E4D2-001C-C73C-99C4-319DFDDE3835}"/>
              </a:ext>
            </a:extLst>
          </p:cNvPr>
          <p:cNvSpPr txBox="1"/>
          <p:nvPr/>
        </p:nvSpPr>
        <p:spPr>
          <a:xfrm>
            <a:off x="952499" y="3669553"/>
            <a:ext cx="2991971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编译优化链路：需要优化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Pass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、内存规划、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fallback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lower/codegen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，甚至生成或调用新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63F9B6-E07D-EE08-A5BB-FA91C69290DD}"/>
              </a:ext>
            </a:extLst>
          </p:cNvPr>
          <p:cNvSpPr txBox="1"/>
          <p:nvPr/>
        </p:nvSpPr>
        <p:spPr>
          <a:xfrm>
            <a:off x="952499" y="4329953"/>
            <a:ext cx="299197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训练语义保持：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forward/backward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autograd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BN running stats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、残差分支不能被错误重排。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E0DA21-6667-366B-A7BB-756AC1E72C6E}"/>
              </a:ext>
            </a:extLst>
          </p:cNvPr>
          <p:cNvSpPr/>
          <p:nvPr/>
        </p:nvSpPr>
        <p:spPr>
          <a:xfrm>
            <a:off x="4445000" y="1905000"/>
            <a:ext cx="3302000" cy="2819400"/>
          </a:xfrm>
          <a:prstGeom prst="rect">
            <a:avLst/>
          </a:prstGeom>
          <a:solidFill>
            <a:srgbClr val="FCFAF6"/>
          </a:solidFill>
          <a:ln w="15240">
            <a:solidFill>
              <a:srgbClr val="DA91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A4640D-C48A-1D99-448D-86224F78ABC2}"/>
              </a:ext>
            </a:extLst>
          </p:cNvPr>
          <p:cNvSpPr/>
          <p:nvPr/>
        </p:nvSpPr>
        <p:spPr>
          <a:xfrm>
            <a:off x="4445000" y="1905000"/>
            <a:ext cx="3302000" cy="50800"/>
          </a:xfrm>
          <a:prstGeom prst="rect">
            <a:avLst/>
          </a:prstGeom>
          <a:solidFill>
            <a:srgbClr val="DA911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F46F11-E40F-80D9-735F-B9F6FDD4BE2C}"/>
              </a:ext>
            </a:extLst>
          </p:cNvPr>
          <p:cNvSpPr txBox="1"/>
          <p:nvPr/>
        </p:nvSpPr>
        <p:spPr>
          <a:xfrm>
            <a:off x="4699000" y="2159000"/>
            <a:ext cx="27940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融合粒度选择困难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938A7E-526C-05DE-E740-850ABF6E4BD8}"/>
              </a:ext>
            </a:extLst>
          </p:cNvPr>
          <p:cNvSpPr/>
          <p:nvPr/>
        </p:nvSpPr>
        <p:spPr>
          <a:xfrm>
            <a:off x="4699000" y="2717800"/>
            <a:ext cx="7620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54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99A08F0-290E-85FA-42E8-9303CCF58D35}"/>
              </a:ext>
            </a:extLst>
          </p:cNvPr>
          <p:cNvSpPr txBox="1"/>
          <p:nvPr/>
        </p:nvSpPr>
        <p:spPr>
          <a:xfrm>
            <a:off x="4800600" y="2806700"/>
            <a:ext cx="558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546478"/>
                </a:solidFill>
                <a:latin typeface="Microsoft YaHei" panose="020B0503020204020204" pitchFamily="34" charset="-122"/>
              </a:rPr>
              <a:t>过细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2458206-14E2-7DF8-14B9-4602D6488ECB}"/>
              </a:ext>
            </a:extLst>
          </p:cNvPr>
          <p:cNvSpPr txBox="1"/>
          <p:nvPr/>
        </p:nvSpPr>
        <p:spPr>
          <a:xfrm>
            <a:off x="4800599" y="3027912"/>
            <a:ext cx="63133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46478"/>
                </a:solidFill>
                <a:latin typeface="Microsoft YaHei" panose="020B0503020204020204" pitchFamily="34" charset="-122"/>
              </a:rPr>
              <a:t>收益小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272EF2-20EA-B49F-CF98-63E95836F26F}"/>
              </a:ext>
            </a:extLst>
          </p:cNvPr>
          <p:cNvSpPr/>
          <p:nvPr/>
        </p:nvSpPr>
        <p:spPr>
          <a:xfrm>
            <a:off x="5588000" y="2717800"/>
            <a:ext cx="7620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42BB0C-EFFD-839B-F30E-9F428DDB299C}"/>
              </a:ext>
            </a:extLst>
          </p:cNvPr>
          <p:cNvSpPr txBox="1"/>
          <p:nvPr/>
        </p:nvSpPr>
        <p:spPr>
          <a:xfrm>
            <a:off x="5689600" y="2806700"/>
            <a:ext cx="558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238F5A"/>
                </a:solidFill>
                <a:latin typeface="Microsoft YaHei" panose="020B0503020204020204" pitchFamily="34" charset="-122"/>
              </a:rPr>
              <a:t>当前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09F29ED-402B-E0FD-595A-CCA1C55D050E}"/>
              </a:ext>
            </a:extLst>
          </p:cNvPr>
          <p:cNvSpPr txBox="1"/>
          <p:nvPr/>
        </p:nvSpPr>
        <p:spPr>
          <a:xfrm>
            <a:off x="5689599" y="3027912"/>
            <a:ext cx="63133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46478"/>
                </a:solidFill>
                <a:latin typeface="Microsoft YaHei" panose="020B0503020204020204" pitchFamily="34" charset="-122"/>
              </a:rPr>
              <a:t>局部安全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AEE2632-5736-6F68-CD26-C95F6C39F422}"/>
              </a:ext>
            </a:extLst>
          </p:cNvPr>
          <p:cNvSpPr/>
          <p:nvPr/>
        </p:nvSpPr>
        <p:spPr>
          <a:xfrm>
            <a:off x="6477000" y="2717800"/>
            <a:ext cx="7620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468F43-558B-8FBE-B61F-C67E97B14AFD}"/>
              </a:ext>
            </a:extLst>
          </p:cNvPr>
          <p:cNvSpPr txBox="1"/>
          <p:nvPr/>
        </p:nvSpPr>
        <p:spPr>
          <a:xfrm>
            <a:off x="6578600" y="2806700"/>
            <a:ext cx="558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CD3A2E"/>
                </a:solidFill>
                <a:latin typeface="Microsoft YaHei" panose="020B0503020204020204" pitchFamily="34" charset="-122"/>
              </a:rPr>
              <a:t>过粗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594CAF5-78CC-E8E0-EB4C-2A987B6DA02F}"/>
              </a:ext>
            </a:extLst>
          </p:cNvPr>
          <p:cNvSpPr txBox="1"/>
          <p:nvPr/>
        </p:nvSpPr>
        <p:spPr>
          <a:xfrm>
            <a:off x="6578599" y="3027912"/>
            <a:ext cx="63133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46478"/>
                </a:solidFill>
                <a:latin typeface="Microsoft YaHei" panose="020B0503020204020204" pitchFamily="34" charset="-122"/>
              </a:rPr>
              <a:t>风险高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F3B7127-87FE-95DF-5580-85AC9A364DE2}"/>
              </a:ext>
            </a:extLst>
          </p:cNvPr>
          <p:cNvSpPr txBox="1"/>
          <p:nvPr/>
        </p:nvSpPr>
        <p:spPr>
          <a:xfrm>
            <a:off x="4698999" y="3466353"/>
            <a:ext cx="299197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过细：只减少少量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kernel launch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，端到端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epoch time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改善有限。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84FCBA4-2E63-30C4-E913-54B82A7DCAC2}"/>
              </a:ext>
            </a:extLst>
          </p:cNvPr>
          <p:cNvSpPr txBox="1"/>
          <p:nvPr/>
        </p:nvSpPr>
        <p:spPr>
          <a:xfrm>
            <a:off x="4698999" y="3974353"/>
            <a:ext cx="299197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过粗：训练期 </a:t>
            </a:r>
            <a:r>
              <a:rPr lang="en-US" altLang="zh-CN" sz="100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Conv+BN+ReLU</a:t>
            </a:r>
            <a:r>
              <a:rPr lang="en-US" altLang="zh-CN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会牵涉 </a:t>
            </a:r>
            <a:r>
              <a:rPr lang="en-US" altLang="zh-CN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BN </a:t>
            </a:r>
            <a:r>
              <a:rPr lang="zh-CN" altLang="en-US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状态、临时 </a:t>
            </a:r>
            <a:r>
              <a:rPr lang="en-US" altLang="zh-CN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tensor </a:t>
            </a:r>
            <a:r>
              <a:rPr lang="zh-CN" altLang="en-US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生命周期和显存峰值。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C78B37C-DE98-6CD7-BE17-A514CD21E684}"/>
              </a:ext>
            </a:extLst>
          </p:cNvPr>
          <p:cNvSpPr txBox="1"/>
          <p:nvPr/>
        </p:nvSpPr>
        <p:spPr>
          <a:xfrm>
            <a:off x="4698999" y="4527176"/>
            <a:ext cx="2991971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dirty="0">
                <a:solidFill>
                  <a:srgbClr val="DA9116"/>
                </a:solidFill>
                <a:latin typeface="Microsoft YaHei" panose="020B0503020204020204" pitchFamily="34" charset="-122"/>
              </a:rPr>
              <a:t>因此当前只选择语义清晰、可验证的小粒度模式。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AF83420-2899-11D9-86FC-CFDD49BC51B2}"/>
              </a:ext>
            </a:extLst>
          </p:cNvPr>
          <p:cNvSpPr/>
          <p:nvPr/>
        </p:nvSpPr>
        <p:spPr>
          <a:xfrm>
            <a:off x="8191500" y="1905000"/>
            <a:ext cx="3302000" cy="2819400"/>
          </a:xfrm>
          <a:prstGeom prst="rect">
            <a:avLst/>
          </a:prstGeom>
          <a:solidFill>
            <a:srgbClr val="FCFAF6"/>
          </a:solidFill>
          <a:ln w="1524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91CFCE2-1D16-2184-7116-A2EDB129227D}"/>
              </a:ext>
            </a:extLst>
          </p:cNvPr>
          <p:cNvSpPr/>
          <p:nvPr/>
        </p:nvSpPr>
        <p:spPr>
          <a:xfrm>
            <a:off x="8191500" y="1905000"/>
            <a:ext cx="3302000" cy="50800"/>
          </a:xfrm>
          <a:prstGeom prst="rect">
            <a:avLst/>
          </a:prstGeom>
          <a:solidFill>
            <a:srgbClr val="238F5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399A1B4-85A7-54A7-2CCF-8083D5CC5503}"/>
              </a:ext>
            </a:extLst>
          </p:cNvPr>
          <p:cNvSpPr txBox="1"/>
          <p:nvPr/>
        </p:nvSpPr>
        <p:spPr>
          <a:xfrm>
            <a:off x="8445500" y="2159000"/>
            <a:ext cx="27940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本项目替代方案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F8552A-0D53-9ABE-2627-617D6A44E394}"/>
              </a:ext>
            </a:extLst>
          </p:cNvPr>
          <p:cNvSpPr/>
          <p:nvPr/>
        </p:nvSpPr>
        <p:spPr>
          <a:xfrm>
            <a:off x="8445500" y="2552700"/>
            <a:ext cx="1841500" cy="279400"/>
          </a:xfrm>
          <a:prstGeom prst="rect">
            <a:avLst/>
          </a:prstGeom>
          <a:solidFill>
            <a:srgbClr val="EEF9F3"/>
          </a:solidFill>
          <a:ln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9495135-C03F-B3CB-1362-2ACA363EAA74}"/>
              </a:ext>
            </a:extLst>
          </p:cNvPr>
          <p:cNvSpPr txBox="1"/>
          <p:nvPr/>
        </p:nvSpPr>
        <p:spPr>
          <a:xfrm>
            <a:off x="8610600" y="2616200"/>
            <a:ext cx="16002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 b="1">
                <a:solidFill>
                  <a:srgbClr val="238F5A"/>
                </a:solidFill>
                <a:latin typeface="Microsoft YaHei" panose="020B0503020204020204" pitchFamily="34" charset="-122"/>
              </a:rPr>
              <a:t>静态模式融合 </a:t>
            </a:r>
            <a:r>
              <a:rPr lang="en-US" altLang="zh-CN" sz="840" b="1">
                <a:solidFill>
                  <a:srgbClr val="238F5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840" b="1">
                <a:solidFill>
                  <a:srgbClr val="238F5A"/>
                </a:solidFill>
                <a:latin typeface="Microsoft YaHei" panose="020B0503020204020204" pitchFamily="34" charset="-122"/>
              </a:rPr>
              <a:t>图执行器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EA1E3CC-8F0C-77C4-BBA1-0A51EC5279C8}"/>
              </a:ext>
            </a:extLst>
          </p:cNvPr>
          <p:cNvSpPr txBox="1"/>
          <p:nvPr/>
        </p:nvSpPr>
        <p:spPr>
          <a:xfrm>
            <a:off x="8445499" y="3015128"/>
            <a:ext cx="2991971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不做通用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IR lowering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、不做运行时代码生成、不编译新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；只在固定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训练图上扫描已知安全模式。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75B535C-000E-BCEC-98B1-17CE056289F8}"/>
              </a:ext>
            </a:extLst>
          </p:cNvPr>
          <p:cNvSpPr txBox="1"/>
          <p:nvPr/>
        </p:nvSpPr>
        <p:spPr>
          <a:xfrm>
            <a:off x="8445499" y="3751728"/>
            <a:ext cx="2991971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已采用模式：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Add+ReLU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Conv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保留为基础算子，避免训练期语义风险。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CDD8D2F-2098-4993-5458-CB056DDB1A22}"/>
              </a:ext>
            </a:extLst>
          </p:cNvPr>
          <p:cNvSpPr txBox="1"/>
          <p:nvPr/>
        </p:nvSpPr>
        <p:spPr>
          <a:xfrm>
            <a:off x="8445499" y="4380753"/>
            <a:ext cx="299197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dirty="0">
                <a:solidFill>
                  <a:srgbClr val="238F5A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00" dirty="0">
                <a:solidFill>
                  <a:srgbClr val="238F5A"/>
                </a:solidFill>
                <a:latin typeface="Microsoft YaHei" panose="020B0503020204020204" pitchFamily="34" charset="-122"/>
              </a:rPr>
              <a:t>的准确含义：静态融合后的执行计划 </a:t>
            </a:r>
            <a:r>
              <a:rPr lang="en-US" altLang="zh-CN" sz="1000" dirty="0">
                <a:solidFill>
                  <a:srgbClr val="238F5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000" dirty="0">
                <a:solidFill>
                  <a:srgbClr val="238F5A"/>
                </a:solidFill>
                <a:latin typeface="Microsoft YaHei" panose="020B0503020204020204" pitchFamily="34" charset="-122"/>
              </a:rPr>
              <a:t>图执行器调度。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CA5A8E5-88B3-35F6-9C64-9E261A94EED0}"/>
              </a:ext>
            </a:extLst>
          </p:cNvPr>
          <p:cNvSpPr/>
          <p:nvPr/>
        </p:nvSpPr>
        <p:spPr>
          <a:xfrm>
            <a:off x="717176" y="4978399"/>
            <a:ext cx="10776324" cy="1278965"/>
          </a:xfrm>
          <a:prstGeom prst="rect">
            <a:avLst/>
          </a:prstGeom>
          <a:solidFill>
            <a:srgbClr val="FCFAF6"/>
          </a:solidFill>
          <a:ln w="1143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44D1D53-1ECE-9CF5-4255-27A5521F4F3A}"/>
              </a:ext>
            </a:extLst>
          </p:cNvPr>
          <p:cNvSpPr txBox="1"/>
          <p:nvPr/>
        </p:nvSpPr>
        <p:spPr>
          <a:xfrm>
            <a:off x="952500" y="5143500"/>
            <a:ext cx="8636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实验口径：不是完整 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对比，而是 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内部 无融合 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静态融合 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静态融合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图执行器 消融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06EA7E1-B28B-FF08-E2FA-AA7EAF8CB2BD}"/>
              </a:ext>
            </a:extLst>
          </p:cNvPr>
          <p:cNvSpPr txBox="1"/>
          <p:nvPr/>
        </p:nvSpPr>
        <p:spPr>
          <a:xfrm>
            <a:off x="952500" y="5473700"/>
            <a:ext cx="1524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variant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734CF06-96E2-8F0D-15ED-FA2012E5E8AA}"/>
              </a:ext>
            </a:extLst>
          </p:cNvPr>
          <p:cNvSpPr txBox="1"/>
          <p:nvPr/>
        </p:nvSpPr>
        <p:spPr>
          <a:xfrm>
            <a:off x="3048000" y="54737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epoch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185D5A9-9CC2-B4B0-7969-FDAE50F848D7}"/>
              </a:ext>
            </a:extLst>
          </p:cNvPr>
          <p:cNvSpPr txBox="1"/>
          <p:nvPr/>
        </p:nvSpPr>
        <p:spPr>
          <a:xfrm>
            <a:off x="4445000" y="54737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p50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F70CF99-D7AD-E8A5-BA3A-E46D15585B4C}"/>
              </a:ext>
            </a:extLst>
          </p:cNvPr>
          <p:cNvSpPr txBox="1"/>
          <p:nvPr/>
        </p:nvSpPr>
        <p:spPr>
          <a:xfrm>
            <a:off x="5842000" y="54737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GPU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1D1893C-91DD-60D4-4C98-E8E448D621FC}"/>
              </a:ext>
            </a:extLst>
          </p:cNvPr>
          <p:cNvSpPr txBox="1"/>
          <p:nvPr/>
        </p:nvSpPr>
        <p:spPr>
          <a:xfrm>
            <a:off x="7175500" y="5473700"/>
            <a:ext cx="1016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Val MSE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B5C982A-DC36-F7DE-9DCF-0B79361D1C3B}"/>
              </a:ext>
            </a:extLst>
          </p:cNvPr>
          <p:cNvSpPr txBox="1"/>
          <p:nvPr/>
        </p:nvSpPr>
        <p:spPr>
          <a:xfrm>
            <a:off x="8890000" y="5473700"/>
            <a:ext cx="18415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含义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C5297E2-5C4B-0097-A2C4-364DF188302D}"/>
              </a:ext>
            </a:extLst>
          </p:cNvPr>
          <p:cNvSpPr txBox="1"/>
          <p:nvPr/>
        </p:nvSpPr>
        <p:spPr>
          <a:xfrm>
            <a:off x="952500" y="570230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C2430"/>
                </a:solidFill>
                <a:latin typeface="Microsoft YaHei" panose="020B0503020204020204" pitchFamily="34" charset="-122"/>
              </a:rPr>
              <a:t>no fusion</a:t>
            </a:r>
            <a:endParaRPr lang="zh-CN" altLang="en-US" sz="820" b="1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2620544-5BE3-66D6-2CA0-E5B0A90365C7}"/>
              </a:ext>
            </a:extLst>
          </p:cNvPr>
          <p:cNvSpPr txBox="1"/>
          <p:nvPr/>
        </p:nvSpPr>
        <p:spPr>
          <a:xfrm>
            <a:off x="3048000" y="570230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234.18s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53C5474-EF9A-AB80-F64B-4B5E5AA56B19}"/>
              </a:ext>
            </a:extLst>
          </p:cNvPr>
          <p:cNvSpPr txBox="1"/>
          <p:nvPr/>
        </p:nvSpPr>
        <p:spPr>
          <a:xfrm>
            <a:off x="4445000" y="570230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233.44ms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B3E9773-28D0-9BC6-8DD6-3B357E08495D}"/>
              </a:ext>
            </a:extLst>
          </p:cNvPr>
          <p:cNvSpPr txBox="1"/>
          <p:nvPr/>
        </p:nvSpPr>
        <p:spPr>
          <a:xfrm>
            <a:off x="5842000" y="5702300"/>
            <a:ext cx="952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3266.5MB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0BF980B-3387-50BB-0553-0271F1CD15D3}"/>
              </a:ext>
            </a:extLst>
          </p:cNvPr>
          <p:cNvSpPr txBox="1"/>
          <p:nvPr/>
        </p:nvSpPr>
        <p:spPr>
          <a:xfrm>
            <a:off x="7175500" y="5702300"/>
            <a:ext cx="1016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0.02739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AB3377F-EB33-56DF-2F47-7D6848F7F5EE}"/>
              </a:ext>
            </a:extLst>
          </p:cNvPr>
          <p:cNvSpPr txBox="1"/>
          <p:nvPr/>
        </p:nvSpPr>
        <p:spPr>
          <a:xfrm>
            <a:off x="8890000" y="570230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1C2430"/>
                </a:solidFill>
                <a:latin typeface="Microsoft YaHei" panose="020B0503020204020204" pitchFamily="34" charset="-122"/>
              </a:rPr>
              <a:t>无融合基线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DA8A862-9E74-494E-1244-29E82FB62130}"/>
              </a:ext>
            </a:extLst>
          </p:cNvPr>
          <p:cNvSpPr txBox="1"/>
          <p:nvPr/>
        </p:nvSpPr>
        <p:spPr>
          <a:xfrm>
            <a:off x="952500" y="586994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 b="1" dirty="0">
                <a:solidFill>
                  <a:srgbClr val="DA9116"/>
                </a:solidFill>
                <a:latin typeface="Microsoft YaHei" panose="020B0503020204020204" pitchFamily="34" charset="-122"/>
              </a:rPr>
              <a:t>Static Pattern Fusion</a:t>
            </a:r>
            <a:endParaRPr lang="zh-CN" altLang="en-US" sz="820" b="1" dirty="0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EF953B35-40BA-ADFF-3484-710C7829221B}"/>
              </a:ext>
            </a:extLst>
          </p:cNvPr>
          <p:cNvSpPr txBox="1"/>
          <p:nvPr/>
        </p:nvSpPr>
        <p:spPr>
          <a:xfrm>
            <a:off x="3048000" y="586994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220.59s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83FA1609-8892-F5DE-F8E9-48F21AC7F918}"/>
              </a:ext>
            </a:extLst>
          </p:cNvPr>
          <p:cNvSpPr txBox="1"/>
          <p:nvPr/>
        </p:nvSpPr>
        <p:spPr>
          <a:xfrm>
            <a:off x="4445000" y="586994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220.39ms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AB682AC-AE26-9325-5885-D5B7E0D23F77}"/>
              </a:ext>
            </a:extLst>
          </p:cNvPr>
          <p:cNvSpPr txBox="1"/>
          <p:nvPr/>
        </p:nvSpPr>
        <p:spPr>
          <a:xfrm>
            <a:off x="5842000" y="5869940"/>
            <a:ext cx="952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3300.5MB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1A8D100E-1B76-7F0F-AA02-A137304D0DCB}"/>
              </a:ext>
            </a:extLst>
          </p:cNvPr>
          <p:cNvSpPr txBox="1"/>
          <p:nvPr/>
        </p:nvSpPr>
        <p:spPr>
          <a:xfrm>
            <a:off x="7175500" y="5869940"/>
            <a:ext cx="1016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DA9116"/>
                </a:solidFill>
                <a:latin typeface="Microsoft YaHei" panose="020B0503020204020204" pitchFamily="34" charset="-122"/>
              </a:rPr>
              <a:t>0.03077</a:t>
            </a:r>
            <a:endParaRPr lang="zh-CN" altLang="en-US" sz="820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2F6C237-FF28-C14C-09B3-BBECAB4422B2}"/>
              </a:ext>
            </a:extLst>
          </p:cNvPr>
          <p:cNvSpPr txBox="1"/>
          <p:nvPr/>
        </p:nvSpPr>
        <p:spPr>
          <a:xfrm>
            <a:off x="8890000" y="586994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DA9116"/>
                </a:solidFill>
                <a:latin typeface="Microsoft YaHei" panose="020B0503020204020204" pitchFamily="34" charset="-122"/>
              </a:rPr>
              <a:t>静态模式融合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C208D20B-8920-726D-3E18-CE9F802D2D14}"/>
              </a:ext>
            </a:extLst>
          </p:cNvPr>
          <p:cNvSpPr txBox="1"/>
          <p:nvPr/>
        </p:nvSpPr>
        <p:spPr>
          <a:xfrm>
            <a:off x="952500" y="603758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238F5A"/>
                </a:solidFill>
                <a:latin typeface="Microsoft YaHei" panose="020B0503020204020204" pitchFamily="34" charset="-122"/>
              </a:rPr>
              <a:t>Static Fusion + Executor</a:t>
            </a:r>
            <a:endParaRPr lang="zh-CN" altLang="en-US" sz="820" b="1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C7AE8202-A078-66A9-803A-39A69D2471DC}"/>
              </a:ext>
            </a:extLst>
          </p:cNvPr>
          <p:cNvSpPr txBox="1"/>
          <p:nvPr/>
        </p:nvSpPr>
        <p:spPr>
          <a:xfrm>
            <a:off x="3048000" y="603758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222.59s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244D777-D4E1-607B-22E1-C2F9B36F8AC1}"/>
              </a:ext>
            </a:extLst>
          </p:cNvPr>
          <p:cNvSpPr txBox="1"/>
          <p:nvPr/>
        </p:nvSpPr>
        <p:spPr>
          <a:xfrm>
            <a:off x="4445000" y="603758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223.17ms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F179573-EBA3-B86E-D1A7-3BAD52B0891F}"/>
              </a:ext>
            </a:extLst>
          </p:cNvPr>
          <p:cNvSpPr txBox="1"/>
          <p:nvPr/>
        </p:nvSpPr>
        <p:spPr>
          <a:xfrm>
            <a:off x="5842000" y="6037580"/>
            <a:ext cx="952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2980.6MB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A549D7DF-B9B2-8A13-636F-48287A075C7D}"/>
              </a:ext>
            </a:extLst>
          </p:cNvPr>
          <p:cNvSpPr txBox="1"/>
          <p:nvPr/>
        </p:nvSpPr>
        <p:spPr>
          <a:xfrm>
            <a:off x="7175500" y="6037580"/>
            <a:ext cx="1016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238F5A"/>
                </a:solidFill>
                <a:latin typeface="Microsoft YaHei" panose="020B0503020204020204" pitchFamily="34" charset="-122"/>
              </a:rPr>
              <a:t>0.02238</a:t>
            </a:r>
            <a:endParaRPr lang="zh-CN" altLang="en-US" sz="820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C5E9657C-467D-2A9F-A3DD-35516679B4EE}"/>
              </a:ext>
            </a:extLst>
          </p:cNvPr>
          <p:cNvSpPr txBox="1"/>
          <p:nvPr/>
        </p:nvSpPr>
        <p:spPr>
          <a:xfrm>
            <a:off x="8890000" y="603758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238F5A"/>
                </a:solidFill>
                <a:latin typeface="Microsoft YaHei" panose="020B0503020204020204" pitchFamily="34" charset="-122"/>
              </a:rPr>
              <a:t>替代 </a:t>
            </a:r>
            <a:r>
              <a:rPr lang="en-US" altLang="zh-CN" sz="820">
                <a:solidFill>
                  <a:srgbClr val="238F5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>
                <a:solidFill>
                  <a:srgbClr val="238F5A"/>
                </a:solidFill>
                <a:latin typeface="Microsoft YaHei" panose="020B0503020204020204" pitchFamily="34" charset="-122"/>
              </a:rPr>
              <a:t>方案</a:t>
            </a: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C434AEEC-3A58-5344-7F79-47659B9560BC}"/>
              </a:ext>
            </a:extLst>
          </p:cNvPr>
          <p:cNvSpPr/>
          <p:nvPr/>
        </p:nvSpPr>
        <p:spPr>
          <a:xfrm>
            <a:off x="393700" y="6642100"/>
            <a:ext cx="11087100" cy="0"/>
          </a:xfrm>
          <a:prstGeom prst="ellipse">
            <a:avLst/>
          </a:prstGeom>
          <a:ln w="889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63AABD54-DD25-D2C2-FA6D-7335DF77A43C}"/>
              </a:ext>
            </a:extLst>
          </p:cNvPr>
          <p:cNvSpPr txBox="1"/>
          <p:nvPr/>
        </p:nvSpPr>
        <p:spPr>
          <a:xfrm>
            <a:off x="10795000" y="6604000"/>
            <a:ext cx="393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46478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800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200" dirty="0"/>
              <a:t>JSON+NPZ </a:t>
            </a:r>
            <a:r>
              <a:rPr lang="zh-CN" altLang="en-US" sz="1200" dirty="0"/>
              <a:t>方式，可以拓展 </a:t>
            </a:r>
            <a:r>
              <a:rPr lang="en-US" altLang="zh-CN" sz="1200" dirty="0"/>
              <a:t>ONNX </a:t>
            </a:r>
            <a:r>
              <a:rPr lang="zh-CN" altLang="en-US" sz="1200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2553</Words>
  <Application>Microsoft Office PowerPoint</Application>
  <DocSecurity>0</DocSecurity>
  <PresentationFormat>宽屏</PresentationFormat>
  <Paragraphs>478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27</cp:revision>
  <dcterms:created xsi:type="dcterms:W3CDTF">2026-05-19T13:12:39Z</dcterms:created>
  <dcterms:modified xsi:type="dcterms:W3CDTF">2026-05-21T09:16:47Z</dcterms:modified>
</cp:coreProperties>
</file>