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9647cd189c44c5" /><Relationship Type="http://schemas.openxmlformats.org/officeDocument/2006/relationships/extended-properties" Target="/docProps/app.xml" Id="R104513c7c610409e" /><Relationship Type="http://schemas.openxmlformats.org/officeDocument/2006/relationships/officeDocument" Target="/ppt/presentation.xml" Id="R2890769c735c4f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157040274d4121"/>
  </p:sldMasterIdLst>
  <p:notesMasterIdLst>
    <p:notesMasterId xmlns:r="http://schemas.openxmlformats.org/officeDocument/2006/relationships" r:id="Rf2d020f5a6ff49b1"/>
  </p:notesMasterIdLst>
  <p:sldIdLst>
    <p:sldId xmlns:r="http://schemas.openxmlformats.org/officeDocument/2006/relationships" id="256" r:id="R7ca6f0841cef4c54"/>
    <p:sldId xmlns:r="http://schemas.openxmlformats.org/officeDocument/2006/relationships" id="257" r:id="R6a39e310773540a1"/>
    <p:sldId xmlns:r="http://schemas.openxmlformats.org/officeDocument/2006/relationships" id="258" r:id="R31d5f82d044e4080"/>
    <p:sldId xmlns:r="http://schemas.openxmlformats.org/officeDocument/2006/relationships" id="259" r:id="R74de93a77a014f1d"/>
    <p:sldId xmlns:r="http://schemas.openxmlformats.org/officeDocument/2006/relationships" id="260" r:id="R2dd8309d14b246d5"/>
    <p:sldId xmlns:r="http://schemas.openxmlformats.org/officeDocument/2006/relationships" id="261" r:id="R3aba5f3613434695"/>
    <p:sldId xmlns:r="http://schemas.openxmlformats.org/officeDocument/2006/relationships" id="262" r:id="R879da09f3ff64202"/>
    <p:sldId xmlns:r="http://schemas.openxmlformats.org/officeDocument/2006/relationships" id="263" r:id="R1971c3893a1c43b8"/>
    <p:sldId xmlns:r="http://schemas.openxmlformats.org/officeDocument/2006/relationships" id="264" r:id="R2e27a71f42484435"/>
    <p:sldId xmlns:r="http://schemas.openxmlformats.org/officeDocument/2006/relationships" id="265" r:id="R0c9c17439fe04195"/>
    <p:sldId xmlns:r="http://schemas.openxmlformats.org/officeDocument/2006/relationships" id="266" r:id="Red36bc67893e4224"/>
    <p:sldId xmlns:r="http://schemas.openxmlformats.org/officeDocument/2006/relationships" id="267" r:id="Re27ef8462fd34f86"/>
    <p:sldId xmlns:r="http://schemas.openxmlformats.org/officeDocument/2006/relationships" id="268" r:id="Rf4e7ae3b04ab4d3c"/>
    <p:sldId xmlns:r="http://schemas.openxmlformats.org/officeDocument/2006/relationships" id="269" r:id="R23449b13e7f64043"/>
    <p:sldId xmlns:r="http://schemas.openxmlformats.org/officeDocument/2006/relationships" id="270" r:id="Ree14583f4bb9467f"/>
    <p:sldId xmlns:r="http://schemas.openxmlformats.org/officeDocument/2006/relationships" id="271" r:id="R8484348e259a477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57040274d4121" /><Relationship Type="http://schemas.openxmlformats.org/officeDocument/2006/relationships/theme" Target="/ppt/theme/theme1.xml" Id="R4b490d7014654800" /><Relationship Type="http://schemas.openxmlformats.org/officeDocument/2006/relationships/notesMaster" Target="/ppt/notesMasters/notesMaster1.xml" Id="Rf2d020f5a6ff49b1" /><Relationship Type="http://schemas.openxmlformats.org/officeDocument/2006/relationships/presProps" Target="/ppt/presProps.xml" Id="Rf076e4aed997484c" /><Relationship Type="http://schemas.openxmlformats.org/officeDocument/2006/relationships/viewProps" Target="/ppt/viewProps.xml" Id="Rca2076a8bdf54ed1" /><Relationship Type="http://schemas.openxmlformats.org/officeDocument/2006/relationships/tableStyles" Target="/ppt/tableStyles.xml" Id="Rbeadb11987c449fc" /><Relationship Type="http://schemas.openxmlformats.org/officeDocument/2006/relationships/slide" Target="/ppt/slides/slide1.xml" Id="R7ca6f0841cef4c54" /><Relationship Type="http://schemas.openxmlformats.org/officeDocument/2006/relationships/slide" Target="/ppt/slides/slide2.xml" Id="R6a39e310773540a1" /><Relationship Type="http://schemas.openxmlformats.org/officeDocument/2006/relationships/slide" Target="/ppt/slides/slide3.xml" Id="R31d5f82d044e4080" /><Relationship Type="http://schemas.openxmlformats.org/officeDocument/2006/relationships/slide" Target="/ppt/slides/slide4.xml" Id="R74de93a77a014f1d" /><Relationship Type="http://schemas.openxmlformats.org/officeDocument/2006/relationships/slide" Target="/ppt/slides/slide5.xml" Id="R2dd8309d14b246d5" /><Relationship Type="http://schemas.openxmlformats.org/officeDocument/2006/relationships/slide" Target="/ppt/slides/slide6.xml" Id="R3aba5f3613434695" /><Relationship Type="http://schemas.openxmlformats.org/officeDocument/2006/relationships/slide" Target="/ppt/slides/slide7.xml" Id="R879da09f3ff64202" /><Relationship Type="http://schemas.openxmlformats.org/officeDocument/2006/relationships/slide" Target="/ppt/slides/slide8.xml" Id="R1971c3893a1c43b8" /><Relationship Type="http://schemas.openxmlformats.org/officeDocument/2006/relationships/slide" Target="/ppt/slides/slide9.xml" Id="R2e27a71f42484435" /><Relationship Type="http://schemas.openxmlformats.org/officeDocument/2006/relationships/slide" Target="/ppt/slides/slide10.xml" Id="R0c9c17439fe04195" /><Relationship Type="http://schemas.openxmlformats.org/officeDocument/2006/relationships/slide" Target="/ppt/slides/slide11.xml" Id="Red36bc67893e4224" /><Relationship Type="http://schemas.openxmlformats.org/officeDocument/2006/relationships/slide" Target="/ppt/slides/slide12.xml" Id="Re27ef8462fd34f86" /><Relationship Type="http://schemas.openxmlformats.org/officeDocument/2006/relationships/slide" Target="/ppt/slides/slide13.xml" Id="Rf4e7ae3b04ab4d3c" /><Relationship Type="http://schemas.openxmlformats.org/officeDocument/2006/relationships/slide" Target="/ppt/slides/slide14.xml" Id="R23449b13e7f64043" /><Relationship Type="http://schemas.openxmlformats.org/officeDocument/2006/relationships/slide" Target="/ppt/slides/slide15.xml" Id="Ree14583f4bb9467f" /><Relationship Type="http://schemas.openxmlformats.org/officeDocument/2006/relationships/slide" Target="/ppt/slides/slide16.xml" Id="R8484348e259a47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bb3658eac7c44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aeb94a570d4d10" /><Relationship Type="http://schemas.openxmlformats.org/officeDocument/2006/relationships/notesMaster" Target="/ppt/notesMasters/notesMaster1.xml" Id="R79de30ccaefc4b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94882d73cc4372" /><Relationship Type="http://schemas.openxmlformats.org/officeDocument/2006/relationships/notesMaster" Target="/ppt/notesMasters/notesMaster1.xml" Id="Raba7a264902542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21a96ba4d74a7c" /><Relationship Type="http://schemas.openxmlformats.org/officeDocument/2006/relationships/notesMaster" Target="/ppt/notesMasters/notesMaster1.xml" Id="R00be22fd1f0a42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15697c724547d1" /><Relationship Type="http://schemas.openxmlformats.org/officeDocument/2006/relationships/notesMaster" Target="/ppt/notesMasters/notesMaster1.xml" Id="R07073a6a437646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6ad188ca614e87" /><Relationship Type="http://schemas.openxmlformats.org/officeDocument/2006/relationships/notesMaster" Target="/ppt/notesMasters/notesMaster1.xml" Id="Rd44b51c7643546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1db4fb3a6a4d76" /><Relationship Type="http://schemas.openxmlformats.org/officeDocument/2006/relationships/notesMaster" Target="/ppt/notesMasters/notesMaster1.xml" Id="Rac6b435c442447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9089e2e4114e0c" /><Relationship Type="http://schemas.openxmlformats.org/officeDocument/2006/relationships/notesMaster" Target="/ppt/notesMasters/notesMaster1.xml" Id="Rb1238268bcd740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a83030b7d245a7" /><Relationship Type="http://schemas.openxmlformats.org/officeDocument/2006/relationships/notesMaster" Target="/ppt/notesMasters/notesMaster1.xml" Id="Rd248c78a5e7e48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0e4df2484e4d86" /><Relationship Type="http://schemas.openxmlformats.org/officeDocument/2006/relationships/notesMaster" Target="/ppt/notesMasters/notesMaster1.xml" Id="Ra01244c919394e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7a8d96423e47e7" /><Relationship Type="http://schemas.openxmlformats.org/officeDocument/2006/relationships/notesMaster" Target="/ppt/notesMasters/notesMaster1.xml" Id="R430ea0feb0b540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a57f6ada294ff2" /><Relationship Type="http://schemas.openxmlformats.org/officeDocument/2006/relationships/notesMaster" Target="/ppt/notesMasters/notesMaster1.xml" Id="R1e7d120f932543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f7799548fe497e" /><Relationship Type="http://schemas.openxmlformats.org/officeDocument/2006/relationships/notesMaster" Target="/ppt/notesMasters/notesMaster1.xml" Id="Rdd39763a1e0743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bd553283794541" /><Relationship Type="http://schemas.openxmlformats.org/officeDocument/2006/relationships/notesMaster" Target="/ppt/notesMasters/notesMaster1.xml" Id="Rc388509fee3640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fed3dd53e742f8" /><Relationship Type="http://schemas.openxmlformats.org/officeDocument/2006/relationships/notesMaster" Target="/ppt/notesMasters/notesMaster1.xml" Id="R88b5ce552b064c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fd9ea677e94b5f" /><Relationship Type="http://schemas.openxmlformats.org/officeDocument/2006/relationships/notesMaster" Target="/ppt/notesMasters/notesMaster1.xml" Id="R34a3616ab7a7494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39aedea5e54a95" /><Relationship Type="http://schemas.openxmlformats.org/officeDocument/2006/relationships/notesMaster" Target="/ppt/notesMasters/notesMaster1.xml" Id="R42673105299940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408d22950453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93d52a433644e3c" /><Relationship Type="http://schemas.openxmlformats.org/officeDocument/2006/relationships/slideLayout" Target="/ppt/slideLayouts/slideLayout2.xml" Id="Rdab042302a2549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b042302a2549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7187ebba244a4b" /><Relationship Type="http://schemas.openxmlformats.org/officeDocument/2006/relationships/notesSlide" Target="/ppt/notesSlides/notesSlide1.xml" Id="R39a24933088840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dea651e1654cf2" /><Relationship Type="http://schemas.openxmlformats.org/officeDocument/2006/relationships/notesSlide" Target="/ppt/notesSlides/notesSlide2.xml" Id="R1320f70a738346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3605b633e44a57" /><Relationship Type="http://schemas.openxmlformats.org/officeDocument/2006/relationships/notesSlide" Target="/ppt/notesSlides/notesSlide3.xml" Id="R994d0f380dc849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a64f12a5064acc" /><Relationship Type="http://schemas.openxmlformats.org/officeDocument/2006/relationships/notesSlide" Target="/ppt/notesSlides/notesSlide4.xml" Id="R9a965e2606cf4e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bae30f7b374ce7" /><Relationship Type="http://schemas.openxmlformats.org/officeDocument/2006/relationships/notesSlide" Target="/ppt/notesSlides/notesSlide5.xml" Id="Rd9b5c72d1f2543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87bf2375864bfb" /><Relationship Type="http://schemas.openxmlformats.org/officeDocument/2006/relationships/image" Target="/ppt/media/image.png" Id="R846140966dae4f90" /><Relationship Type="http://schemas.openxmlformats.org/officeDocument/2006/relationships/notesSlide" Target="/ppt/notesSlides/notesSlide6.xml" Id="R7ced55398ff044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1a328375324059" /><Relationship Type="http://schemas.openxmlformats.org/officeDocument/2006/relationships/notesSlide" Target="/ppt/notesSlides/notesSlide7.xml" Id="R749747af84ed48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d62957659046df" /><Relationship Type="http://schemas.openxmlformats.org/officeDocument/2006/relationships/notesSlide" Target="/ppt/notesSlides/notesSlide8.xml" Id="Rbe5ec128297c49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959a7d1e644b36" /><Relationship Type="http://schemas.openxmlformats.org/officeDocument/2006/relationships/notesSlide" Target="/ppt/notesSlides/notesSlide9.xml" Id="R010607bcf3a44e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5c34ac78714367" /><Relationship Type="http://schemas.openxmlformats.org/officeDocument/2006/relationships/notesSlide" Target="/ppt/notesSlides/notesSlide10.xml" Id="R06c6cc06a6c14b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45a7a92af441fe" /><Relationship Type="http://schemas.openxmlformats.org/officeDocument/2006/relationships/notesSlide" Target="/ppt/notesSlides/notesSlide11.xml" Id="R5360be1cf44546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1a079699ff4640" /><Relationship Type="http://schemas.openxmlformats.org/officeDocument/2006/relationships/notesSlide" Target="/ppt/notesSlides/notesSlide12.xml" Id="Ra21ac352f46245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3049c1f0434ed6" /><Relationship Type="http://schemas.openxmlformats.org/officeDocument/2006/relationships/notesSlide" Target="/ppt/notesSlides/notesSlide13.xml" Id="R64c119cd8e3341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5524b660304944" /><Relationship Type="http://schemas.openxmlformats.org/officeDocument/2006/relationships/notesSlide" Target="/ppt/notesSlides/notesSlide14.xml" Id="R7d8b7ba6e28f46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dfea75f5ed4e41" /><Relationship Type="http://schemas.openxmlformats.org/officeDocument/2006/relationships/notesSlide" Target="/ppt/notesSlides/notesSlide15.xml" Id="R5884f584e3a0403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3180be1b6a4d2a" /><Relationship Type="http://schemas.openxmlformats.org/officeDocument/2006/relationships/notesSlide" Target="/ppt/notesSlides/notesSlide16.xml" Id="R3eba1a0d329247b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F8F5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2E6F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42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 DonkeyCar 的自动驾驶深度学习框架答辩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EDE62-436D-48F7-8FFA-C9040FD7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按“任务 -&gt; 模型 -&gt; 数据 -&gt; 算子 -&gt; 图优化 -&gt; 并行加载 -&gt; 部署 -&gt; 对比 -&gt; 下一步 -&gt; 困难”重构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93345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36"/>
          </a:solidFill>
          <a:ln xmlns:a="http://schemas.openxmlformats.org/drawingml/2006/main" w="9525">
            <a:solidFill>
              <a:srgbClr val="20293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763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716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 -&gt; 转向角</a:t>
            </a:r>
          </a:p>
          <a:p xmlns:a="http://schemas.openxmlformats.org/drawingml/2006/main"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暂不支持：速度/油门控制</a:t>
            </a:r>
          </a:p>
          <a:p xmlns:a="http://schemas.openxmlformats.org/drawingml/2006/main"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433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624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43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624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43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624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23F67-5847-4701-B3A5-F359629D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答辩主线：DonkeyCar 任务 + 框架能力 + 实验结果 + 待补实验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F8F5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2E6F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 DonkeyCar 的图像到转向角自动驾驶实验。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 steering angle，不控制 speed/throttle。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2E6F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095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2E6F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2E6F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采集道路图像与人工驾驶转向角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24150"/>
            <a:ext cx="2095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2995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241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337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575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image_path + steering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24150"/>
            <a:ext cx="2095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D4942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241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422"/>
          </a:solidFill>
          <a:ln xmlns:a="http://schemas.openxmlformats.org/drawingml/2006/main" w="0">
            <a:solidFill>
              <a:srgbClr val="D4942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337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575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ResNet18 与 PyTorch baseline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24150"/>
            <a:ext cx="2095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C858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241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A"/>
          </a:solidFill>
          <a:ln xmlns:a="http://schemas.openxmlformats.org/drawingml/2006/main" w="0">
            <a:solidFill>
              <a:srgbClr val="C858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337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718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718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718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767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767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958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767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958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对比训练 epoch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879F95-B45E-41CD-A145-12C898CA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7195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D4942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2004DC-3F0F-4E7B-8768-DE447869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719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422"/>
          </a:solidFill>
          <a:ln xmlns:a="http://schemas.openxmlformats.org/drawingml/2006/main" w="0">
            <a:solidFill>
              <a:srgbClr val="D4942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7FEB94-CCE1-4721-8AC0-59261FDF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624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答辩表述建议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DD8341-590D-4A6B-B713-EB99D0CE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6725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不要把当前任务说成完整自动驾驶闭环。准确说法是：已完成 DonkeyCar 图像回归方向控制实验，速度控制是下一步目标。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809262-D378-4A17-82FA-7F4C26BF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配置：results/donkeycar_resnet18_jit_vs_pytorch/20260516_184610/config.json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A433D1-9FFE-4376-899B-093521FB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F8F5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32E1C-54A3-4A5B-A023-7BC32229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C5DA4-6EE0-4DA9-A369-86EEDEAD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系统链路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A00E8-CB60-42A0-99EB-F9CF5634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系统闭环已经能完成“采集、训练、验证、对比”，控制闭环仍停留在转向角。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B477E-C68A-47DE-B98A-7BABE71F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这页用于说明整体工程边界和模块流向。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8AC98-7772-4CD1-B87E-4B0E2FEF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847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2E6F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1F1F3-F695-4C1B-AC88-3A4995BB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2E6F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87316-53E2-4A7E-9A9C-14155497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A2A5A-C2EA-4557-AB2F-0133CA49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人工驾驶或模拟器生成图像与转向角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51F67-66AC-4CE8-BEF2-F9F62BEE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09800"/>
            <a:ext cx="1847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2995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BDEE9-F1A0-474B-8FB2-6E5111B2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0980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59F8B-8070-4198-B1AF-A6A46CA1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193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8BB05-B8A6-490D-9AF9-72D51CDC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43200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resize / normalize / augmentation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A6C8F-84CC-4F3B-8F4D-BF4C688D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1847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D494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93C30-E079-4026-B982-634C6B09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422"/>
          </a:solidFill>
          <a:ln xmlns:a="http://schemas.openxmlformats.org/drawingml/2006/main" w="0">
            <a:solidFill>
              <a:srgbClr val="D4942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0EFDD-3A01-45CA-AE8D-7C652311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193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951240-F5C4-4349-BBB0-D23041D6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43200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JIT ResNet18 / PyTorch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22051-B360-47DA-8AF3-0DC6BCC5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09800"/>
            <a:ext cx="1847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2E6F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83880C-B742-453F-8337-45F49865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0980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2E6F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A0FED1-FCD2-4F83-8049-8DD09085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C67D9-1644-4E97-A8A7-47CDA4A5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 / RMSE / MAE / 性能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A9C3B0-7A73-47F7-89E2-1BD5CB61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09800"/>
            <a:ext cx="1428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C858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13FE2F-FA2D-4A48-B561-638BE818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098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A"/>
          </a:solidFill>
          <a:ln xmlns:a="http://schemas.openxmlformats.org/drawingml/2006/main" w="0">
            <a:solidFill>
              <a:srgbClr val="C858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307D2D-3F77-4C13-A9E3-E88EF9BB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193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3FDE27-59DC-47C3-97B2-82548EE4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432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steering angle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383342-9AEB-4141-B958-47099B4C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57475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82EC1C-A657-423E-98F9-99054A5E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57475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0EFE75-CBCF-4CAE-BC5C-D497E578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57475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06503F-7C6E-45F7-9834-4613C9B7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57475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6D92B6-2370-471A-AAB4-2FF79D82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962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36"/>
          </a:solidFill>
          <a:ln xmlns:a="http://schemas.openxmlformats.org/drawingml/2006/main" w="9525">
            <a:solidFill>
              <a:srgbClr val="20293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47B1E1-64C0-42D3-8195-7F12FC0C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当前完成闭环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5595D8-237C-4532-95FE-95775307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05300"/>
            <a:ext cx="657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数据集采集与划分、ResNet18 训练、MyTorch/PyTorch 对比、卷积池化正确性、增强消融均已有本地结果。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193629-4380-48A7-AB45-98F9653D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00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4A39A"/>
                </a:solidFill>
                <a:latin typeface="Microsoft YaHei"/>
                <a:ea typeface="Microsoft YaHei"/>
                <a:cs typeface="Microsoft YaHei"/>
              </a:rPr>
              <a:t>未完成闭环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CCD102-BF0A-4684-9267-74919434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24400"/>
            <a:ext cx="657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速度控制、gRPC 在线推理服务、Docker/K8s/Kubeflow 实测日志、跨框架 VGG 对比仍需补证据。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E7417-2DB1-4A27-89A3-7CD9D3B1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9590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C858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B3FCA3-E387-4E2E-B77B-D728D69D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959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A"/>
          </a:solidFill>
          <a:ln xmlns:a="http://schemas.openxmlformats.org/drawingml/2006/main" w="0">
            <a:solidFill>
              <a:srgbClr val="C858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0F246E-1F80-45FA-91D2-DB051D29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864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实验口径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53858F-AC1E-44B0-8723-30317DE5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9120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结果当前是 steering regression；如果老师要求“正确率”，建议新增 acc@阈值。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E5A932-FEDB-4280-8C8F-5CA1A1FE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ABB20A-C1A9-4B5E-98A1-886EA43C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代码链路：train_donkeycar_resnet18_jit_vs_pytorch.py, mytorch/, model/resnet.py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08FAE9-CA2B-4ED9-955B-DDCD0558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4826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F8F5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 ResNet18 做图像到转向角回归；效果指标已有，正确率口径需要补。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模型输出维度为 1，对应连续 steering angle。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6766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2995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ReLU + MaxPool</a:t>
            </a:r>
          </a:p>
          <a:p xmlns:a="http://schemas.openxmlformats.org/drawingml/2006/main"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BasicBlock x [2,2,2,2]</a:t>
            </a:r>
          </a:p>
          <a:p xmlns:a="http://schemas.openxmlformats.org/drawingml/2006/main"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GlobalAvgPool + Linear(512, 1)</a:t>
            </a:r>
          </a:p>
          <a:p xmlns:a="http://schemas.openxmlformats.org/drawingml/2006/main"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MSELoss</a:t>
            </a:r>
          </a:p>
          <a:p xmlns:a="http://schemas.openxmlformats.org/drawingml/2006/main"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lr=1e-4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33600"/>
            <a:ext cx="33147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003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194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194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14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147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957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9100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9100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A"/>
          </a:solidFill>
          <a:ln xmlns:a="http://schemas.openxmlformats.org/drawingml/2006/main" w="0">
            <a:solidFill>
              <a:srgbClr val="C858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957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386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3390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33900"/>
            <a:ext cx="47009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386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ABD7AB-9280-47FE-9635-28D3F610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2762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5"/>
          </a:solidFill>
          <a:ln xmlns:a="http://schemas.openxmlformats.org/drawingml/2006/main" w="14288">
            <a:solidFill>
              <a:srgbClr val="C858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DFB879-FA74-46B8-ABAE-0D93BA7E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AE190C-C9F7-490C-9AED-1386835C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5270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正确率实验缺失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4CB85B-27AD-4ED8-81E1-28F9E038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2419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当前没有逐样本预测保存，无法直接计算 accuracy。建议新增 acc@0.05 / acc@0.10：当 |预测角-真实角| 小于阈值时计为正确。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39CDA9-451C-4FE7-8E73-1458C9A2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276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D4942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671A7A-2348-4FA9-A0A7-6DD83501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2762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422"/>
          </a:solidFill>
          <a:ln xmlns:a="http://schemas.openxmlformats.org/drawingml/2006/main" w="0">
            <a:solidFill>
              <a:srgbClr val="D4942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8CA712-CE25-4E80-9A25-B0DDF7EF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8625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答辩说法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158793-DC7C-483A-BFD6-56B32840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91050"/>
            <a:ext cx="2419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“主要关注正确率”可改成“主要关注转向预测是否足够接近真实转向角”；现阶段以 MSE/RMSE/MAE 证明效果。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F8F5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2E6F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数据集来自 DonkeyCar 场景图像，标签是人工驾驶产生的转向角。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CAD21-EA33-4124-9820-C29E3482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当前数据用于 steering regression，不含速度标签训练。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34290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E6F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 xmlns:a="http://schemas.openxmlformats.org/drawingml/2006/main"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 xmlns:a="http://schemas.openxmlformats.org/drawingml/2006/main"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 + 转向角标签；文件名中也保留标签，便于追踪。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33600"/>
            <a:ext cx="28575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995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00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718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909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862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053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990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 xmlns:a="http://schemas.openxmlformats.org/drawingml/2006/main"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 xmlns:a="http://schemas.openxmlformats.org/drawingml/2006/main"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33600"/>
            <a:ext cx="28575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4942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527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模拟器基本道路场景</a:t>
            </a:r>
          </a:p>
          <a:p xmlns:a="http://schemas.openxmlformats.org/drawingml/2006/main"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人工/脚本驾驶生成图像帧</a:t>
            </a:r>
          </a:p>
          <a:p xmlns:a="http://schemas.openxmlformats.org/drawingml/2006/main"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 steering angle</a:t>
            </a:r>
          </a:p>
          <a:p xmlns:a="http://schemas.openxmlformats.org/drawingml/2006/main"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 train.txt / val.txt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E9AA7-4411-4006-A48E-BC9826D0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100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C858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B2A5E9-F38D-42E6-A7B5-A840B7E3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10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A"/>
          </a:solidFill>
          <a:ln xmlns:a="http://schemas.openxmlformats.org/drawingml/2006/main" w="0">
            <a:solidFill>
              <a:srgbClr val="C858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573291-7407-493E-B58B-96653C67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005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待扩展数据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992866-CDFF-4916-9D2A-CBCC7E4C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0535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下一步应继续采集弯道、遮挡、光照变化和速度控制标签。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F8F5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422"/>
          </a:solidFill>
          <a:ln xmlns:a="http://schemas.openxmlformats.org/drawingml/2006/main" w="0">
            <a:solidFill>
              <a:srgbClr val="D494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已实现基础处理和五组增强消融；短训练下增强未提升验证误差。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增强策略包括随机裁剪、旋转、颜色抖动、MixUp 和 CutMix。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22C54-C925-4083-B1F5-8B69BBC5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43815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4E20A-09E9-4FE8-9C25-3E5367CA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增强消融结果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31DD2-D3A5-4ADB-BE0B-91B67F35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variant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B57F1-EE78-48C2-A176-7780352C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384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779E0-65BD-456B-801E-C777D2BF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3845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E8C4B-E76E-427E-BEB0-73F0894F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33814-4BFB-4992-8798-06D6BF80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62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0.02982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4DB51-2377-4C1B-9426-9A1D2234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0.17270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7E244-24EE-43B7-AF0D-A53BDA02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Crop/Rotate/Jitter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4A276-B1DA-40BB-92EE-DA8C2DFE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242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0.04164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25F44-4D8C-4EB5-8429-79B0A8F8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0.20406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E3CC0-C206-4066-874B-E746EAF0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E5C80-AE3C-4668-96E7-4E896B69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862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0.04730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8C57B-BDDC-46C7-A52C-A23AE3B7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862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0.21750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8CD9BB-3303-4E1E-801D-603CA3A4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0F4FD6-4DCA-442B-AEF1-C8A40248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481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0.05445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627FBC-40B4-4CFF-9BB5-D59E4692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481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0.23335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35B2E7-281F-4D90-9EF9-3BCFCABD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基础增强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0F3F43-2C63-42E4-AC73-E51B3FED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101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0.05967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4892F2-4EB6-4220-9E77-1C662B55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101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0.24427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F2B4E-BDB8-4DD7-B06B-E48522A4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911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none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8A2E56-A904-4AE4-B716-D5AD2A97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8635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007322-0339-41F2-8B0E-E8C53BD5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86350"/>
            <a:ext cx="61541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DC0C6D-8977-46A9-8652-1DAB8C5F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911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0.0298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E71C3D-F1EA-4B13-B44B-88B44F75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basic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A6D7EA-F231-45AA-A7E3-50BDF3EB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5305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24C76D-50E9-44F7-B45B-3E12989A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53050"/>
            <a:ext cx="123144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A"/>
          </a:solidFill>
          <a:ln xmlns:a="http://schemas.openxmlformats.org/drawingml/2006/main" w="0">
            <a:solidFill>
              <a:srgbClr val="C858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44AD25-9026-4A64-989F-3E881641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2578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0.0597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33600"/>
            <a:ext cx="5334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36"/>
          </a:solidFill>
          <a:ln xmlns:a="http://schemas.openxmlformats.org/drawingml/2006/main" w="9525">
            <a:solidFill>
              <a:srgbClr val="202936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140966dae4f90"/>
          <a:stretch xmlns:a="http://schemas.openxmlformats.org/drawingml/2006/main"/>
        </p:blipFill>
        <p:spPr>
          <a:xfrm xmlns:a="http://schemas.openxmlformats.org/drawingml/2006/main">
            <a:off x="6607651" y="2552700"/>
            <a:ext cx="3053398" cy="22479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041029-26AE-41CB-82D2-82AF676C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1490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结论：增强实现已覆盖要求，但当前 3 epoch / 3000 样本实验显示增强强度偏大或训练不足。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DA1167-688E-480C-B332-2680F149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结果：results/augmentation_ablation/20260519_163259/summary.md 与 augmentation_samples.png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F8F5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 im2col + GEMM，池化复用窗口展开并实现反向传播。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 stride、padding、dilation、groups，并兼容 CPU/GPU 后端。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714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2E6F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2E6F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95550"/>
            <a:ext cx="1714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2995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955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2895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95550"/>
            <a:ext cx="1714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D494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955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422"/>
          </a:solidFill>
          <a:ln xmlns:a="http://schemas.openxmlformats.org/drawingml/2006/main" w="0">
            <a:solidFill>
              <a:srgbClr val="D4942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051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2895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95550"/>
            <a:ext cx="1714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2E6F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955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2E6F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051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2895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527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527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527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409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995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148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409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4942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148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 保存 argmax；AvgPool 均匀分配梯度；均用窗口展开验证。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38D56E-FFD3-4460-A152-DFC4D820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314950"/>
            <a:ext cx="2933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E6F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9BBD9-79E6-4512-90BE-07E99972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054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实现位置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6D96FA-921D-4156-94F3-54156179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721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function.py: Conv2dOp / ConvTranspose2dOp / PoolOps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68BF8D-6DCD-43BA-97EA-4BC65C7D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代码：mytorch/function.py；准确度结果见下一页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8B9A5E-0AAE-4BC4-8A9D-1C8C22C1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F8F5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B5BC1-FAF1-4149-9AB2-0118A494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422"/>
          </a:solidFill>
          <a:ln xmlns:a="http://schemas.openxmlformats.org/drawingml/2006/main" w="0">
            <a:solidFill>
              <a:srgbClr val="D494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5C2AB-5A1C-4A39-A5E1-D97BDFD2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卷积类型与应用情况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65EB0-EE1E-4E6A-8214-3066C91B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基础算子支持多种卷积形态；DonkeyCar ResNet18 当前主要使用普通卷积。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8D754-2C1F-4302-BFB4-505AA4F7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不同 kernel size 和特殊卷积对模型效果的影响仍缺少系统消融。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75FDB-9242-41C9-859B-A2C14E32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02870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2EA2A-2C03-4D2E-984B-F82DC970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9C22D-6178-498A-AD6C-9B8A1481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当前应用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DB4DE-807C-4FF8-B87B-A76E3D84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81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0128A-25E0-40B1-8D59-288FA611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缺口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529B3-2944-4EC4-B8B7-41764A08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812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6AB75-827E-4F5C-A37E-487007C4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 1/3/5/31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396BE-40AD-4E8A-AC48-BD983EC0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813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主用 7/3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15D68-4C6A-4DFB-B6B7-D05EED20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算子支持任意 KH/KW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438AB-2EE3-48EC-976A-C86A7483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缺少尺寸消融效果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7766A-6C86-4A44-A5C5-2FA87A84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813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5D23D-2789-45EA-AD81-5DF2535C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深度可分离卷积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25F53-C2AE-4AEC-9E96-1C739348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81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未用于 ResNet18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B6E686-4D23-405C-9E57-02988B4E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81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depthwise correctness 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B8E8FF-412A-4D8D-A8A8-79071369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813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缺少 DonkeyCar 应用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543D3-302B-441A-ACC4-7029F244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813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74562F-B128-40CB-A14D-3186044F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分组卷积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DF20B-355E-4C04-9894-11FE6E3F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814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未用于 ResNet18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024B4D-8A16-49DD-A313-A72D07CE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814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groups=2 correctness PASS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46232F-1F1E-4204-A522-1A6766D0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81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缺少性能/效果消融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D2D52A-B73E-4492-9503-6D88863A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814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F8A768-9A79-4F78-82E0-0DEF7D15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扩张卷积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6632D8-E918-4334-93F6-3EDCC3B9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814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未用于 ResNet18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E007BF-6995-4BFC-A7DD-5CD020CF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814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dilation correctness PASS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3B81BB-A608-440A-ACF2-74CD80B1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缺少模型级实验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CC7F5F-64CD-4293-90C2-A452F2B9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814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9319E7-FDAC-4BC5-9D32-B50A60B8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3048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5"/>
          </a:solidFill>
          <a:ln xmlns:a="http://schemas.openxmlformats.org/drawingml/2006/main" w="14288">
            <a:solidFill>
              <a:srgbClr val="C858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9838FD-F9C6-486B-88F5-D51767F5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EECCB7-AFBE-4438-ABCA-1ABAEF57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 1/3/5/31 缺失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DD7B2B-ABEC-4878-84C7-D48B0641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270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固定 ResNet18，仅替换 kernel size；报告 Val MSE、acc@阈值、FLOPs、latency。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32BA89-215B-48E1-BBA0-EAE1EBDE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86300"/>
            <a:ext cx="3048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5"/>
          </a:solidFill>
          <a:ln xmlns:a="http://schemas.openxmlformats.org/drawingml/2006/main" w="14288">
            <a:solidFill>
              <a:srgbClr val="C858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DD5277-98D7-4669-B6F4-B6EC8E83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387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67ED0F-3CB7-49EA-999F-9971A31C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054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转置卷积实验缺失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489D6D-330D-4C69-9CB7-1EC4106C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29250"/>
            <a:ext cx="270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代码存在；正确性表未覆盖转置卷积，需补 fwd/bwd/gradcheck。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CF41EA-F101-40E2-B602-3F4D152D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86300"/>
            <a:ext cx="3048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5"/>
          </a:solidFill>
          <a:ln xmlns:a="http://schemas.openxmlformats.org/drawingml/2006/main" w="14288">
            <a:solidFill>
              <a:srgbClr val="C858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5A3DDF-6511-4BA5-8F12-51126FB5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387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63F4AB-E6C5-4C54-924C-5FD60605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054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特殊卷积应用缺失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7C2AE4-94E7-4F9B-A812-2FAE4C0A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29250"/>
            <a:ext cx="270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算子级已验证，未接入 DonkeyCar；需补模型效果对比。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EF4A1E-2398-444A-A8DE-10B2D46B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55B12A-2DC1-44BD-BBB3-94B107BF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证据：mytorch/function.py；results/conv_pool_correctness/20260519_155002/summary.md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22E2C2-F46B-4E11-AEDD-736E6A50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F8F5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 11 组组合全部通过 NumPy naive、PyTorch、MyTorch 三方验证。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7ACBC-32F2-477D-97B9-AAAF4521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覆盖 stride、padding、dilation、groups、depthwise、MaxPool 与 AvgPool。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9144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48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48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910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910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57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57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57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24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24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24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91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91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991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626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BAC1B0-3153-491F-8E9A-9330B22D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结果：results/conv_pool_correctness/20260519_155002/summary.md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F8F5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2E6F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框架已有基于计算图的 JIT 跟踪、图优化和算子融合路径。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 DonkeyCar 对比使用 MyTorch JIT；缺少同配置 eager vs JIT 消融。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714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2E6F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2E6F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 IRGraph / IRNode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43150"/>
            <a:ext cx="1714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2995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43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527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7655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 进行融合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1905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D494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422"/>
          </a:solidFill>
          <a:ln xmlns:a="http://schemas.openxmlformats.org/drawingml/2006/main" w="0">
            <a:solidFill>
              <a:srgbClr val="D4942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5270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76550"/>
            <a:ext cx="1600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 / CUDA RawKernel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1714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383">
            <a:solidFill>
              <a:srgbClr val="C858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A"/>
          </a:solidFill>
          <a:ln xmlns:a="http://schemas.openxmlformats.org/drawingml/2006/main" w="0">
            <a:solidFill>
              <a:srgbClr val="C858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 by-op 与慢节点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003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03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2862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995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已实现融合算子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FusedBNReLU、FusedAddReLU、FusedConv2dReLU、FusedConvBNReLU、FusedConvBNAddReLU、FusedMSELoss。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05250"/>
            <a:ext cx="2381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D4942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052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422"/>
          </a:solidFill>
          <a:ln xmlns:a="http://schemas.openxmlformats.org/drawingml/2006/main" w="0">
            <a:solidFill>
              <a:srgbClr val="D4942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已有实验证据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00550"/>
            <a:ext cx="20383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JIT ResNet18 已完成 20 epoch DonkeyCar 训练，并与 PyTorch 作性能/效果对比。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2381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5"/>
          </a:solidFill>
          <a:ln xmlns:a="http://schemas.openxmlformats.org/drawingml/2006/main" w="14288">
            <a:solidFill>
              <a:srgbClr val="C858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C2F408-465E-40DC-93C7-E850D7FC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576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243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 消融缺失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48200"/>
            <a:ext cx="2038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 MyTorch eager / JIT / fused：时间、batch p50、显存、Val MSE、节点数。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F70D22-4116-47BA-99B1-2A5828A7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代码：mytorch/jit.py, jit_pass.py, function.py；实验：donkeycar_resnet18_jit_vs_pytorch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F8F5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已实现生产者-消费者式异步加载，DonkeyCar 训练配置已启用 async loader。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但还缺少 sync vs async 的独立消融。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E6F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多个 worker 线程读取、解码、预处理 batch，并写入 Queue。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workers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0980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995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955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maxsize = workers * prefetch_factor；训练线程从队列消费 batch。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290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481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09800"/>
            <a:ext cx="28575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4942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955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289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训练循环执行 forward、backward、optimizer step。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290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481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loader fetch p50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4362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2995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436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43500"/>
            <a:ext cx="401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已有结果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48300"/>
            <a:ext cx="4019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JIT 对比实验中 loader_fetch p50 很小，说明瓶颈不在取 batch，而在 backward 与内存管理。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53000"/>
            <a:ext cx="4171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5"/>
          </a:solidFill>
          <a:ln xmlns:a="http://schemas.openxmlformats.org/drawingml/2006/main" w="14288">
            <a:solidFill>
              <a:srgbClr val="C858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054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72100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并行加载消融缺失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95950"/>
            <a:ext cx="3829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固定模型和 batch size，对比 sync / async loader：吞吐、GPU 利用率、队列等待。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D7A0F5-369E-431B-A31C-24326B58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代码：mytorch/async_dataloader.py；配置：mytorch_loader=async, workers=4, prefetch=4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3A5F22-447B-467A-AE99-5D13B045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F8F5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DAC11-4DEB-4467-88DF-3A973D8B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A"/>
          </a:solidFill>
          <a:ln xmlns:a="http://schemas.openxmlformats.org/drawingml/2006/main" w="0">
            <a:solidFill>
              <a:srgbClr val="C858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48FB4-EE9D-49E8-83A2-7858D4A4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第七部分 / DOCKER、KUBERNETES、KUBEFLOW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35077-2450-4589-9294-1EDAD1BC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已有容器化与调度原型文件，但目前是训练任务模板，不是完整 DonkeyCar 服务化部署。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5F1E4-E29C-4ECD-A8F5-38FC1B0D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这部分应在答辩中明确为“工程化原型完成，实测部署待补”。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26346-674F-44F2-A4CD-E26BF027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E6F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A1B77-AF02-40DF-96EE-084DA8D7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E0E1C-8E70-4163-841C-F39FBF0C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deploy/docker/Dockerfile</a:t>
            </a:r>
          </a:p>
          <a:p xmlns:a="http://schemas.openxmlformats.org/drawingml/2006/main"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docker-compose.yml</a:t>
            </a:r>
          </a:p>
          <a:p xmlns:a="http://schemas.openxmlformats.org/drawingml/2006/main"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可封装训练环境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F184C-3EA1-4B74-B453-30D9F6EA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4790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995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73E1C-4E2A-43E9-AD18-3103CC0E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336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Kubernetes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7D306-28F1-45F1-A76F-C9CCA5B4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2076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deploy/k8s/mnist-training-job.yaml</a:t>
            </a:r>
          </a:p>
          <a:p xmlns:a="http://schemas.openxmlformats.org/drawingml/2006/main"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定义 Job、资源请求、数据卷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6E58F-4D91-4D3B-AFCA-6615D00A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4790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494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3C004-26F7-413B-A5BB-C1EE2D31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336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Kubeflow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8CA52-0746-4D62-AA1C-496A09CA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28950"/>
            <a:ext cx="209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kuflow/kfp_pipeline.py</a:t>
            </a:r>
          </a:p>
          <a:p xmlns:a="http://schemas.openxmlformats.org/drawingml/2006/main"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TaskOperator / pipeline demo</a:t>
            </a:r>
          </a:p>
          <a:p xmlns:a="http://schemas.openxmlformats.org/drawingml/2006/main"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可扩展为训练算子调度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5E520-DB83-4BED-835E-35D7F10B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2628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2995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40632-F0F3-47BE-A0AF-4F2A442A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2628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C1323-CDD5-496A-9B2B-BAB74A98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完成情况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D53B3-D735-4287-845B-F53158D2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95850"/>
            <a:ext cx="228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已有文件级原型与任务描述，可作为下一阶段工程化基础。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2949C-BBE8-44BB-B8A8-E4843B54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005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5"/>
          </a:solidFill>
          <a:ln xmlns:a="http://schemas.openxmlformats.org/drawingml/2006/main" w="14288">
            <a:solidFill>
              <a:srgbClr val="C858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9BD8B4-3BC8-4042-B78C-8FC277AF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529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3C19C-2C90-41FE-9266-E2CC362D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196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部署实验缺失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0B9FCE-0A0E-4615-A23D-9B7D3729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43500"/>
            <a:ext cx="2514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 docker build/run、K8s Job、Kubeflow pipeline 日志和资源占用。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3747B-8B6D-4713-8AA5-CB03838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005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5"/>
          </a:solidFill>
          <a:ln xmlns:a="http://schemas.openxmlformats.org/drawingml/2006/main" w="14288">
            <a:solidFill>
              <a:srgbClr val="C858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59EAA0-1BEB-4787-9607-B4DC368B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529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40E3D4-9147-4BCF-AC70-4619F232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96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服务化缺失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0F62CD-DF2E-4F42-973E-7903E0AF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43500"/>
            <a:ext cx="2514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gRPC server/client 与 DonkeyCar 在线推理服务尚未完成。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58AB49-C129-4B90-A65B-8A9B6F08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1D64B0-6AFF-4CFF-8B7D-1E99199D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代码：deploy/docker, deploy/k8s, kuflow；当前部署对象主要是训练任务原型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616853-8669-4A25-AE3F-4181D7E7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F8F5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2E6F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可以完成训练，但性能和转向误差仍明显落后 PyTorch。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这页用同一 ResNet18 图、同一数据集、同一训练配置做核心对比。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4572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670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670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A"/>
          </a:solidFill>
          <a:ln xmlns:a="http://schemas.openxmlformats.org/drawingml/2006/main" w="0">
            <a:solidFill>
              <a:srgbClr val="C858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718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480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48050"/>
            <a:ext cx="11209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528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338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33850"/>
            <a:ext cx="112087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A"/>
          </a:solidFill>
          <a:ln xmlns:a="http://schemas.openxmlformats.org/drawingml/2006/main" w="0">
            <a:solidFill>
              <a:srgbClr val="C858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386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148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148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196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52650"/>
            <a:ext cx="4572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718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670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670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A"/>
          </a:solidFill>
          <a:ln xmlns:a="http://schemas.openxmlformats.org/drawingml/2006/main" w="0">
            <a:solidFill>
              <a:srgbClr val="C858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718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528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19587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528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386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338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33850"/>
            <a:ext cx="111899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A"/>
          </a:solidFill>
          <a:ln xmlns:a="http://schemas.openxmlformats.org/drawingml/2006/main" w="0">
            <a:solidFill>
              <a:srgbClr val="C858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386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196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PyTorch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148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148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196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75B8F9-EBA6-4A9D-8924-F039F1D3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53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补充：显存峰值 MyTorch 4206.5MB，PyTorch 2822.5MB。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721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E4C48E-6DA1-49EA-ACC5-E3A33D62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结果：results/donkeycar_resnet18_jit_vs_pytorch/20260516_184610/comparison.md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F8F5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A"/>
          </a:solidFill>
          <a:ln xmlns:a="http://schemas.openxmlformats.org/drawingml/2006/main" w="0">
            <a:solidFill>
              <a:srgbClr val="C858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 backward 阶段，而不是数据读取。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2420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242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0520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05200"/>
            <a:ext cx="14509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422"/>
          </a:solidFill>
          <a:ln xmlns:a="http://schemas.openxmlformats.org/drawingml/2006/main" w="0">
            <a:solidFill>
              <a:srgbClr val="D494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099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8620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86200"/>
            <a:ext cx="1286937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A"/>
          </a:solidFill>
          <a:ln xmlns:a="http://schemas.openxmlformats.org/drawingml/2006/main" w="0">
            <a:solidFill>
              <a:srgbClr val="C858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909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9580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9580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2E6F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005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191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193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242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2420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289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99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052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05200"/>
            <a:ext cx="31678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422"/>
          </a:solidFill>
          <a:ln xmlns:a="http://schemas.openxmlformats.org/drawingml/2006/main" w="0">
            <a:solidFill>
              <a:srgbClr val="D4942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099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909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862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86200"/>
            <a:ext cx="51236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A"/>
          </a:solidFill>
          <a:ln xmlns:a="http://schemas.openxmlformats.org/drawingml/2006/main" w="0">
            <a:solidFill>
              <a:srgbClr val="C858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909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D8"/>
          </a:solidFill>
          <a:ln xmlns:a="http://schemas.openxmlformats.org/drawingml/2006/main" w="0">
            <a:solidFill>
              <a:srgbClr val="2E6F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005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4830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C858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48300"/>
            <a:ext cx="819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A"/>
          </a:solidFill>
          <a:ln xmlns:a="http://schemas.openxmlformats.org/drawingml/2006/main" w="0">
            <a:solidFill>
              <a:srgbClr val="C858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784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43600"/>
            <a:ext cx="784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F6F185-B280-4DF3-9093-561AD9C8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 中 batch_summary p50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F8F5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未完成项不回避：全部转成可验收实验目标。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422E3-93B9-44E8-B68A-9621E319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下一阶段重点是补正确率口径、补消融、补部署实测。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E6F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19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转向正确率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622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保存预测结果，计算 acc@0.05 / acc@0.10，并画误差分布。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7170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995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030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19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卷积尺寸消融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622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kernel 1/3/5/31 + depthwise/group/dilation/transposed conv。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7170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494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0030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消融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eager vs JIT vs fused，比较速度、显存、Val MSE。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E6F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576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异步加载消融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005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sync loader vs async loader，补 GPU 利用率和等待时间。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1000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858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3860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576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005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1000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4942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576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跨框架任务对比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005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VGG 分类或转向任务：MyTorch/PyTorch/TF/Paddle 同条件对比。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734AE6-B9FE-42BF-A75C-B8D92DE2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1020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3335">
            <a:solidFill>
              <a:srgbClr val="2995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F012EA-ED87-49C3-AFEC-2DFA6C7D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10200"/>
            <a:ext cx="800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56B"/>
          </a:solidFill>
          <a:ln xmlns:a="http://schemas.openxmlformats.org/drawingml/2006/main" w="0">
            <a:solidFill>
              <a:srgbClr val="2995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15C815-7B63-4096-89E8-91775198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00700"/>
            <a:ext cx="765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交付标准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D61DC8-4067-48C1-A017-E3F958D7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05500"/>
            <a:ext cx="765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每个目标至少配：实验脚本、命令、结果表、图、结论；答辩报告只引用可复现结果。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81B530-D568-4D60-8F2C-1092F93D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下一阶段目标由当前缺口直接推导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94BB7A-4E53-4AA1-87CC-35A83FC2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36"/>
          </a:solidFill>
          <a:ln xmlns:a="http://schemas.openxmlformats.org/drawingml/2006/main" w="0">
            <a:solidFill>
              <a:srgbClr val="20293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8C1E2-4746-43E2-B475-7A99DA47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422"/>
          </a:solidFill>
          <a:ln xmlns:a="http://schemas.openxmlformats.org/drawingml/2006/main" w="0">
            <a:solidFill>
              <a:srgbClr val="D4942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C82B9-BF3E-457A-9364-3EDB5A13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第十部分 / 困难与缺口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952E3-8054-48E9-B99F-72F3AF85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主要困难来自任务口径、GPU 环境、反向传播性能和工程化验证。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5D4D3-390A-4140-8A20-238D3C02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这页可以作为答辩 Q&amp;A 的预案。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209E5-542E-47D2-90BC-93834E60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4572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2"/>
          </a:solidFill>
          <a:ln xmlns:a="http://schemas.openxmlformats.org/drawingml/2006/main" w="9525">
            <a:solidFill>
              <a:srgbClr val="2B35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AA53A-30FD-4F6A-9EFF-7564EE8D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完成过程中的困难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C3FC5-3732-47D6-980A-37F956F0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任务口径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A55BB-8124-43AD-B28F-4F4E6BD0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289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DonkeyCar 当前是转向角回归，不能直接套分类 accuracy。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9FED4-9D09-40E8-8164-09F6D6F7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环境问题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D5D71-D362-41E8-AFC2-9F6842C3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623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CuPy 安装在 donkey-env；使用 base Python 时无法启用 GPU/JIT CUDA 路径。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C0506-69E2-4D53-973F-6658608B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性能瓶颈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911CC-28A2-4D44-B0C2-3D230083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957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MyTorch backward 与显存管理明显落后 PyTorch。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12A07-0FCA-4821-B6AF-D3E044EF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实验成本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9A76E-B94C-4376-8005-A0ABFB9B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291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完整 ResNet18 训练耗时长，部分消融尚未跑完。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1B398-FEB3-4182-954E-A22C86DF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98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2"/>
          </a:solidFill>
          <a:ln xmlns:a="http://schemas.openxmlformats.org/drawingml/2006/main" w="9525">
            <a:solidFill>
              <a:srgbClr val="2B35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733EF-FCC2-4E99-9F3E-761AFF75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缺少实验测试清单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6E93A-4E68-4A45-BD56-2137A9D4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718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转向角 acc@阈值正确率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E2DDC7-C4D9-47B8-84BE-A437FE15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48025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kernel 1/3/5/31 效果与性能消融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293D37-8A9D-484C-A94A-BC416042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转置卷积 forward/backward/gradcheck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F15C91-7426-43BC-8B8B-ED3C0E1C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00475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depthwise/group/dilation 模型级使用效果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555DF1-1729-4DAB-9E74-3FF53BFA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767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MyTorch eager vs JIT/Fusion 消融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33A509-B976-4FAC-8C3A-0E288B79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52925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sync vs async DataLoader 消融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E228E-B60F-4C87-94CB-1E26B78B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291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Docker/K8s/Kubeflow 实测日志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41929A-3BCB-4941-BFE2-7F5E9594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05375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gRPC + INT8 在线推理实验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954AB1-1F2C-40AF-9130-44E2C004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166"/>
          </a:solidFill>
          <a:ln xmlns:a="http://schemas.openxmlformats.org/drawingml/2006/main" w="0">
            <a:solidFill>
              <a:srgbClr val="4351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3C11E5-690C-4878-98AE-4256B110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2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92A0B2"/>
                </a:solidFill>
                <a:latin typeface="Microsoft YaHei"/>
                <a:ea typeface="Microsoft YaHei"/>
                <a:cs typeface="Microsoft YaHei"/>
              </a:rPr>
              <a:t>总结：已完成核心框架与关键证明；待补项已转化为下一阶段实验计划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56CEDD-5767-4FD6-9021-EC8DF5B8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515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2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2A0B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60043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2026-05-19T13:12:39.8410000Z</dcterms:created>
  <dcterms:modified xsi:type="dcterms:W3CDTF">2026-05-19T13:12:39.8410000Z</dcterms:modified>
</coreProperties>
</file>