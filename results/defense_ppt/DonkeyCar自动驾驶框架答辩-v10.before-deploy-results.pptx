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75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的自动驾驶深度学习框架答辩</a:t>
            </a:r>
            <a:endParaRPr sz="25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  <a:endParaRPr sz="975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14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ResNet18 与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</a:t>
            </a: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对比训练</a:t>
            </a: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ReLU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BasicBlock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GlobalAvgPool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MSELoss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lr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90792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31409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15950" y="1028700"/>
            <a:ext cx="405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当前每组只启用一种增强，20 epoch，batch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_size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=64。</a:t>
            </a: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6293224" y="1093694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3706" y="1210235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11200" y="16002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11200" y="16002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81200" y="16652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31200" y="16652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51200" y="16652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81200" y="194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31200" y="194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51200" y="194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11200" y="217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81200" y="222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31200" y="222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51200" y="222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81200" y="251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31200" y="251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51200" y="251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11200" y="274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81200" y="279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31200" y="279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51200" y="279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81200" y="308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31200" y="308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51200" y="308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1200" dirty="0">
              <a:solidFill>
                <a:schemeClr val="accent1">
                  <a:lumMod val="60000"/>
                  <a:lumOff val="4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11200" y="331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81200" y="336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31200" y="336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0.01923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51200" y="336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81200" y="365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31200" y="365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51200" y="365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11200" y="388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81200" y="393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31200" y="393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51200" y="393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81200" y="422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31200" y="422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51200" y="422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11200" y="445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81200" y="450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31200" y="450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51200" y="450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81200" y="479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31200" y="479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0.02312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51200" y="479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严重变差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11200" y="5010150"/>
            <a:ext cx="4381500" cy="99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11200" y="5010150"/>
            <a:ext cx="127000" cy="990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82650" y="51489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lang="en-US" altLang="zh-CN" sz="12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下一步目标：探索多种数据增强方法结合使用，寻找数据增强最优参数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684309" y="5542429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stride、padding、dilation、groups，并兼容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CPU/GPU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argmax；AvgPool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均匀分配梯度；均用窗口展开验证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80FD4E-F38D-E23B-58D7-7A0D66B04ADD}"/>
              </a:ext>
            </a:extLst>
          </p:cNvPr>
          <p:cNvSpPr/>
          <p:nvPr/>
        </p:nvSpPr>
        <p:spPr>
          <a:xfrm>
            <a:off x="330200" y="317500"/>
            <a:ext cx="114300" cy="114300"/>
          </a:xfrm>
          <a:prstGeom prst="rect">
            <a:avLst/>
          </a:prstGeom>
          <a:solidFill>
            <a:srgbClr val="D9911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4D4115-EF04-A82B-9E92-8A6EBFD69562}"/>
              </a:ext>
            </a:extLst>
          </p:cNvPr>
          <p:cNvSpPr txBox="1"/>
          <p:nvPr/>
        </p:nvSpPr>
        <p:spPr>
          <a:xfrm>
            <a:off x="571500" y="241300"/>
            <a:ext cx="3810000" cy="246221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卷积类型与应用情况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145254-E9A3-B881-DA6D-4D37A254EE61}"/>
              </a:ext>
            </a:extLst>
          </p:cNvPr>
          <p:cNvSpPr txBox="1"/>
          <p:nvPr/>
        </p:nvSpPr>
        <p:spPr>
          <a:xfrm>
            <a:off x="330200" y="698500"/>
            <a:ext cx="11430000" cy="477054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卷积形态消融口径修正：正式结果必须基于 </a:t>
            </a:r>
            <a:r>
              <a:rPr lang="en-US" altLang="zh-CN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重跑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67484F-0CC2-4269-79D8-F6393BABE505}"/>
              </a:ext>
            </a:extLst>
          </p:cNvPr>
          <p:cNvSpPr txBox="1"/>
          <p:nvPr/>
        </p:nvSpPr>
        <p:spPr>
          <a:xfrm>
            <a:off x="355600" y="1473200"/>
            <a:ext cx="11430000" cy="261610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旧表格来自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PyTorch ResNet18-style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，只能作为参考；当前已补齐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版脚本，完整实验完成后再替换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Best MSE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acc@0.10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latency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、显存。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655E5E-1ACA-7EE1-1946-320F3CC32F4A}"/>
              </a:ext>
            </a:extLst>
          </p:cNvPr>
          <p:cNvSpPr/>
          <p:nvPr/>
        </p:nvSpPr>
        <p:spPr>
          <a:xfrm>
            <a:off x="533400" y="2006600"/>
            <a:ext cx="11112500" cy="533400"/>
          </a:xfrm>
          <a:prstGeom prst="rect">
            <a:avLst/>
          </a:prstGeom>
          <a:solidFill>
            <a:srgbClr val="FFFAEB"/>
          </a:solidFill>
          <a:ln w="13970">
            <a:solidFill>
              <a:srgbClr val="D991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结论口径：本项目框架实验统一采用 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只作为外部对照框架，不再用于本页正式卷积形态消融结论。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2EBE001-CEAD-41C5-DCA6-208D22159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32798"/>
              </p:ext>
            </p:extLst>
          </p:nvPr>
        </p:nvGraphicFramePr>
        <p:xfrm>
          <a:off x="533400" y="2768600"/>
          <a:ext cx="11112500" cy="2980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46413462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297218384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28881984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715015181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变体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MyTorch </a:t>
                      </a:r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实现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正式实验要报告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状态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58692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standard_k3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 baseline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Best 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acc@0.10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p50 latency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GPU memory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06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验证小核表达能力，比较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与速度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749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kernel5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k=5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验证较大感受野收益，比较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增量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6992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kernel31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重点关注大核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、显存开销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4237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 + Pointwise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关注参数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降低与精度损失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2609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groups=2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关注分组卷积速度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精度折中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4678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关注扩张卷积感受野变化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2999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transpose_k3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ConvTranspose2d stride=1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stride=1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残差卷积使用转置卷积；下采样仍用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3889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F8ABBC8-5785-528D-27DB-B93F8F7190DE}"/>
              </a:ext>
            </a:extLst>
          </p:cNvPr>
          <p:cNvSpPr/>
          <p:nvPr/>
        </p:nvSpPr>
        <p:spPr>
          <a:xfrm>
            <a:off x="533400" y="6045200"/>
            <a:ext cx="5397500" cy="609600"/>
          </a:xfrm>
          <a:prstGeom prst="rect">
            <a:avLst/>
          </a:prstGeom>
          <a:solidFill>
            <a:srgbClr val="F8FCF9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已完成：新增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experiments/conv_arch_ablation_mytorch.py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，并通过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standard/group/depthwise/transpose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smoke test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F79D1E-4B61-9532-CE6C-E239FC6876BF}"/>
              </a:ext>
            </a:extLst>
          </p:cNvPr>
          <p:cNvSpPr/>
          <p:nvPr/>
        </p:nvSpPr>
        <p:spPr>
          <a:xfrm>
            <a:off x="6248400" y="6045200"/>
            <a:ext cx="5397500" cy="609600"/>
          </a:xfrm>
          <a:prstGeom prst="rect">
            <a:avLst/>
          </a:prstGeom>
          <a:solidFill>
            <a:srgbClr val="FDF2F0"/>
          </a:solidFill>
          <a:ln w="1397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待补：运行完整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20 epoch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后，用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summary.md/csv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更新本页数值表，旧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表不进入最终结论。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00A5EC-9171-3D81-5904-9EF378F9889A}"/>
              </a:ext>
            </a:extLst>
          </p:cNvPr>
          <p:cNvSpPr/>
          <p:nvPr/>
        </p:nvSpPr>
        <p:spPr>
          <a:xfrm>
            <a:off x="330200" y="6807200"/>
            <a:ext cx="11430000" cy="12700"/>
          </a:xfrm>
          <a:prstGeom prst="rect">
            <a:avLst/>
          </a:prstGeom>
          <a:solidFill>
            <a:srgbClr val="D8D0C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E54BE8-4461-5C8A-0680-2A392631B779}"/>
              </a:ext>
            </a:extLst>
          </p:cNvPr>
          <p:cNvSpPr txBox="1"/>
          <p:nvPr/>
        </p:nvSpPr>
        <p:spPr>
          <a:xfrm>
            <a:off x="355600" y="6858000"/>
            <a:ext cx="9906000" cy="184666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700">
                <a:solidFill>
                  <a:srgbClr val="5B6978"/>
                </a:solidFill>
                <a:latin typeface="Microsoft YaHei" panose="020B0503020204020204" pitchFamily="34" charset="-122"/>
              </a:rPr>
              <a:t>正式命令见脚本说明；建议输出：</a:t>
            </a:r>
            <a:r>
              <a:rPr lang="en-US" altLang="zh-CN" sz="700">
                <a:solidFill>
                  <a:srgbClr val="5B6978"/>
                </a:solidFill>
                <a:latin typeface="Microsoft YaHei" panose="020B0503020204020204" pitchFamily="34" charset="-122"/>
              </a:rPr>
              <a:t>results/conv_arch_ablation_mytorch_full</a:t>
            </a:r>
            <a:endParaRPr lang="zh-CN" altLang="en-US" sz="7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2006A6-F584-5BE1-7511-CBE56ACBFF37}"/>
              </a:ext>
            </a:extLst>
          </p:cNvPr>
          <p:cNvSpPr txBox="1"/>
          <p:nvPr/>
        </p:nvSpPr>
        <p:spPr>
          <a:xfrm>
            <a:off x="11747500" y="6858000"/>
            <a:ext cx="381000" cy="200055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F6AE53-E896-DA97-9C1F-3BF697A40F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4528F3-D699-3EC2-F374-17829DFF0D55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834638-E830-6101-7BCB-B74B31E852A6}"/>
              </a:ext>
            </a:extLst>
          </p:cNvPr>
          <p:cNvSpPr txBox="1"/>
          <p:nvPr/>
        </p:nvSpPr>
        <p:spPr>
          <a:xfrm>
            <a:off x="635000" y="355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第五部分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计算图优化方法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351916-88AC-0676-BDA2-43584C8E9D9B}"/>
              </a:ext>
            </a:extLst>
          </p:cNvPr>
          <p:cNvSpPr txBox="1"/>
          <p:nvPr/>
        </p:nvSpPr>
        <p:spPr>
          <a:xfrm>
            <a:off x="571500" y="736600"/>
            <a:ext cx="1060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计算图优化方法：静态融合 </a:t>
            </a:r>
            <a:r>
              <a:rPr lang="en-US" altLang="zh-CN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+ JIT </a:t>
            </a:r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图执行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8B2EBA-B663-F46A-CB86-DBA54FCD6DC2}"/>
              </a:ext>
            </a:extLst>
          </p:cNvPr>
          <p:cNvSpPr txBox="1"/>
          <p:nvPr/>
        </p:nvSpPr>
        <p:spPr>
          <a:xfrm>
            <a:off x="596900" y="15113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采用保守训练期优化：静态替换可安全融合的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，再由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JIT Trace → Optimize → Execute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执行前向图；反向传播仍由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eager autograd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完成。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5B9CF7-74AB-15BF-F5F8-3C9518818111}"/>
              </a:ext>
            </a:extLst>
          </p:cNvPr>
          <p:cNvSpPr/>
          <p:nvPr/>
        </p:nvSpPr>
        <p:spPr>
          <a:xfrm>
            <a:off x="609600" y="2286000"/>
            <a:ext cx="2349500" cy="1625600"/>
          </a:xfrm>
          <a:prstGeom prst="rect">
            <a:avLst/>
          </a:prstGeom>
          <a:solidFill>
            <a:srgbClr val="EFF5FF"/>
          </a:solidFill>
          <a:ln w="1905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5810A9-59FC-A7AF-1C55-F00E57E3A7F8}"/>
              </a:ext>
            </a:extLst>
          </p:cNvPr>
          <p:cNvSpPr/>
          <p:nvPr/>
        </p:nvSpPr>
        <p:spPr>
          <a:xfrm>
            <a:off x="609600" y="2286000"/>
            <a:ext cx="23495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8961AB-5046-474D-B269-CB2065E11393}"/>
              </a:ext>
            </a:extLst>
          </p:cNvPr>
          <p:cNvSpPr txBox="1"/>
          <p:nvPr/>
        </p:nvSpPr>
        <p:spPr>
          <a:xfrm>
            <a:off x="812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D65F6"/>
                </a:solidFill>
                <a:latin typeface="Microsoft YaHei" panose="020B0503020204020204" pitchFamily="34" charset="-122"/>
              </a:rPr>
              <a:t>STEP 1</a:t>
            </a:r>
            <a:endParaRPr lang="zh-CN" altLang="en-US" sz="85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9E2060-9E75-B1EA-7CA9-FE189FF5D156}"/>
              </a:ext>
            </a:extLst>
          </p:cNvPr>
          <p:cNvSpPr txBox="1"/>
          <p:nvPr/>
        </p:nvSpPr>
        <p:spPr>
          <a:xfrm>
            <a:off x="812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建图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550787-7E70-446E-5F40-AAAC46E772E9}"/>
              </a:ext>
            </a:extLst>
          </p:cNvPr>
          <p:cNvSpPr txBox="1"/>
          <p:nvPr/>
        </p:nvSpPr>
        <p:spPr>
          <a:xfrm>
            <a:off x="812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Module forward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运行时捕获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IRGraph / IRNode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cache key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绑定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backend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dtype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device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C72AA6-6A9F-3D8B-B4D7-37DDAAFA956E}"/>
              </a:ext>
            </a:extLst>
          </p:cNvPr>
          <p:cNvSpPr txBox="1"/>
          <p:nvPr/>
        </p:nvSpPr>
        <p:spPr>
          <a:xfrm>
            <a:off x="3098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CCC0E1-888C-A3BB-9022-E7FD1277F5AE}"/>
              </a:ext>
            </a:extLst>
          </p:cNvPr>
          <p:cNvSpPr/>
          <p:nvPr/>
        </p:nvSpPr>
        <p:spPr>
          <a:xfrm>
            <a:off x="3467100" y="2286000"/>
            <a:ext cx="2349500" cy="1625600"/>
          </a:xfrm>
          <a:prstGeom prst="rect">
            <a:avLst/>
          </a:prstGeom>
          <a:solidFill>
            <a:srgbClr val="EFFAF4"/>
          </a:solidFill>
          <a:ln w="1905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9845CD-16AD-7E52-A0DA-92C708346C28}"/>
              </a:ext>
            </a:extLst>
          </p:cNvPr>
          <p:cNvSpPr/>
          <p:nvPr/>
        </p:nvSpPr>
        <p:spPr>
          <a:xfrm>
            <a:off x="3467100" y="2286000"/>
            <a:ext cx="234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003FA9-7EA7-E793-EA6F-CB28A2D6741E}"/>
              </a:ext>
            </a:extLst>
          </p:cNvPr>
          <p:cNvSpPr txBox="1"/>
          <p:nvPr/>
        </p:nvSpPr>
        <p:spPr>
          <a:xfrm>
            <a:off x="3670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B8D5C"/>
                </a:solidFill>
                <a:latin typeface="Microsoft YaHei" panose="020B0503020204020204" pitchFamily="34" charset="-122"/>
              </a:rPr>
              <a:t>STEP 2</a:t>
            </a:r>
            <a:endParaRPr lang="zh-CN" altLang="en-US" sz="85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A11123-60B2-91C3-4D39-DDF92A8686E8}"/>
              </a:ext>
            </a:extLst>
          </p:cNvPr>
          <p:cNvSpPr txBox="1"/>
          <p:nvPr/>
        </p:nvSpPr>
        <p:spPr>
          <a:xfrm>
            <a:off x="3670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静态融合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CEE913D-209D-9CA9-C66C-1D44597C7D62}"/>
              </a:ext>
            </a:extLst>
          </p:cNvPr>
          <p:cNvSpPr txBox="1"/>
          <p:nvPr/>
        </p:nvSpPr>
        <p:spPr>
          <a:xfrm>
            <a:off x="3670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fuse_bn_relu_for_training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预先改写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ResNet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BN+Add+ReLU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；正式路线不启用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experimental Conv-BN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273104-EE9D-CC56-180B-7B25D0F9B296}"/>
              </a:ext>
            </a:extLst>
          </p:cNvPr>
          <p:cNvSpPr txBox="1"/>
          <p:nvPr/>
        </p:nvSpPr>
        <p:spPr>
          <a:xfrm>
            <a:off x="59563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B6C538-1198-9759-3EBC-61D8A9E1C4F6}"/>
              </a:ext>
            </a:extLst>
          </p:cNvPr>
          <p:cNvSpPr/>
          <p:nvPr/>
        </p:nvSpPr>
        <p:spPr>
          <a:xfrm>
            <a:off x="6324600" y="2286000"/>
            <a:ext cx="2349500" cy="1625600"/>
          </a:xfrm>
          <a:prstGeom prst="rect">
            <a:avLst/>
          </a:prstGeom>
          <a:solidFill>
            <a:srgbClr val="FFF8EC"/>
          </a:solidFill>
          <a:ln w="1905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616644-AA58-DDAC-92C8-3A1E2E51D4C1}"/>
              </a:ext>
            </a:extLst>
          </p:cNvPr>
          <p:cNvSpPr/>
          <p:nvPr/>
        </p:nvSpPr>
        <p:spPr>
          <a:xfrm>
            <a:off x="6324600" y="2286000"/>
            <a:ext cx="234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63CA26-8423-FEB4-0B7B-91B8303E7654}"/>
              </a:ext>
            </a:extLst>
          </p:cNvPr>
          <p:cNvSpPr txBox="1"/>
          <p:nvPr/>
        </p:nvSpPr>
        <p:spPr>
          <a:xfrm>
            <a:off x="6527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D68E1D"/>
                </a:solidFill>
                <a:latin typeface="Microsoft YaHei" panose="020B0503020204020204" pitchFamily="34" charset="-122"/>
              </a:rPr>
              <a:t>STEP 3</a:t>
            </a:r>
            <a:endParaRPr lang="zh-CN" altLang="en-US" sz="850" b="1">
              <a:solidFill>
                <a:srgbClr val="D68E1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997B97-0167-72F2-254C-A64FC1DA4DBE}"/>
              </a:ext>
            </a:extLst>
          </p:cNvPr>
          <p:cNvSpPr txBox="1"/>
          <p:nvPr/>
        </p:nvSpPr>
        <p:spPr>
          <a:xfrm>
            <a:off x="6527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Optimize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图优化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680143-124C-F4C4-A6E7-55C69D39A31B}"/>
              </a:ext>
            </a:extLst>
          </p:cNvPr>
          <p:cNvSpPr txBox="1"/>
          <p:nvPr/>
        </p:nvSpPr>
        <p:spPr>
          <a:xfrm>
            <a:off x="6527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optimize_graph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清理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no-op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、冗余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、无效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；识别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Add/ReLU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Linear/ReLU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等可融合模式。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131543-7B23-BA1F-AB49-15704320DF5A}"/>
              </a:ext>
            </a:extLst>
          </p:cNvPr>
          <p:cNvSpPr txBox="1"/>
          <p:nvPr/>
        </p:nvSpPr>
        <p:spPr>
          <a:xfrm>
            <a:off x="8813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79F81F-8BB3-C9A1-0E37-F53660B91979}"/>
              </a:ext>
            </a:extLst>
          </p:cNvPr>
          <p:cNvSpPr/>
          <p:nvPr/>
        </p:nvSpPr>
        <p:spPr>
          <a:xfrm>
            <a:off x="9182100" y="2286000"/>
            <a:ext cx="2349500" cy="1625600"/>
          </a:xfrm>
          <a:prstGeom prst="rect">
            <a:avLst/>
          </a:prstGeom>
          <a:solidFill>
            <a:srgbClr val="FFF1F0"/>
          </a:solidFill>
          <a:ln w="19050">
            <a:solidFill>
              <a:srgbClr val="CF3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330A4F-7EE9-5E90-5CBC-323F11BA62DE}"/>
              </a:ext>
            </a:extLst>
          </p:cNvPr>
          <p:cNvSpPr/>
          <p:nvPr/>
        </p:nvSpPr>
        <p:spPr>
          <a:xfrm>
            <a:off x="9182100" y="2286000"/>
            <a:ext cx="2349500" cy="571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0C8067-F24D-B841-801C-01D26CE824C2}"/>
              </a:ext>
            </a:extLst>
          </p:cNvPr>
          <p:cNvSpPr txBox="1"/>
          <p:nvPr/>
        </p:nvSpPr>
        <p:spPr>
          <a:xfrm>
            <a:off x="9385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CF3B2C"/>
                </a:solidFill>
                <a:latin typeface="Microsoft YaHei" panose="020B0503020204020204" pitchFamily="34" charset="-122"/>
              </a:rPr>
              <a:t>STEP 4</a:t>
            </a:r>
            <a:endParaRPr lang="zh-CN" altLang="en-US" sz="85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71431B-9889-8F0A-9373-93AE8ABD0A3A}"/>
              </a:ext>
            </a:extLst>
          </p:cNvPr>
          <p:cNvSpPr txBox="1"/>
          <p:nvPr/>
        </p:nvSpPr>
        <p:spPr>
          <a:xfrm>
            <a:off x="9385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Execute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执行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82F64B-48B0-E2EA-6015-20CF7A4E8F5B}"/>
              </a:ext>
            </a:extLst>
          </p:cNvPr>
          <p:cNvSpPr txBox="1"/>
          <p:nvPr/>
        </p:nvSpPr>
        <p:spPr>
          <a:xfrm>
            <a:off x="9385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 graph executor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生成前向计划；按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consumer count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释放中间结果引用，保持与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eager backward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兼容。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360FF5-83FA-2CB5-585D-803EE2877904}"/>
              </a:ext>
            </a:extLst>
          </p:cNvPr>
          <p:cNvSpPr/>
          <p:nvPr/>
        </p:nvSpPr>
        <p:spPr>
          <a:xfrm>
            <a:off x="787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EAD9C14-E84A-6631-8EF6-5569DA21BAE0}"/>
              </a:ext>
            </a:extLst>
          </p:cNvPr>
          <p:cNvSpPr/>
          <p:nvPr/>
        </p:nvSpPr>
        <p:spPr>
          <a:xfrm>
            <a:off x="787400" y="4318000"/>
            <a:ext cx="488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78B9AF6-BFF9-C5A8-1084-4C9B501BAF83}"/>
              </a:ext>
            </a:extLst>
          </p:cNvPr>
          <p:cNvSpPr txBox="1"/>
          <p:nvPr/>
        </p:nvSpPr>
        <p:spPr>
          <a:xfrm>
            <a:off x="1041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的边界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4862B21-FC11-C928-CEAD-8FD27FBE3502}"/>
              </a:ext>
            </a:extLst>
          </p:cNvPr>
          <p:cNvSpPr txBox="1"/>
          <p:nvPr/>
        </p:nvSpPr>
        <p:spPr>
          <a:xfrm>
            <a:off x="1041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只优化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forward graph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loss / backward / optimizer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仍走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eager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正式实验应与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dynamic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保持同一条静态融合路线。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B6EE64D-0960-AEBF-C4A2-2C54F8B140E5}"/>
              </a:ext>
            </a:extLst>
          </p:cNvPr>
          <p:cNvSpPr/>
          <p:nvPr/>
        </p:nvSpPr>
        <p:spPr>
          <a:xfrm>
            <a:off x="6502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B2C9778-F342-B178-C55E-9DD08C4787D6}"/>
              </a:ext>
            </a:extLst>
          </p:cNvPr>
          <p:cNvSpPr/>
          <p:nvPr/>
        </p:nvSpPr>
        <p:spPr>
          <a:xfrm>
            <a:off x="6502400" y="4318000"/>
            <a:ext cx="488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2B7AFD-2DF3-2B40-96F0-C803D78347F7}"/>
              </a:ext>
            </a:extLst>
          </p:cNvPr>
          <p:cNvSpPr txBox="1"/>
          <p:nvPr/>
        </p:nvSpPr>
        <p:spPr>
          <a:xfrm>
            <a:off x="6756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为什么要做静态融合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F33A36-3504-DC81-D9B6-AFC585DE7CBF}"/>
              </a:ext>
            </a:extLst>
          </p:cNvPr>
          <p:cNvSpPr txBox="1"/>
          <p:nvPr/>
        </p:nvSpPr>
        <p:spPr>
          <a:xfrm>
            <a:off x="6756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把可确定的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BN/ReLU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组合提前替换，减少训练循环中的动态扫描开销；融合粒度保守，优先保证正确性与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Val MSE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可比。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9827B66-3CE4-4160-7E48-C41DC84141DB}"/>
              </a:ext>
            </a:extLst>
          </p:cNvPr>
          <p:cNvCxnSpPr/>
          <p:nvPr/>
        </p:nvCxnSpPr>
        <p:spPr>
          <a:xfrm>
            <a:off x="393700" y="63373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E28089B-BFB0-478A-8699-F4671B08A17F}"/>
              </a:ext>
            </a:extLst>
          </p:cNvPr>
          <p:cNvSpPr txBox="1"/>
          <p:nvPr/>
        </p:nvSpPr>
        <p:spPr>
          <a:xfrm>
            <a:off x="419100" y="65278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mytorch/jit_pass.py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mytorch/jit_train_rewrite.py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model/resnet.py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1A32C56-C129-D42B-F569-ED1B45F69C22}"/>
              </a:ext>
            </a:extLst>
          </p:cNvPr>
          <p:cNvSpPr txBox="1"/>
          <p:nvPr/>
        </p:nvSpPr>
        <p:spPr>
          <a:xfrm>
            <a:off x="10801350" y="65151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488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ResNet18Original，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train/val，20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epoch，batch_size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IRNode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进行融合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CUDA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RawKernel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by-op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与慢节点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45770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073524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037663" y="4628029"/>
            <a:ext cx="4323229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0.0</a:t>
            </a:r>
            <a:r>
              <a:rPr lang="en-US" sz="14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acc@0.10：92.85% / 90.85%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5842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0894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90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</a:t>
            </a:r>
            <a:endParaRPr lang="zh-CN" altLang="en-US"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000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并行加载消融已完成：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378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JIT、temporal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split、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=8；async 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35450" y="221615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workers ×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prefetch_factor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16；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</a:t>
            </a:r>
            <a:r>
              <a:rPr lang="en-US" sz="10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158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.1s/epoch，32.07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p50：159.1ms → 154.6ms；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>
                <a:solidFill>
                  <a:srgbClr val="0E8F5A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  <a:endParaRPr sz="1000" b="1">
              <a:solidFill>
                <a:srgbClr val="0E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7806466-372A-7A3E-8870-9F890982B6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928384-22F7-0831-B6B2-BFA2185BAF23}"/>
              </a:ext>
            </a:extLst>
          </p:cNvPr>
          <p:cNvSpPr/>
          <p:nvPr/>
        </p:nvSpPr>
        <p:spPr>
          <a:xfrm>
            <a:off x="330200" y="317500"/>
            <a:ext cx="114300" cy="114300"/>
          </a:xfrm>
          <a:prstGeom prst="rect">
            <a:avLst/>
          </a:prstGeom>
          <a:solidFill>
            <a:srgbClr val="C0392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5CEBBD-D2FA-5CDF-DD3B-2EBDBB14DCAC}"/>
              </a:ext>
            </a:extLst>
          </p:cNvPr>
          <p:cNvSpPr txBox="1"/>
          <p:nvPr/>
        </p:nvSpPr>
        <p:spPr>
          <a:xfrm>
            <a:off x="571500" y="241300"/>
            <a:ext cx="4953000" cy="271869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第七部分 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/ Docker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Kubernetes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Kuflow</a:t>
            </a:r>
            <a:endParaRPr lang="zh-CN" altLang="en-US" sz="1100" b="1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9F0739-F876-507A-1BC1-C50230AFF696}"/>
              </a:ext>
            </a:extLst>
          </p:cNvPr>
          <p:cNvSpPr txBox="1"/>
          <p:nvPr/>
        </p:nvSpPr>
        <p:spPr>
          <a:xfrm>
            <a:off x="330200" y="698500"/>
            <a:ext cx="11430000" cy="456535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1F2933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2300" b="1">
                <a:solidFill>
                  <a:srgbClr val="1F2933"/>
                </a:solidFill>
                <a:latin typeface="Microsoft YaHei" panose="020B0503020204020204" pitchFamily="34" charset="-122"/>
              </a:rPr>
              <a:t>部署链路已迁移：</a:t>
            </a:r>
            <a:r>
              <a:rPr lang="en-US" altLang="zh-CN" sz="2300" b="1">
                <a:solidFill>
                  <a:srgbClr val="1F2933"/>
                </a:solidFill>
                <a:latin typeface="Microsoft YaHei" panose="020B0503020204020204" pitchFamily="34" charset="-122"/>
              </a:rPr>
              <a:t>Docker → K8s Job → Kuflow/Kubeflow </a:t>
            </a:r>
            <a:r>
              <a:rPr lang="zh-CN" altLang="en-US" sz="2300" b="1">
                <a:solidFill>
                  <a:srgbClr val="1F2933"/>
                </a:solidFill>
                <a:latin typeface="Microsoft YaHei" panose="020B0503020204020204" pitchFamily="34" charset="-122"/>
              </a:rPr>
              <a:t>算子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DE3318-1E34-7A8C-43E4-4CA1306897F3}"/>
              </a:ext>
            </a:extLst>
          </p:cNvPr>
          <p:cNvSpPr txBox="1"/>
          <p:nvPr/>
        </p:nvSpPr>
        <p:spPr>
          <a:xfrm>
            <a:off x="355600" y="1409700"/>
            <a:ext cx="114300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当前已从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MNIST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模板扩展到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训练任务：挂载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数据集，运行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MyTorch ResNet18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转向角回归训练，并输出结果到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/outputs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53CAE8-916D-28C6-EAA9-46ED66231CDB}"/>
              </a:ext>
            </a:extLst>
          </p:cNvPr>
          <p:cNvSpPr/>
          <p:nvPr/>
        </p:nvSpPr>
        <p:spPr>
          <a:xfrm>
            <a:off x="533400" y="2095500"/>
            <a:ext cx="3429000" cy="1905000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7010A2-74E7-0B75-B1D1-D616C24C854E}"/>
              </a:ext>
            </a:extLst>
          </p:cNvPr>
          <p:cNvSpPr/>
          <p:nvPr/>
        </p:nvSpPr>
        <p:spPr>
          <a:xfrm>
            <a:off x="4381500" y="2095500"/>
            <a:ext cx="3429000" cy="1905000"/>
          </a:xfrm>
          <a:prstGeom prst="rect">
            <a:avLst/>
          </a:prstGeom>
          <a:solidFill>
            <a:srgbClr val="F0FDF4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B6EE2C-045F-CBBC-8793-5EDBE5697EA5}"/>
              </a:ext>
            </a:extLst>
          </p:cNvPr>
          <p:cNvSpPr/>
          <p:nvPr/>
        </p:nvSpPr>
        <p:spPr>
          <a:xfrm>
            <a:off x="8229600" y="2095500"/>
            <a:ext cx="3429000" cy="1905000"/>
          </a:xfrm>
          <a:prstGeom prst="rect">
            <a:avLst/>
          </a:prstGeom>
          <a:solidFill>
            <a:srgbClr val="FFFAEB"/>
          </a:solidFill>
          <a:ln w="13970">
            <a:solidFill>
              <a:srgbClr val="D991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E3DAEC-EE6C-DB1E-F442-01A86A526605}"/>
              </a:ext>
            </a:extLst>
          </p:cNvPr>
          <p:cNvSpPr/>
          <p:nvPr/>
        </p:nvSpPr>
        <p:spPr>
          <a:xfrm>
            <a:off x="533400" y="2095500"/>
            <a:ext cx="3429000" cy="63500"/>
          </a:xfrm>
          <a:prstGeom prst="rect">
            <a:avLst/>
          </a:prstGeom>
          <a:solidFill>
            <a:srgbClr val="2563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5F6E81-49B5-3921-4B9D-98410B07AF64}"/>
              </a:ext>
            </a:extLst>
          </p:cNvPr>
          <p:cNvSpPr/>
          <p:nvPr/>
        </p:nvSpPr>
        <p:spPr>
          <a:xfrm>
            <a:off x="4381500" y="2095500"/>
            <a:ext cx="3429000" cy="63500"/>
          </a:xfrm>
          <a:prstGeom prst="rect">
            <a:avLst/>
          </a:prstGeom>
          <a:solidFill>
            <a:srgbClr val="238B57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EFCE47-D42B-B9F5-1DDD-7D903B586F44}"/>
              </a:ext>
            </a:extLst>
          </p:cNvPr>
          <p:cNvSpPr/>
          <p:nvPr/>
        </p:nvSpPr>
        <p:spPr>
          <a:xfrm>
            <a:off x="8229600" y="2095500"/>
            <a:ext cx="3429000" cy="63500"/>
          </a:xfrm>
          <a:prstGeom prst="rect">
            <a:avLst/>
          </a:prstGeom>
          <a:solidFill>
            <a:srgbClr val="D9911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DE6DFE-BEF9-1C93-5940-3850878410E6}"/>
              </a:ext>
            </a:extLst>
          </p:cNvPr>
          <p:cNvSpPr txBox="1"/>
          <p:nvPr/>
        </p:nvSpPr>
        <p:spPr>
          <a:xfrm>
            <a:off x="762000" y="2336800"/>
            <a:ext cx="2921000" cy="31803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400" b="1">
                <a:solidFill>
                  <a:srgbClr val="1F2933"/>
                </a:solidFill>
                <a:latin typeface="Microsoft YaHei" panose="020B0503020204020204" pitchFamily="34" charset="-122"/>
              </a:rPr>
              <a:t>Level 1  Docker </a:t>
            </a:r>
            <a:r>
              <a:rPr lang="zh-CN" altLang="en-US" sz="1400" b="1">
                <a:solidFill>
                  <a:srgbClr val="1F2933"/>
                </a:solidFill>
                <a:latin typeface="Microsoft YaHei" panose="020B0503020204020204" pitchFamily="34" charset="-122"/>
              </a:rPr>
              <a:t>封装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DC4AE60-39B4-AF3D-6C8F-B1B62570A847}"/>
              </a:ext>
            </a:extLst>
          </p:cNvPr>
          <p:cNvSpPr txBox="1"/>
          <p:nvPr/>
        </p:nvSpPr>
        <p:spPr>
          <a:xfrm>
            <a:off x="762000" y="2717800"/>
            <a:ext cx="2921000" cy="51809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Dockerfile.donkeycar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固化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MyTorch + OpenCV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依赖；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compose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挂载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数据根目录和输出目录，入口为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训练脚本。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B7D26CE-3631-CC6E-492E-FC973135479F}"/>
              </a:ext>
            </a:extLst>
          </p:cNvPr>
          <p:cNvSpPr txBox="1"/>
          <p:nvPr/>
        </p:nvSpPr>
        <p:spPr>
          <a:xfrm>
            <a:off x="762000" y="3644900"/>
            <a:ext cx="2921000" cy="21031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700" b="1">
                <a:solidFill>
                  <a:srgbClr val="2563EB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00" b="1">
                <a:solidFill>
                  <a:srgbClr val="2563EB"/>
                </a:solidFill>
                <a:latin typeface="Microsoft YaHei" panose="020B0503020204020204" pitchFamily="34" charset="-122"/>
              </a:rPr>
              <a:t>deploy/docker/Dockerfile.donkeycar</a:t>
            </a:r>
            <a:endParaRPr lang="zh-CN" altLang="en-US" sz="7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B80FC1-3F81-ACAD-3371-405B05D6C9B1}"/>
              </a:ext>
            </a:extLst>
          </p:cNvPr>
          <p:cNvSpPr txBox="1"/>
          <p:nvPr/>
        </p:nvSpPr>
        <p:spPr>
          <a:xfrm>
            <a:off x="4610100" y="2336800"/>
            <a:ext cx="2921000" cy="31803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400" b="1">
                <a:solidFill>
                  <a:srgbClr val="1F2933"/>
                </a:solidFill>
                <a:latin typeface="Microsoft YaHei" panose="020B0503020204020204" pitchFamily="34" charset="-122"/>
              </a:rPr>
              <a:t>Level 2  Kubernetes Job</a:t>
            </a:r>
            <a:endParaRPr lang="zh-CN" altLang="en-US" sz="1400" b="1">
              <a:solidFill>
                <a:srgbClr val="1F29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526A21-4057-04D9-2DB3-0235E206608E}"/>
              </a:ext>
            </a:extLst>
          </p:cNvPr>
          <p:cNvSpPr txBox="1"/>
          <p:nvPr/>
        </p:nvSpPr>
        <p:spPr>
          <a:xfrm>
            <a:off x="4610100" y="2717800"/>
            <a:ext cx="2921000" cy="51809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donkeycar-training-job.yaml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提交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batch/v1 Job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；数据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PVC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挂载到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/data/donkeycar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，结果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PVC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挂载到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/outputs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，资源限制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4CPU/8Gi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D5F0F6B-C40B-06B1-0142-11294E4E1A24}"/>
              </a:ext>
            </a:extLst>
          </p:cNvPr>
          <p:cNvSpPr txBox="1"/>
          <p:nvPr/>
        </p:nvSpPr>
        <p:spPr>
          <a:xfrm>
            <a:off x="4610100" y="3644900"/>
            <a:ext cx="2921000" cy="21031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700" b="1">
                <a:solidFill>
                  <a:srgbClr val="238B57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00" b="1">
                <a:solidFill>
                  <a:srgbClr val="238B57"/>
                </a:solidFill>
                <a:latin typeface="Microsoft YaHei" panose="020B0503020204020204" pitchFamily="34" charset="-122"/>
              </a:rPr>
              <a:t>deploy/k8s/donkeycar-training-job.yaml</a:t>
            </a:r>
            <a:endParaRPr lang="zh-CN" altLang="en-US" sz="700" b="1">
              <a:solidFill>
                <a:srgbClr val="238B5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A66DC69-605B-C54F-AA0D-43DCE75BAF60}"/>
              </a:ext>
            </a:extLst>
          </p:cNvPr>
          <p:cNvSpPr txBox="1"/>
          <p:nvPr/>
        </p:nvSpPr>
        <p:spPr>
          <a:xfrm>
            <a:off x="8458200" y="2336800"/>
            <a:ext cx="2921000" cy="31803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400" b="1">
                <a:solidFill>
                  <a:srgbClr val="1F2933"/>
                </a:solidFill>
                <a:latin typeface="Microsoft YaHei" panose="020B0503020204020204" pitchFamily="34" charset="-122"/>
              </a:rPr>
              <a:t>Level 3  Kuflow / Kubeflow</a:t>
            </a:r>
            <a:endParaRPr lang="zh-CN" altLang="en-US" sz="1400" b="1">
              <a:solidFill>
                <a:srgbClr val="1F29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4958846-BEED-3CF1-CFEB-19D330527867}"/>
              </a:ext>
            </a:extLst>
          </p:cNvPr>
          <p:cNvSpPr txBox="1"/>
          <p:nvPr/>
        </p:nvSpPr>
        <p:spPr>
          <a:xfrm>
            <a:off x="8458200" y="2717800"/>
            <a:ext cx="2921000" cy="51809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新增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DONKEYCAR_TRAIN operator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；统一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image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argv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PVC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、资源规格，可编译为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Kubeflow pipeline YAML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DE840FD-F3FB-DBE4-ED77-0A036D65A887}"/>
              </a:ext>
            </a:extLst>
          </p:cNvPr>
          <p:cNvSpPr txBox="1"/>
          <p:nvPr/>
        </p:nvSpPr>
        <p:spPr>
          <a:xfrm>
            <a:off x="8458200" y="3644900"/>
            <a:ext cx="2921000" cy="21031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700" b="1">
                <a:solidFill>
                  <a:srgbClr val="D99118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00" b="1">
                <a:solidFill>
                  <a:srgbClr val="D99118"/>
                </a:solidFill>
                <a:latin typeface="Microsoft YaHei" panose="020B0503020204020204" pitchFamily="34" charset="-122"/>
              </a:rPr>
              <a:t>kuflow/operators.py, kfp_pipeline.py</a:t>
            </a:r>
            <a:endParaRPr lang="zh-CN" altLang="en-US" sz="700" b="1">
              <a:solidFill>
                <a:srgbClr val="D9911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FBCE44E2-754F-C4F7-CB1C-1ED39512491F}"/>
              </a:ext>
            </a:extLst>
          </p:cNvPr>
          <p:cNvSpPr/>
          <p:nvPr/>
        </p:nvSpPr>
        <p:spPr>
          <a:xfrm>
            <a:off x="4000500" y="2857500"/>
            <a:ext cx="342900" cy="279400"/>
          </a:xfrm>
          <a:prstGeom prst="rightArrow">
            <a:avLst/>
          </a:prstGeom>
          <a:solidFill>
            <a:srgbClr val="5B69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65D98A04-C8F6-5EFD-E9A6-CD78E2D9CB4E}"/>
              </a:ext>
            </a:extLst>
          </p:cNvPr>
          <p:cNvSpPr/>
          <p:nvPr/>
        </p:nvSpPr>
        <p:spPr>
          <a:xfrm>
            <a:off x="7848600" y="2857500"/>
            <a:ext cx="342900" cy="279400"/>
          </a:xfrm>
          <a:prstGeom prst="rightArrow">
            <a:avLst/>
          </a:prstGeom>
          <a:solidFill>
            <a:srgbClr val="5B69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10AD737-7F2A-5D67-9172-7895292D2DC3}"/>
              </a:ext>
            </a:extLst>
          </p:cNvPr>
          <p:cNvSpPr/>
          <p:nvPr/>
        </p:nvSpPr>
        <p:spPr>
          <a:xfrm>
            <a:off x="533400" y="4292600"/>
            <a:ext cx="5283200" cy="914400"/>
          </a:xfrm>
          <a:prstGeom prst="rect">
            <a:avLst/>
          </a:prstGeom>
          <a:solidFill>
            <a:srgbClr val="FDFCF8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BD416B4-E0D6-E49B-2718-4F9F885217D2}"/>
              </a:ext>
            </a:extLst>
          </p:cNvPr>
          <p:cNvSpPr txBox="1"/>
          <p:nvPr/>
        </p:nvSpPr>
        <p:spPr>
          <a:xfrm>
            <a:off x="736600" y="4470400"/>
            <a:ext cx="48895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已补齐能力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867C3FE-871D-391D-7112-6E7959F07AD4}"/>
              </a:ext>
            </a:extLst>
          </p:cNvPr>
          <p:cNvSpPr txBox="1"/>
          <p:nvPr/>
        </p:nvSpPr>
        <p:spPr>
          <a:xfrm>
            <a:off x="736600" y="4775200"/>
            <a:ext cx="4889500" cy="37959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DonkeyCar Docker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镜像、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compose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启动、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K8s Job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Kuflow operator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deployment benchmark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脚本均已新增。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A75C917-C30C-BF3D-A236-34388FFA29DB}"/>
              </a:ext>
            </a:extLst>
          </p:cNvPr>
          <p:cNvSpPr/>
          <p:nvPr/>
        </p:nvSpPr>
        <p:spPr>
          <a:xfrm>
            <a:off x="6375400" y="4292600"/>
            <a:ext cx="5283200" cy="914400"/>
          </a:xfrm>
          <a:prstGeom prst="rect">
            <a:avLst/>
          </a:prstGeom>
          <a:solidFill>
            <a:srgbClr val="F5F3FF"/>
          </a:solidFill>
          <a:ln w="13970">
            <a:solidFill>
              <a:srgbClr val="7048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94FE204-9EE7-9752-F1B7-FF757F11C1EE}"/>
              </a:ext>
            </a:extLst>
          </p:cNvPr>
          <p:cNvSpPr txBox="1"/>
          <p:nvPr/>
        </p:nvSpPr>
        <p:spPr>
          <a:xfrm>
            <a:off x="6578600" y="4470400"/>
            <a:ext cx="48895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仍需实验证明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B06AB59C-8D3C-E489-F238-C12D7B961BBB}"/>
              </a:ext>
            </a:extLst>
          </p:cNvPr>
          <p:cNvSpPr txBox="1"/>
          <p:nvPr/>
        </p:nvSpPr>
        <p:spPr>
          <a:xfrm>
            <a:off x="6578600" y="4775200"/>
            <a:ext cx="4889500" cy="24109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需要补跑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Docker/K8s/Kubeflow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的实际日志、墙钟时间、资源占用和可复现实验截图。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1CFDFA4-15E2-7832-F734-6BFBD0CBFC27}"/>
              </a:ext>
            </a:extLst>
          </p:cNvPr>
          <p:cNvSpPr/>
          <p:nvPr/>
        </p:nvSpPr>
        <p:spPr>
          <a:xfrm>
            <a:off x="533400" y="5410200"/>
            <a:ext cx="11125200" cy="965200"/>
          </a:xfrm>
          <a:prstGeom prst="rect">
            <a:avLst/>
          </a:prstGeom>
          <a:solidFill>
            <a:srgbClr val="FDFCF8"/>
          </a:solidFill>
          <a:ln w="1397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4B40BDA-4089-1988-D3C9-55B384D64488}"/>
              </a:ext>
            </a:extLst>
          </p:cNvPr>
          <p:cNvSpPr txBox="1"/>
          <p:nvPr/>
        </p:nvSpPr>
        <p:spPr>
          <a:xfrm>
            <a:off x="736600" y="5588000"/>
            <a:ext cx="20320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需要补充的实验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C01EC82C-024C-8050-FF9C-0AA4DAD078D3}"/>
              </a:ext>
            </a:extLst>
          </p:cNvPr>
          <p:cNvSpPr txBox="1"/>
          <p:nvPr/>
        </p:nvSpPr>
        <p:spPr>
          <a:xfrm>
            <a:off x="736600" y="5892800"/>
            <a:ext cx="10414000" cy="348813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1. docker build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镜像大小与构建耗时；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2. docker run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训练日志、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wall time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、输出文件；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3. kubectl apply/logs/pod describe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CPU/Mem requests/limits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4. Kubeflow pipeline YAML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编译与运行截图；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5. local vs Docker vs K8s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训练耗时对比，至少重复 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次。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09DB9E9-D4EA-5020-E326-9A7F0D7BA991}"/>
              </a:ext>
            </a:extLst>
          </p:cNvPr>
          <p:cNvSpPr/>
          <p:nvPr/>
        </p:nvSpPr>
        <p:spPr>
          <a:xfrm>
            <a:off x="330200" y="6604000"/>
            <a:ext cx="11430000" cy="12700"/>
          </a:xfrm>
          <a:prstGeom prst="rect">
            <a:avLst/>
          </a:prstGeom>
          <a:solidFill>
            <a:srgbClr val="D8D0C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E07A9BDD-10A6-1FB3-49D6-D69F41D37F90}"/>
              </a:ext>
            </a:extLst>
          </p:cNvPr>
          <p:cNvSpPr txBox="1"/>
          <p:nvPr/>
        </p:nvSpPr>
        <p:spPr>
          <a:xfrm>
            <a:off x="11747500" y="6654800"/>
            <a:ext cx="381000" cy="225703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8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86500" y="3746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91650" y="3746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86500" y="4127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91650" y="4127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60F75-B8C2-061B-CB23-4DD4CA8D00E5}"/>
              </a:ext>
            </a:extLst>
          </p:cNvPr>
          <p:cNvSpPr>
            <a:spLocks noGrp="1"/>
          </p:cNvSpPr>
          <p:nvPr/>
        </p:nvSpPr>
        <p:spPr>
          <a:xfrm>
            <a:off x="6280150" y="4521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55FE886-AA64-15AD-FFDA-218D7087A6B9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86AFCC-EC8A-2014-FEF2-BD137FEEDF57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2400" cy="825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84CCA1-C404-E38A-5801-85B2E31B84B0}"/>
              </a:ext>
            </a:extLst>
          </p:cNvPr>
          <p:cNvSpPr>
            <a:spLocks noGrp="1"/>
          </p:cNvSpPr>
          <p:nvPr/>
        </p:nvSpPr>
        <p:spPr>
          <a:xfrm>
            <a:off x="9385300" y="4521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4206.5</a:t>
            </a:r>
            <a:r>
              <a:rPr lang="en-US" altLang="zh-CN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8BADFE-E991-0181-67B9-D21AAFD0D47F}"/>
              </a:ext>
            </a:extLst>
          </p:cNvPr>
          <p:cNvSpPr>
            <a:spLocks noGrp="1"/>
          </p:cNvSpPr>
          <p:nvPr/>
        </p:nvSpPr>
        <p:spPr>
          <a:xfrm>
            <a:off x="6280150" y="490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432A42-42D3-C147-5CAB-2E732F66BC26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02697A-1F57-43C2-0759-2FC1A11E96B1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90170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D9715D-6E6F-8E38-7CC3-EB2854FADD7A}"/>
              </a:ext>
            </a:extLst>
          </p:cNvPr>
          <p:cNvSpPr>
            <a:spLocks noGrp="1"/>
          </p:cNvSpPr>
          <p:nvPr/>
        </p:nvSpPr>
        <p:spPr>
          <a:xfrm>
            <a:off x="9385300" y="490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2822.5MB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MixUp / CutMix 等均未超过 baseline。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</a:t>
            </a: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0D47373A-E432-8938-83DC-F905A0CE52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C3466-32D6-079C-B712-1B185C618EE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0682F5-2E32-96D7-C246-28D83080BDE2}"/>
              </a:ext>
            </a:extLst>
          </p:cNvPr>
          <p:cNvSpPr txBox="1"/>
          <p:nvPr/>
        </p:nvSpPr>
        <p:spPr>
          <a:xfrm>
            <a:off x="609600" y="381000"/>
            <a:ext cx="279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60C526-5BA6-9B57-A25D-D14B516B3104}"/>
              </a:ext>
            </a:extLst>
          </p:cNvPr>
          <p:cNvSpPr txBox="1"/>
          <p:nvPr/>
        </p:nvSpPr>
        <p:spPr>
          <a:xfrm>
            <a:off x="609600" y="736600"/>
            <a:ext cx="965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困难二：完整 </a:t>
            </a:r>
            <a:r>
              <a:rPr lang="en-US" altLang="zh-CN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大融合没有比不融合更快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3789B2-E835-7B6F-AE33-40FA1DB90A9A}"/>
              </a:ext>
            </a:extLst>
          </p:cNvPr>
          <p:cNvSpPr txBox="1"/>
          <p:nvPr/>
        </p:nvSpPr>
        <p:spPr>
          <a:xfrm>
            <a:off x="609600" y="1320800"/>
            <a:ext cx="1041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这不是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或图扫描失败，而是融合粒度变大后，底层卷积、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workspace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没有同步升级为 </a:t>
            </a:r>
            <a:r>
              <a:rPr lang="en-US" altLang="zh-CN" sz="105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cuDNN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/CUTLASS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级高性能实现。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53C3C6-B77C-15A8-3E2A-6E42389C1203}"/>
              </a:ext>
            </a:extLst>
          </p:cNvPr>
          <p:cNvSpPr/>
          <p:nvPr/>
        </p:nvSpPr>
        <p:spPr>
          <a:xfrm>
            <a:off x="698500" y="1905000"/>
            <a:ext cx="38100" cy="736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DEBADD-A2FC-98A6-4418-CF3182098338}"/>
              </a:ext>
            </a:extLst>
          </p:cNvPr>
          <p:cNvSpPr txBox="1"/>
          <p:nvPr/>
        </p:nvSpPr>
        <p:spPr>
          <a:xfrm>
            <a:off x="8509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13.63x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B72999-E939-A857-DFB3-D9785CE73BBE}"/>
              </a:ext>
            </a:extLst>
          </p:cNvPr>
          <p:cNvSpPr txBox="1"/>
          <p:nvPr/>
        </p:nvSpPr>
        <p:spPr>
          <a:xfrm>
            <a:off x="8509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total batch p50 </a:t>
            </a:r>
            <a:r>
              <a:rPr lang="zh-CN" altLang="en-US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慢于 </a:t>
            </a:r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PyTorch</a:t>
            </a:r>
            <a:endParaRPr lang="zh-CN" altLang="en-US" sz="82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2BD978-2751-84A1-F4BC-6ECFFEAF4FD6}"/>
              </a:ext>
            </a:extLst>
          </p:cNvPr>
          <p:cNvSpPr/>
          <p:nvPr/>
        </p:nvSpPr>
        <p:spPr>
          <a:xfrm>
            <a:off x="3022600" y="1905000"/>
            <a:ext cx="38100" cy="736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C899FE-58E6-5B9C-4465-A29D031CB05D}"/>
              </a:ext>
            </a:extLst>
          </p:cNvPr>
          <p:cNvSpPr txBox="1"/>
          <p:nvPr/>
        </p:nvSpPr>
        <p:spPr>
          <a:xfrm>
            <a:off x="31750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28.20x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ADC0B9-22F9-9A2D-5B71-577D954D080D}"/>
              </a:ext>
            </a:extLst>
          </p:cNvPr>
          <p:cNvSpPr txBox="1"/>
          <p:nvPr/>
        </p:nvSpPr>
        <p:spPr>
          <a:xfrm>
            <a:off x="31750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backward p50 </a:t>
            </a:r>
            <a:r>
              <a:rPr lang="zh-CN" altLang="en-US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是最大瓶颈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06E175-D584-7A14-8F37-CA602755CCC5}"/>
              </a:ext>
            </a:extLst>
          </p:cNvPr>
          <p:cNvSpPr/>
          <p:nvPr/>
        </p:nvSpPr>
        <p:spPr>
          <a:xfrm>
            <a:off x="5346700" y="1905000"/>
            <a:ext cx="38100" cy="7366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FD707B-2101-FCCB-6818-E1DEDF902BEE}"/>
              </a:ext>
            </a:extLst>
          </p:cNvPr>
          <p:cNvSpPr txBox="1"/>
          <p:nvPr/>
        </p:nvSpPr>
        <p:spPr>
          <a:xfrm>
            <a:off x="54991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0.0047 ms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DB17E0-0755-5ADC-22FF-73E4D0BC3210}"/>
              </a:ext>
            </a:extLst>
          </p:cNvPr>
          <p:cNvSpPr txBox="1"/>
          <p:nvPr/>
        </p:nvSpPr>
        <p:spPr>
          <a:xfrm>
            <a:off x="54991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loader fetch p50 </a:t>
            </a:r>
            <a:r>
              <a:rPr lang="zh-CN" altLang="en-US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很低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1D9ADD-6CFA-6A1B-25C6-492E216DF75F}"/>
              </a:ext>
            </a:extLst>
          </p:cNvPr>
          <p:cNvSpPr/>
          <p:nvPr/>
        </p:nvSpPr>
        <p:spPr>
          <a:xfrm>
            <a:off x="8077200" y="1905000"/>
            <a:ext cx="38100" cy="736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B76ED3-90CF-0B7A-3F70-4FF4DBA44374}"/>
              </a:ext>
            </a:extLst>
          </p:cNvPr>
          <p:cNvSpPr txBox="1"/>
          <p:nvPr/>
        </p:nvSpPr>
        <p:spPr>
          <a:xfrm>
            <a:off x="82296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BN-only</a:t>
            </a:r>
            <a:endParaRPr lang="zh-CN" altLang="en-US" sz="2000" b="1" dirty="0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302ADA-F944-5288-8277-C1715298699A}"/>
              </a:ext>
            </a:extLst>
          </p:cNvPr>
          <p:cNvSpPr txBox="1"/>
          <p:nvPr/>
        </p:nvSpPr>
        <p:spPr>
          <a:xfrm>
            <a:off x="82296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当前训练 </a:t>
            </a:r>
            <a:r>
              <a:rPr lang="en-US" altLang="zh-CN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默认策略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7CE944-858F-D31C-C521-21F36D7BD137}"/>
              </a:ext>
            </a:extLst>
          </p:cNvPr>
          <p:cNvSpPr/>
          <p:nvPr/>
        </p:nvSpPr>
        <p:spPr>
          <a:xfrm>
            <a:off x="889000" y="3048000"/>
            <a:ext cx="1651000" cy="55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7C2A84-57DB-C10D-6958-6403CEC65E1B}"/>
              </a:ext>
            </a:extLst>
          </p:cNvPr>
          <p:cNvSpPr txBox="1"/>
          <p:nvPr/>
        </p:nvSpPr>
        <p:spPr>
          <a:xfrm>
            <a:off x="965200" y="3162300"/>
            <a:ext cx="1498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期望：节点更少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359C0A5-6480-AC99-12AB-D7A8C72317A0}"/>
              </a:ext>
            </a:extLst>
          </p:cNvPr>
          <p:cNvCxnSpPr/>
          <p:nvPr/>
        </p:nvCxnSpPr>
        <p:spPr>
          <a:xfrm>
            <a:off x="2641600" y="3327400"/>
            <a:ext cx="698500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0DC5FCC-FCA6-885D-BC95-B368468EC960}"/>
              </a:ext>
            </a:extLst>
          </p:cNvPr>
          <p:cNvSpPr txBox="1"/>
          <p:nvPr/>
        </p:nvSpPr>
        <p:spPr>
          <a:xfrm>
            <a:off x="32385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0F766E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9D1C0D-42E8-0831-20B0-C9DDC084E40A}"/>
              </a:ext>
            </a:extLst>
          </p:cNvPr>
          <p:cNvSpPr/>
          <p:nvPr/>
        </p:nvSpPr>
        <p:spPr>
          <a:xfrm>
            <a:off x="3454400" y="3048000"/>
            <a:ext cx="2032000" cy="55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584396-8D36-666D-582F-CAAC31A9FA02}"/>
              </a:ext>
            </a:extLst>
          </p:cNvPr>
          <p:cNvSpPr txBox="1"/>
          <p:nvPr/>
        </p:nvSpPr>
        <p:spPr>
          <a:xfrm>
            <a:off x="3530600" y="3162300"/>
            <a:ext cx="1879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Conv+BN+ReLU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379E129-0590-C65F-EE2A-9B23DEC36E0D}"/>
              </a:ext>
            </a:extLst>
          </p:cNvPr>
          <p:cNvCxnSpPr/>
          <p:nvPr/>
        </p:nvCxnSpPr>
        <p:spPr>
          <a:xfrm>
            <a:off x="5588000" y="3327400"/>
            <a:ext cx="698500" cy="0"/>
          </a:xfrm>
          <a:prstGeom prst="line">
            <a:avLst/>
          </a:prstGeom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D20C681-9C7C-CF2E-3BEA-FA5E571AE9E1}"/>
              </a:ext>
            </a:extLst>
          </p:cNvPr>
          <p:cNvSpPr txBox="1"/>
          <p:nvPr/>
        </p:nvSpPr>
        <p:spPr>
          <a:xfrm>
            <a:off x="61849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F9731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F973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0D978E9-7FE1-3654-EB11-F1A8954B2D8B}"/>
              </a:ext>
            </a:extLst>
          </p:cNvPr>
          <p:cNvSpPr/>
          <p:nvPr/>
        </p:nvSpPr>
        <p:spPr>
          <a:xfrm>
            <a:off x="6400800" y="3048000"/>
            <a:ext cx="1905000" cy="55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2CF7A0-E830-9C75-8E15-E25BDF5755C7}"/>
              </a:ext>
            </a:extLst>
          </p:cNvPr>
          <p:cNvSpPr txBox="1"/>
          <p:nvPr/>
        </p:nvSpPr>
        <p:spPr>
          <a:xfrm>
            <a:off x="6477000" y="3162300"/>
            <a:ext cx="1752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实际：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workspace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变重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3F6EFC-6BE3-C5CA-5969-5F615FCA884B}"/>
              </a:ext>
            </a:extLst>
          </p:cNvPr>
          <p:cNvCxnSpPr/>
          <p:nvPr/>
        </p:nvCxnSpPr>
        <p:spPr>
          <a:xfrm>
            <a:off x="8407400" y="3327400"/>
            <a:ext cx="698500" cy="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E480DF7-F4A5-D440-2086-EBE5B0852F0B}"/>
              </a:ext>
            </a:extLst>
          </p:cNvPr>
          <p:cNvSpPr txBox="1"/>
          <p:nvPr/>
        </p:nvSpPr>
        <p:spPr>
          <a:xfrm>
            <a:off x="90043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DC262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32D4A99-2540-D587-168E-2508625B607C}"/>
              </a:ext>
            </a:extLst>
          </p:cNvPr>
          <p:cNvSpPr/>
          <p:nvPr/>
        </p:nvSpPr>
        <p:spPr>
          <a:xfrm>
            <a:off x="9220200" y="3048000"/>
            <a:ext cx="2159000" cy="55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BA0243-746C-CFF5-274B-73FBE49F3751}"/>
              </a:ext>
            </a:extLst>
          </p:cNvPr>
          <p:cNvSpPr txBox="1"/>
          <p:nvPr/>
        </p:nvSpPr>
        <p:spPr>
          <a:xfrm>
            <a:off x="9296400" y="3162300"/>
            <a:ext cx="2006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结果：不如 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稳定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E9F9A2-E21A-3566-1E7A-3C19F97DA07A}"/>
              </a:ext>
            </a:extLst>
          </p:cNvPr>
          <p:cNvSpPr/>
          <p:nvPr/>
        </p:nvSpPr>
        <p:spPr>
          <a:xfrm>
            <a:off x="698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F1F3D4C-3BF9-4276-AD95-BE3190655FC5}"/>
              </a:ext>
            </a:extLst>
          </p:cNvPr>
          <p:cNvSpPr/>
          <p:nvPr/>
        </p:nvSpPr>
        <p:spPr>
          <a:xfrm>
            <a:off x="698500" y="4064000"/>
            <a:ext cx="50800" cy="1371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B50A6F0-17BE-C14F-F6C6-C20F2DE6728D}"/>
              </a:ext>
            </a:extLst>
          </p:cNvPr>
          <p:cNvSpPr txBox="1"/>
          <p:nvPr/>
        </p:nvSpPr>
        <p:spPr>
          <a:xfrm>
            <a:off x="901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：只是图结构融合，不是高性能卷积内核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25BA499-DECA-D567-0EFA-5E426761D91A}"/>
              </a:ext>
            </a:extLst>
          </p:cNvPr>
          <p:cNvSpPr txBox="1"/>
          <p:nvPr/>
        </p:nvSpPr>
        <p:spPr>
          <a:xfrm>
            <a:off x="901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FusedConvBNReLU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内部仍然离不开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im2col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GEMM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BN mean/var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ReLU mask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dCol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col2im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。节点少了，但核心计算路径并没有自动变成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cuDNN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级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F477004-CF68-3CAA-DF29-8CF97C82C567}"/>
              </a:ext>
            </a:extLst>
          </p:cNvPr>
          <p:cNvSpPr/>
          <p:nvPr/>
        </p:nvSpPr>
        <p:spPr>
          <a:xfrm>
            <a:off x="4381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D8D81D5-4E1A-91EB-950B-AC7EC0B2125B}"/>
              </a:ext>
            </a:extLst>
          </p:cNvPr>
          <p:cNvSpPr/>
          <p:nvPr/>
        </p:nvSpPr>
        <p:spPr>
          <a:xfrm>
            <a:off x="4381500" y="4064000"/>
            <a:ext cx="50800" cy="1371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228DEE-3507-73D2-F965-D8C2FEAB58FC}"/>
              </a:ext>
            </a:extLst>
          </p:cNvPr>
          <p:cNvSpPr txBox="1"/>
          <p:nvPr/>
        </p:nvSpPr>
        <p:spPr>
          <a:xfrm>
            <a:off x="4584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stem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大输入卷积放大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im2col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成本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CD772AD-1AD6-692B-7C93-5763DB8731DE}"/>
              </a:ext>
            </a:extLst>
          </p:cNvPr>
          <p:cNvSpPr txBox="1"/>
          <p:nvPr/>
        </p:nvSpPr>
        <p:spPr>
          <a:xfrm>
            <a:off x="4584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ResNet18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第一层输入空间大，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大融合会产生更大的临时展开矩阵和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workspace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中最慢节点集中在这类大输入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 conv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上。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D18FD08-4A51-1FA2-B6C1-3B63BEECB9A3}"/>
              </a:ext>
            </a:extLst>
          </p:cNvPr>
          <p:cNvSpPr/>
          <p:nvPr/>
        </p:nvSpPr>
        <p:spPr>
          <a:xfrm>
            <a:off x="8064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B591E09-A8B8-D6B8-B5E0-CEAF09E729D9}"/>
              </a:ext>
            </a:extLst>
          </p:cNvPr>
          <p:cNvSpPr/>
          <p:nvPr/>
        </p:nvSpPr>
        <p:spPr>
          <a:xfrm>
            <a:off x="8064500" y="4064000"/>
            <a:ext cx="50800" cy="13716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6213E76-411F-43F4-DA58-09BECA27A582}"/>
              </a:ext>
            </a:extLst>
          </p:cNvPr>
          <p:cNvSpPr txBox="1"/>
          <p:nvPr/>
        </p:nvSpPr>
        <p:spPr>
          <a:xfrm>
            <a:off x="8267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：训练看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，不只看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forward</a:t>
            </a:r>
            <a:endParaRPr lang="zh-CN" altLang="en-US" sz="135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1DB9AA-9A79-1D94-628F-ED987F4E4DE9}"/>
              </a:ext>
            </a:extLst>
          </p:cNvPr>
          <p:cNvSpPr txBox="1"/>
          <p:nvPr/>
        </p:nvSpPr>
        <p:spPr>
          <a:xfrm>
            <a:off x="8267700" y="4597400"/>
            <a:ext cx="3073400" cy="578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Conv-BN-Add-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ReLU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要同时处理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gamma/beta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weight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input grad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identity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；当前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比 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PyTorch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慢得多。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7C5848E-3C44-2AE9-C578-0AF242603E9F}"/>
              </a:ext>
            </a:extLst>
          </p:cNvPr>
          <p:cNvSpPr/>
          <p:nvPr/>
        </p:nvSpPr>
        <p:spPr>
          <a:xfrm>
            <a:off x="698500" y="5791200"/>
            <a:ext cx="10795000" cy="609600"/>
          </a:xfrm>
          <a:prstGeom prst="rect">
            <a:avLst/>
          </a:prstGeom>
          <a:solidFill>
            <a:srgbClr val="ECFDF5"/>
          </a:solidFill>
          <a:ln w="952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938A955-B692-69E1-7C88-7638735AE5F4}"/>
              </a:ext>
            </a:extLst>
          </p:cNvPr>
          <p:cNvSpPr txBox="1"/>
          <p:nvPr/>
        </p:nvSpPr>
        <p:spPr>
          <a:xfrm>
            <a:off x="2413000" y="5905500"/>
            <a:ext cx="8572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完整 </a:t>
            </a:r>
            <a:r>
              <a:rPr lang="en-US" altLang="zh-CN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的困难不是“不会融合”，而是融合后算子内部还没有真正高性能化；因此训练默认选择 </a:t>
            </a:r>
            <a:r>
              <a:rPr lang="en-US" altLang="zh-CN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融合，把 </a:t>
            </a:r>
            <a:r>
              <a:rPr lang="en-US" altLang="zh-CN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大融合作为实验策略保留。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659ACCA-92A9-227A-25F4-54F43336C189}"/>
              </a:ext>
            </a:extLst>
          </p:cNvPr>
          <p:cNvSpPr txBox="1"/>
          <p:nvPr/>
        </p:nvSpPr>
        <p:spPr>
          <a:xfrm>
            <a:off x="10801350" y="65151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2641</Words>
  <Application>Microsoft Office PowerPoint</Application>
  <DocSecurity>0</DocSecurity>
  <PresentationFormat>宽屏</PresentationFormat>
  <Paragraphs>422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16</cp:revision>
  <dcterms:created xsi:type="dcterms:W3CDTF">2026-05-19T13:12:39Z</dcterms:created>
  <dcterms:modified xsi:type="dcterms:W3CDTF">2026-05-21T03:51:53Z</dcterms:modified>
</cp:coreProperties>
</file>