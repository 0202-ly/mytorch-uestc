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3" r:id="rId16"/>
    <p:sldId id="274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1" d="100"/>
          <a:sy n="71" d="100"/>
        </p:scale>
        <p:origin x="15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94531-D695-3F74-6BF0-2F99AC29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37E4B-D081-3F03-FAB3-5C9A0F613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FD62C-F192-AC67-7F82-EAA39D379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1A5B7-ADBB-88C3-7AFF-BF19B2E2D0C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4663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713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AC8060AF-D313-412F-B695-8CC62D502D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210C02-D24E-4DE4-B87D-1AD6FF2CBE21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74295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F75C8C-5B97-4DE6-A3B1-297ACD933F6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7429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基于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的自动驾驶深度学习框架答辩</a:t>
            </a:r>
            <a:endParaRPr sz="25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0A4E83-94ED-4117-AFA3-4CA698BD96D9}"/>
              </a:ext>
            </a:extLst>
          </p:cNvPr>
          <p:cNvSpPr>
            <a:spLocks noGrp="1"/>
          </p:cNvSpPr>
          <p:nvPr/>
        </p:nvSpPr>
        <p:spPr>
          <a:xfrm>
            <a:off x="8172450" y="933450"/>
            <a:ext cx="2381250" cy="1684244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68A02F-266D-475F-A428-5DB2BC39FC87}"/>
              </a:ext>
            </a:extLst>
          </p:cNvPr>
          <p:cNvSpPr>
            <a:spLocks noGrp="1"/>
          </p:cNvSpPr>
          <p:nvPr/>
        </p:nvSpPr>
        <p:spPr>
          <a:xfrm>
            <a:off x="8477250" y="12763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当前任务边界</a:t>
            </a:r>
            <a:endParaRPr sz="17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EBD4B2-D270-46DA-8E7E-BB21F9AAB58F}"/>
              </a:ext>
            </a:extLst>
          </p:cNvPr>
          <p:cNvSpPr>
            <a:spLocks noGrp="1"/>
          </p:cNvSpPr>
          <p:nvPr/>
        </p:nvSpPr>
        <p:spPr>
          <a:xfrm>
            <a:off x="8477249" y="1771650"/>
            <a:ext cx="1975597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支持：图像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 -&gt; 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转向角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暂不支持：速度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油门控制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训练目标：连续回归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3D395A-3068-4676-A984-0D0D0B8214DE}"/>
              </a:ext>
            </a:extLst>
          </p:cNvPr>
          <p:cNvSpPr>
            <a:spLocks noGrp="1"/>
          </p:cNvSpPr>
          <p:nvPr/>
        </p:nvSpPr>
        <p:spPr>
          <a:xfrm>
            <a:off x="83820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92EF08-B035-44DD-AB4A-30F01598D171}"/>
              </a:ext>
            </a:extLst>
          </p:cNvPr>
          <p:cNvSpPr>
            <a:spLocks noGrp="1"/>
          </p:cNvSpPr>
          <p:nvPr/>
        </p:nvSpPr>
        <p:spPr>
          <a:xfrm>
            <a:off x="83820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 图像样本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184204-E6D3-4AEE-A260-0F9F7F57A4BC}"/>
              </a:ext>
            </a:extLst>
          </p:cNvPr>
          <p:cNvSpPr>
            <a:spLocks noGrp="1"/>
          </p:cNvSpPr>
          <p:nvPr/>
        </p:nvSpPr>
        <p:spPr>
          <a:xfrm>
            <a:off x="337185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5F8424-4F54-4C95-A7E4-7FA38810CA4E}"/>
              </a:ext>
            </a:extLst>
          </p:cNvPr>
          <p:cNvSpPr>
            <a:spLocks noGrp="1"/>
          </p:cNvSpPr>
          <p:nvPr/>
        </p:nvSpPr>
        <p:spPr>
          <a:xfrm>
            <a:off x="337185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当前主模型</a:t>
            </a:r>
            <a:endParaRPr sz="975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24BA63-853A-4F5D-A7CB-58F6A525656D}"/>
              </a:ext>
            </a:extLst>
          </p:cNvPr>
          <p:cNvSpPr>
            <a:spLocks noGrp="1"/>
          </p:cNvSpPr>
          <p:nvPr/>
        </p:nvSpPr>
        <p:spPr>
          <a:xfrm>
            <a:off x="590550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41BE4A-9DCC-4F1A-8CA5-124147F8216E}"/>
              </a:ext>
            </a:extLst>
          </p:cNvPr>
          <p:cNvSpPr>
            <a:spLocks noGrp="1"/>
          </p:cNvSpPr>
          <p:nvPr/>
        </p:nvSpPr>
        <p:spPr>
          <a:xfrm>
            <a:off x="590550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卷积/池化正确性通过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82F301-2D68-4923-A4F5-7566EFBA1C64}"/>
              </a:ext>
            </a:extLst>
          </p:cNvPr>
          <p:cNvSpPr>
            <a:spLocks noGrp="1"/>
          </p:cNvSpPr>
          <p:nvPr/>
        </p:nvSpPr>
        <p:spPr>
          <a:xfrm>
            <a:off x="862965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 err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</a:t>
            </a:r>
            <a:endParaRPr sz="2250" b="1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B0DBF2-1DBE-4D7D-9725-55CB36FD0191}"/>
              </a:ext>
            </a:extLst>
          </p:cNvPr>
          <p:cNvSpPr>
            <a:spLocks noGrp="1"/>
          </p:cNvSpPr>
          <p:nvPr/>
        </p:nvSpPr>
        <p:spPr>
          <a:xfrm>
            <a:off x="862965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速度控制与正确率口径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5F92EA-B7E6-4E91-ADAC-72B1A082F91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BA0A86-1FD8-4886-A442-A6E1E9EB194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411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9FB30D0B-FC2B-4C44-9692-315AA9D48C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270007-FA34-4BBA-AC8F-28561EFBF1E5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BD9069-28B9-4FC2-9EA4-754C376B418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第一部分 / 项目总述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44A39E-DDAA-4D85-8D96-9C951356362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项目整体是基于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的图像到转向角自动驾驶实验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A3F1DD-5094-4230-9700-D4198DFEDBC5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当前版本只控制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</a:t>
            </a: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angle，不控制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speed/throttle。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FE3BCD-4EDC-482E-B1FC-F2F4D6BB29D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990600" cy="2667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E58348-02B9-4757-94F9-08945D91ED5F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171AC9-D3D3-4302-BDA0-1CD71350374C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523BF7-BD31-4116-B878-48FF6E54277B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E83C0D-F571-4FAB-B23D-32F5812E86F8}"/>
              </a:ext>
            </a:extLst>
          </p:cNvPr>
          <p:cNvSpPr>
            <a:spLocks noGrp="1"/>
          </p:cNvSpPr>
          <p:nvPr/>
        </p:nvSpPr>
        <p:spPr>
          <a:xfrm>
            <a:off x="9906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 模拟器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9B8370-44A7-47FA-9326-C03F2FBAC7D4}"/>
              </a:ext>
            </a:extLst>
          </p:cNvPr>
          <p:cNvSpPr>
            <a:spLocks noGrp="1"/>
          </p:cNvSpPr>
          <p:nvPr/>
        </p:nvSpPr>
        <p:spPr>
          <a:xfrm>
            <a:off x="9906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采集道路图像与</a:t>
            </a:r>
            <a:r>
              <a:rPr lang="zh-CN" altLang="en-US" sz="14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驾驶转向角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25548D-D9CE-4F28-9F50-63BA33D567AC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D90F1A-732C-47A9-A4D8-64EA165C348F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0E8AB5-3949-4E2E-AA3F-FED0098C7BBE}"/>
              </a:ext>
            </a:extLst>
          </p:cNvPr>
          <p:cNvSpPr>
            <a:spLocks noGrp="1"/>
          </p:cNvSpPr>
          <p:nvPr/>
        </p:nvSpPr>
        <p:spPr>
          <a:xfrm>
            <a:off x="36385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75391F-7717-4D7A-BBA2-253C08460052}"/>
              </a:ext>
            </a:extLst>
          </p:cNvPr>
          <p:cNvSpPr>
            <a:spLocks noGrp="1"/>
          </p:cNvSpPr>
          <p:nvPr/>
        </p:nvSpPr>
        <p:spPr>
          <a:xfrm>
            <a:off x="36385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train.txt / val.txt: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image_path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steering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82AA72-8748-4A7E-B9D3-AC0E9384B9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F94FA8-EF4F-4DB8-9D58-89E22FFF22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04DBB4-0849-4BD8-809B-5CF8C8FABE06}"/>
              </a:ext>
            </a:extLst>
          </p:cNvPr>
          <p:cNvSpPr>
            <a:spLocks noGrp="1"/>
          </p:cNvSpPr>
          <p:nvPr/>
        </p:nvSpPr>
        <p:spPr>
          <a:xfrm>
            <a:off x="62865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模型训练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2004AD-626D-47FC-BDCB-B14D88C9092C}"/>
              </a:ext>
            </a:extLst>
          </p:cNvPr>
          <p:cNvSpPr>
            <a:spLocks noGrp="1"/>
          </p:cNvSpPr>
          <p:nvPr/>
        </p:nvSpPr>
        <p:spPr>
          <a:xfrm>
            <a:off x="62865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ResNet18 与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baseline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BB7DBC-52BD-4552-98C9-29321EE94DDB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AE7440-E1C4-479C-A2C5-BE8076370366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71BED7-F4E4-4702-9876-B8C8CF9AF58C}"/>
              </a:ext>
            </a:extLst>
          </p:cNvPr>
          <p:cNvSpPr>
            <a:spLocks noGrp="1"/>
          </p:cNvSpPr>
          <p:nvPr/>
        </p:nvSpPr>
        <p:spPr>
          <a:xfrm>
            <a:off x="89344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推理控制</a:t>
            </a:r>
            <a:endParaRPr sz="13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D709EB7-4898-430B-AA90-802035C93D70}"/>
              </a:ext>
            </a:extLst>
          </p:cNvPr>
          <p:cNvSpPr>
            <a:spLocks noGrp="1"/>
          </p:cNvSpPr>
          <p:nvPr/>
        </p:nvSpPr>
        <p:spPr>
          <a:xfrm>
            <a:off x="89344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输出一个连续转向角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FFEF97-446E-4E58-8C61-3B2E05B386B6}"/>
              </a:ext>
            </a:extLst>
          </p:cNvPr>
          <p:cNvSpPr>
            <a:spLocks noGrp="1"/>
          </p:cNvSpPr>
          <p:nvPr/>
        </p:nvSpPr>
        <p:spPr>
          <a:xfrm>
            <a:off x="29527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A99732E-E0B4-499E-804E-7807AA0A8A98}"/>
              </a:ext>
            </a:extLst>
          </p:cNvPr>
          <p:cNvSpPr>
            <a:spLocks noGrp="1"/>
          </p:cNvSpPr>
          <p:nvPr/>
        </p:nvSpPr>
        <p:spPr>
          <a:xfrm>
            <a:off x="560070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04D86D-031A-4175-BD72-17F9B48D8004}"/>
              </a:ext>
            </a:extLst>
          </p:cNvPr>
          <p:cNvSpPr>
            <a:spLocks noGrp="1"/>
          </p:cNvSpPr>
          <p:nvPr/>
        </p:nvSpPr>
        <p:spPr>
          <a:xfrm>
            <a:off x="82486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BDF00FA-ACE7-4511-92CC-117D4B14086C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41182B9-68CF-4953-B081-B2F3820C6C2B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输出维度：转向角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5CA0A0-39AC-4F8D-A7D2-9E1D864BF088}"/>
              </a:ext>
            </a:extLst>
          </p:cNvPr>
          <p:cNvSpPr>
            <a:spLocks noGrp="1"/>
          </p:cNvSpPr>
          <p:nvPr/>
        </p:nvSpPr>
        <p:spPr>
          <a:xfrm>
            <a:off x="386715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1B87E71-3950-4F05-89C1-5EA1CC921134}"/>
              </a:ext>
            </a:extLst>
          </p:cNvPr>
          <p:cNvSpPr>
            <a:spLocks noGrp="1"/>
          </p:cNvSpPr>
          <p:nvPr/>
        </p:nvSpPr>
        <p:spPr>
          <a:xfrm>
            <a:off x="386715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速度控制：未接入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32F75C1-1C66-43F2-AC62-C7D2F7AAB056}"/>
              </a:ext>
            </a:extLst>
          </p:cNvPr>
          <p:cNvSpPr>
            <a:spLocks noGrp="1"/>
          </p:cNvSpPr>
          <p:nvPr/>
        </p:nvSpPr>
        <p:spPr>
          <a:xfrm>
            <a:off x="6553200" y="44767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E3644C8-E0F3-4F8D-8E5C-C9D8D7E6AC57}"/>
              </a:ext>
            </a:extLst>
          </p:cNvPr>
          <p:cNvSpPr>
            <a:spLocks noGrp="1"/>
          </p:cNvSpPr>
          <p:nvPr/>
        </p:nvSpPr>
        <p:spPr>
          <a:xfrm>
            <a:off x="6553200" y="48958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 </a:t>
            </a: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对比训练</a:t>
            </a: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epoch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D2A252C-2EC1-4A0B-9D4E-1518D28E124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BD22E9C-901E-43FC-A087-760BBE9D7B9A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6810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321C1E9A-E2C8-4484-B6CB-AF8CCB168B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0706CE-ECD5-4D8C-A2AC-D55E84DEC56D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7C54B6-027B-4FE6-8011-E031D3D3AFC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第二部分 / 模型与效果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08658B-0372-493D-8E32-B4523DDBC980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当前使用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做图像到转向角回归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5E8D23-BF90-4E14-93ED-7C6FE916DB90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34C82E-B888-408F-BF88-EC2411B1E36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3676650" cy="30289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8351FB-21EE-42F2-94F6-7F0F11A5FCF6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ResNet18 结构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D8A85B-EFCF-4ACA-B031-4B59FB26E525}"/>
              </a:ext>
            </a:extLst>
          </p:cNvPr>
          <p:cNvSpPr>
            <a:spLocks noGrp="1"/>
          </p:cNvSpPr>
          <p:nvPr/>
        </p:nvSpPr>
        <p:spPr>
          <a:xfrm>
            <a:off x="990600" y="2895600"/>
            <a:ext cx="28575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Stem: 7x7 Conv + BN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ReLU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Block: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BasicBlock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x [2,2,2,2]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Head: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GlobalAvgPool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Linear(512, 1)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Loss: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MSELoss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Optimizer: Adam,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lr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=1e-4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9D7610-D768-4F59-9323-9CEB8F5AC7CA}"/>
              </a:ext>
            </a:extLst>
          </p:cNvPr>
          <p:cNvSpPr>
            <a:spLocks noGrp="1"/>
          </p:cNvSpPr>
          <p:nvPr/>
        </p:nvSpPr>
        <p:spPr>
          <a:xfrm>
            <a:off x="990600" y="42100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1.436G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90D787-3EFF-447B-BC47-7CEB4A76BCA6}"/>
              </a:ext>
            </a:extLst>
          </p:cNvPr>
          <p:cNvSpPr>
            <a:spLocks noGrp="1"/>
          </p:cNvSpPr>
          <p:nvPr/>
        </p:nvSpPr>
        <p:spPr>
          <a:xfrm>
            <a:off x="990600" y="46291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forward FLOPs / sample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1F680A-0D92-4D6D-AE5F-42015940C2E8}"/>
              </a:ext>
            </a:extLst>
          </p:cNvPr>
          <p:cNvSpPr>
            <a:spLocks noGrp="1"/>
          </p:cNvSpPr>
          <p:nvPr/>
        </p:nvSpPr>
        <p:spPr>
          <a:xfrm>
            <a:off x="4762500" y="2133600"/>
            <a:ext cx="3314700" cy="3028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C94205-7CF0-46EC-A40F-B7660C6B89A8}"/>
              </a:ext>
            </a:extLst>
          </p:cNvPr>
          <p:cNvSpPr>
            <a:spLocks noGrp="1"/>
          </p:cNvSpPr>
          <p:nvPr/>
        </p:nvSpPr>
        <p:spPr>
          <a:xfrm>
            <a:off x="506730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验证集效果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29023E-B284-4028-9356-AA802DDC5C76}"/>
              </a:ext>
            </a:extLst>
          </p:cNvPr>
          <p:cNvSpPr>
            <a:spLocks noGrp="1"/>
          </p:cNvSpPr>
          <p:nvPr/>
        </p:nvSpPr>
        <p:spPr>
          <a:xfrm>
            <a:off x="5067300" y="28575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3D5EAD-5A74-40AC-8EEE-761E87E39A0F}"/>
              </a:ext>
            </a:extLst>
          </p:cNvPr>
          <p:cNvSpPr>
            <a:spLocks noGrp="1"/>
          </p:cNvSpPr>
          <p:nvPr/>
        </p:nvSpPr>
        <p:spPr>
          <a:xfrm>
            <a:off x="630555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19FF88-7ABB-4109-BA34-5F47C1958C1A}"/>
              </a:ext>
            </a:extLst>
          </p:cNvPr>
          <p:cNvSpPr>
            <a:spLocks noGrp="1"/>
          </p:cNvSpPr>
          <p:nvPr/>
        </p:nvSpPr>
        <p:spPr>
          <a:xfrm>
            <a:off x="693420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RMSE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BE0A4D-1401-493D-8A99-209864A2405A}"/>
              </a:ext>
            </a:extLst>
          </p:cNvPr>
          <p:cNvSpPr>
            <a:spLocks noGrp="1"/>
          </p:cNvSpPr>
          <p:nvPr/>
        </p:nvSpPr>
        <p:spPr>
          <a:xfrm>
            <a:off x="5067300" y="32194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337740-1AA1-47A2-87F4-4AB63AABD70E}"/>
              </a:ext>
            </a:extLst>
          </p:cNvPr>
          <p:cNvSpPr>
            <a:spLocks noGrp="1"/>
          </p:cNvSpPr>
          <p:nvPr/>
        </p:nvSpPr>
        <p:spPr>
          <a:xfrm>
            <a:off x="630555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E25C11-512D-42CA-BB95-D125AB3B05B3}"/>
              </a:ext>
            </a:extLst>
          </p:cNvPr>
          <p:cNvSpPr>
            <a:spLocks noGrp="1"/>
          </p:cNvSpPr>
          <p:nvPr/>
        </p:nvSpPr>
        <p:spPr>
          <a:xfrm>
            <a:off x="693420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0.25091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E781D5-8D14-4877-A5CC-A826B4FD5B52}"/>
              </a:ext>
            </a:extLst>
          </p:cNvPr>
          <p:cNvSpPr>
            <a:spLocks noGrp="1"/>
          </p:cNvSpPr>
          <p:nvPr/>
        </p:nvSpPr>
        <p:spPr>
          <a:xfrm>
            <a:off x="5067300" y="37147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D1A6FE-B5BA-4705-BA1C-9E52D5DEE649}"/>
              </a:ext>
            </a:extLst>
          </p:cNvPr>
          <p:cNvSpPr>
            <a:spLocks noGrp="1"/>
          </p:cNvSpPr>
          <p:nvPr/>
        </p:nvSpPr>
        <p:spPr>
          <a:xfrm>
            <a:off x="630555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CF2B5E-6BDA-4DE6-B211-B80CF61C4ED0}"/>
              </a:ext>
            </a:extLst>
          </p:cNvPr>
          <p:cNvSpPr>
            <a:spLocks noGrp="1"/>
          </p:cNvSpPr>
          <p:nvPr/>
        </p:nvSpPr>
        <p:spPr>
          <a:xfrm>
            <a:off x="693420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0.09287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0559A3-A228-48C7-9152-6ADCA790A1A6}"/>
              </a:ext>
            </a:extLst>
          </p:cNvPr>
          <p:cNvSpPr>
            <a:spLocks noGrp="1"/>
          </p:cNvSpPr>
          <p:nvPr/>
        </p:nvSpPr>
        <p:spPr>
          <a:xfrm>
            <a:off x="5067300" y="40957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4EF408E-389A-4E57-9668-2A81AAC66511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981C90-E33B-4FC1-94FD-89DCDFEF3FB0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5F3BA6-1612-45A3-AA56-3678B1542494}"/>
              </a:ext>
            </a:extLst>
          </p:cNvPr>
          <p:cNvSpPr>
            <a:spLocks noGrp="1"/>
          </p:cNvSpPr>
          <p:nvPr/>
        </p:nvSpPr>
        <p:spPr>
          <a:xfrm>
            <a:off x="7086600" y="40957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A2E857-E36D-48D5-8A5F-3F4EC5D59A4E}"/>
              </a:ext>
            </a:extLst>
          </p:cNvPr>
          <p:cNvSpPr>
            <a:spLocks noGrp="1"/>
          </p:cNvSpPr>
          <p:nvPr/>
        </p:nvSpPr>
        <p:spPr>
          <a:xfrm>
            <a:off x="5067300" y="44386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84A1E45-C054-48AF-9E01-64357CDC4BC8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9EFE1D-83D1-4B57-8431-36B374F00A95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47009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44BD791-9AA2-4C7A-A557-92923CB142E8}"/>
              </a:ext>
            </a:extLst>
          </p:cNvPr>
          <p:cNvSpPr>
            <a:spLocks noGrp="1"/>
          </p:cNvSpPr>
          <p:nvPr/>
        </p:nvSpPr>
        <p:spPr>
          <a:xfrm>
            <a:off x="7086600" y="44386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8958620-6216-4BD3-B442-F28912265DC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CCCAF1-C2D8-44E1-B46E-DE226000EEE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结果：comparison.md, flops_estimate.json；正确率为待补指标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5D4D1DC-BA5B-4468-9568-08777A90DD52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7485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3D445A0-B7F0-4874-AEE2-C0DF194C52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F2AC05-E73F-4AED-98E3-00EB6487B97A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8F1B15-79D4-43BE-BD16-29D08ED36DD1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数据集与采集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A7B49C-92E7-4695-93E3-F4AA24C0A68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4916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lang="en-US" altLang="zh-CN"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场景图像，标签是</a:t>
            </a:r>
            <a:r>
              <a:rPr lang="en-US" altLang="zh-CN"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驾驶产生的转向角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8E04ED-4C6A-4946-B1E1-E57063E5C5C8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34290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3BAEA1-C986-4F17-9621-4BE1B1440F0B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数据格式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89B842-5D62-43B2-9C64-DF86CDFA5190}"/>
              </a:ext>
            </a:extLst>
          </p:cNvPr>
          <p:cNvSpPr>
            <a:spLocks noGrp="1"/>
          </p:cNvSpPr>
          <p:nvPr/>
        </p:nvSpPr>
        <p:spPr>
          <a:xfrm>
            <a:off x="1009650" y="2914650"/>
            <a:ext cx="2907926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./data/4647_-0.0889.jpg  -0.0889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./data/5989_0.1333.jpg   0.1333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./data/6386_-0.2667.jpg  -0.2667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420127-BC74-4823-ABA9-F86CFF039D68}"/>
              </a:ext>
            </a:extLst>
          </p:cNvPr>
          <p:cNvSpPr>
            <a:spLocks noGrp="1"/>
          </p:cNvSpPr>
          <p:nvPr/>
        </p:nvSpPr>
        <p:spPr>
          <a:xfrm>
            <a:off x="1009650" y="3962400"/>
            <a:ext cx="2531409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一行包含：图像路径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转向角标签；文件名中也保留标签，便于追踪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9594C1-C59A-4FD0-A891-044453726745}"/>
              </a:ext>
            </a:extLst>
          </p:cNvPr>
          <p:cNvSpPr>
            <a:spLocks noGrp="1"/>
          </p:cNvSpPr>
          <p:nvPr/>
        </p:nvSpPr>
        <p:spPr>
          <a:xfrm>
            <a:off x="461010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900227-7620-4E42-802C-6675D5991E90}"/>
              </a:ext>
            </a:extLst>
          </p:cNvPr>
          <p:cNvSpPr>
            <a:spLocks noGrp="1"/>
          </p:cNvSpPr>
          <p:nvPr/>
        </p:nvSpPr>
        <p:spPr>
          <a:xfrm>
            <a:off x="491490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数据规模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22C9785-9723-430F-92DA-374AE32BB974}"/>
              </a:ext>
            </a:extLst>
          </p:cNvPr>
          <p:cNvSpPr>
            <a:spLocks noGrp="1"/>
          </p:cNvSpPr>
          <p:nvPr/>
        </p:nvSpPr>
        <p:spPr>
          <a:xfrm>
            <a:off x="4914900" y="29718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8,000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BA34FA-20BB-4A8C-9911-8B6B83FC2001}"/>
              </a:ext>
            </a:extLst>
          </p:cNvPr>
          <p:cNvSpPr>
            <a:spLocks noGrp="1"/>
          </p:cNvSpPr>
          <p:nvPr/>
        </p:nvSpPr>
        <p:spPr>
          <a:xfrm>
            <a:off x="4914900" y="33909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训练样本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7737B5-2D59-4395-8606-88D381613221}"/>
              </a:ext>
            </a:extLst>
          </p:cNvPr>
          <p:cNvSpPr>
            <a:spLocks noGrp="1"/>
          </p:cNvSpPr>
          <p:nvPr/>
        </p:nvSpPr>
        <p:spPr>
          <a:xfrm>
            <a:off x="4914900" y="38862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2,000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252536-6892-4030-8D36-670CAF115093}"/>
              </a:ext>
            </a:extLst>
          </p:cNvPr>
          <p:cNvSpPr>
            <a:spLocks noGrp="1"/>
          </p:cNvSpPr>
          <p:nvPr/>
        </p:nvSpPr>
        <p:spPr>
          <a:xfrm>
            <a:off x="4914900" y="43053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验证样本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1A15A9-7069-444D-8CC8-D2F80F635BE0}"/>
              </a:ext>
            </a:extLst>
          </p:cNvPr>
          <p:cNvSpPr>
            <a:spLocks noGrp="1"/>
          </p:cNvSpPr>
          <p:nvPr/>
        </p:nvSpPr>
        <p:spPr>
          <a:xfrm>
            <a:off x="5934635" y="3238500"/>
            <a:ext cx="1470212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输入尺寸：120 x 160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batch size：8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epoch：20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44E052-C40C-4E10-969C-44CD65CEB43F}"/>
              </a:ext>
            </a:extLst>
          </p:cNvPr>
          <p:cNvSpPr>
            <a:spLocks noGrp="1"/>
          </p:cNvSpPr>
          <p:nvPr/>
        </p:nvSpPr>
        <p:spPr>
          <a:xfrm>
            <a:off x="794385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2D5C61-CEB6-4C67-8DEF-9BBDD07412B8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采集方式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038A2C1-32FE-44D9-A892-3AE7C93CD1E4}"/>
              </a:ext>
            </a:extLst>
          </p:cNvPr>
          <p:cNvSpPr>
            <a:spLocks noGrp="1"/>
          </p:cNvSpPr>
          <p:nvPr/>
        </p:nvSpPr>
        <p:spPr>
          <a:xfrm>
            <a:off x="8248650" y="2952750"/>
            <a:ext cx="2095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模拟器基本道路场景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163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脚本驾驶生成图像帧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同步记录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angle</a:t>
            </a: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训练阶段读取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train.txt / val.txt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C77B00-EC5E-4A9E-BF32-08973940578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79ECA4-FDD4-482A-83EF-3587018DB0F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来源：train.txt, val.txt, config.json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966CAE-D517-4D57-9DCF-61531ABE4104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822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8D7F1ED7-1AC5-4A66-B8FA-0BFB68BDDC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1E87C1-7313-4D5D-9625-7F76A1223EAE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847B69-33B4-4EBB-BF56-16B7C118440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数据处理与增强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CC8F82-622B-4024-9655-B06492C49E6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单方法数据增强消融：弱增强仅带来微小收益</a:t>
            </a:r>
            <a:endParaRPr sz="21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B6076-B9DE-46AB-978D-615A0B7A0AB8}"/>
              </a:ext>
            </a:extLst>
          </p:cNvPr>
          <p:cNvSpPr>
            <a:spLocks noGrp="1"/>
          </p:cNvSpPr>
          <p:nvPr/>
        </p:nvSpPr>
        <p:spPr>
          <a:xfrm>
            <a:off x="615950" y="1028700"/>
            <a:ext cx="4057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当前每组只启用一种增强，20 epoch，batch</a:t>
            </a:r>
            <a:r>
              <a:rPr lang="en-US" altLang="zh-CN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_size</a:t>
            </a: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=64。</a:t>
            </a: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C00AF63-126C-4F78-8473-0E1863162A06}"/>
              </a:ext>
            </a:extLst>
          </p:cNvPr>
          <p:cNvSpPr>
            <a:spLocks noGrp="1"/>
          </p:cNvSpPr>
          <p:nvPr/>
        </p:nvSpPr>
        <p:spPr>
          <a:xfrm>
            <a:off x="6293224" y="1093694"/>
            <a:ext cx="5305985" cy="4905935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13706" y="1210235"/>
            <a:ext cx="5259729" cy="4262719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2719C041-9734-4CC4-870A-65D728311D1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C8C78B6-81F9-483D-A9A1-920C13ED78F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0" name="表格底板"/>
          <p:cNvSpPr>
            <a:spLocks noGrp="1"/>
          </p:cNvSpPr>
          <p:nvPr/>
        </p:nvSpPr>
        <p:spPr>
          <a:xfrm>
            <a:off x="711200" y="1600200"/>
            <a:ext cx="3620000" cy="3420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表头底色"/>
          <p:cNvSpPr>
            <a:spLocks noGrp="1"/>
          </p:cNvSpPr>
          <p:nvPr/>
        </p:nvSpPr>
        <p:spPr>
          <a:xfrm>
            <a:off x="711200" y="1600200"/>
            <a:ext cx="3620000" cy="285000"/>
          </a:xfrm>
          <a:prstGeom prst="rect">
            <a:avLst/>
          </a:prstGeom>
          <a:solidFill>
            <a:srgbClr val="F1ECE3"/>
          </a:solidFill>
          <a:ln w="0">
            <a:solidFill>
              <a:srgbClr val="F1E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表头82"/>
          <p:cNvSpPr>
            <a:spLocks noGrp="1"/>
          </p:cNvSpPr>
          <p:nvPr/>
        </p:nvSpPr>
        <p:spPr>
          <a:xfrm>
            <a:off x="781200" y="1665200"/>
            <a:ext cx="13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方法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3" name="表头83"/>
          <p:cNvSpPr>
            <a:spLocks noGrp="1"/>
          </p:cNvSpPr>
          <p:nvPr/>
        </p:nvSpPr>
        <p:spPr>
          <a:xfrm>
            <a:off x="2231200" y="1665200"/>
            <a:ext cx="100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Best MSE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表头84"/>
          <p:cNvSpPr>
            <a:spLocks noGrp="1"/>
          </p:cNvSpPr>
          <p:nvPr/>
        </p:nvSpPr>
        <p:spPr>
          <a:xfrm>
            <a:off x="3351200" y="1665200"/>
            <a:ext cx="9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效果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5" name="表格文字85"/>
          <p:cNvSpPr>
            <a:spLocks noGrp="1"/>
          </p:cNvSpPr>
          <p:nvPr/>
        </p:nvSpPr>
        <p:spPr>
          <a:xfrm>
            <a:off x="781200" y="194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HSV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" name="表格文字86"/>
          <p:cNvSpPr>
            <a:spLocks noGrp="1"/>
          </p:cNvSpPr>
          <p:nvPr/>
        </p:nvSpPr>
        <p:spPr>
          <a:xfrm>
            <a:off x="2231200" y="194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0.01882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" name="表格文字87"/>
          <p:cNvSpPr>
            <a:spLocks noGrp="1"/>
          </p:cNvSpPr>
          <p:nvPr/>
        </p:nvSpPr>
        <p:spPr>
          <a:xfrm>
            <a:off x="3351200" y="194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" name="隔行底色88"/>
          <p:cNvSpPr>
            <a:spLocks noGrp="1"/>
          </p:cNvSpPr>
          <p:nvPr/>
        </p:nvSpPr>
        <p:spPr>
          <a:xfrm>
            <a:off x="711200" y="217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89" name="表格文字89"/>
          <p:cNvSpPr>
            <a:spLocks noGrp="1"/>
          </p:cNvSpPr>
          <p:nvPr/>
        </p:nvSpPr>
        <p:spPr>
          <a:xfrm>
            <a:off x="781200" y="222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高斯噪声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" name="表格文字90"/>
          <p:cNvSpPr>
            <a:spLocks noGrp="1"/>
          </p:cNvSpPr>
          <p:nvPr/>
        </p:nvSpPr>
        <p:spPr>
          <a:xfrm>
            <a:off x="2231200" y="222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0.01900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1" name="表格文字91"/>
          <p:cNvSpPr>
            <a:spLocks noGrp="1"/>
          </p:cNvSpPr>
          <p:nvPr/>
        </p:nvSpPr>
        <p:spPr>
          <a:xfrm>
            <a:off x="3351200" y="222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2" name="表格文字92"/>
          <p:cNvSpPr>
            <a:spLocks noGrp="1"/>
          </p:cNvSpPr>
          <p:nvPr/>
        </p:nvSpPr>
        <p:spPr>
          <a:xfrm>
            <a:off x="781200" y="251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Local 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3" name="表格文字93"/>
          <p:cNvSpPr>
            <a:spLocks noGrp="1"/>
          </p:cNvSpPr>
          <p:nvPr/>
        </p:nvSpPr>
        <p:spPr>
          <a:xfrm>
            <a:off x="2231200" y="251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0.01904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4" name="表格文字94"/>
          <p:cNvSpPr>
            <a:spLocks noGrp="1"/>
          </p:cNvSpPr>
          <p:nvPr/>
        </p:nvSpPr>
        <p:spPr>
          <a:xfrm>
            <a:off x="3351200" y="251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5" name="隔行底色95"/>
          <p:cNvSpPr>
            <a:spLocks noGrp="1"/>
          </p:cNvSpPr>
          <p:nvPr/>
        </p:nvSpPr>
        <p:spPr>
          <a:xfrm>
            <a:off x="711200" y="274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96" name="表格文字96"/>
          <p:cNvSpPr>
            <a:spLocks noGrp="1"/>
          </p:cNvSpPr>
          <p:nvPr/>
        </p:nvSpPr>
        <p:spPr>
          <a:xfrm>
            <a:off x="781200" y="279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Gamma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7" name="表格文字97"/>
          <p:cNvSpPr>
            <a:spLocks noGrp="1"/>
          </p:cNvSpPr>
          <p:nvPr/>
        </p:nvSpPr>
        <p:spPr>
          <a:xfrm>
            <a:off x="2231200" y="279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0.01907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8" name="表格文字98"/>
          <p:cNvSpPr>
            <a:spLocks noGrp="1"/>
          </p:cNvSpPr>
          <p:nvPr/>
        </p:nvSpPr>
        <p:spPr>
          <a:xfrm>
            <a:off x="3351200" y="279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9" name="表格文字99"/>
          <p:cNvSpPr>
            <a:spLocks noGrp="1"/>
          </p:cNvSpPr>
          <p:nvPr/>
        </p:nvSpPr>
        <p:spPr>
          <a:xfrm>
            <a:off x="781200" y="308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无增强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" name="表格文字100"/>
          <p:cNvSpPr>
            <a:spLocks noGrp="1"/>
          </p:cNvSpPr>
          <p:nvPr/>
        </p:nvSpPr>
        <p:spPr>
          <a:xfrm>
            <a:off x="2231200" y="308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1" name="表格文字101"/>
          <p:cNvSpPr>
            <a:spLocks noGrp="1"/>
          </p:cNvSpPr>
          <p:nvPr/>
        </p:nvSpPr>
        <p:spPr>
          <a:xfrm>
            <a:off x="3351200" y="308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crosoft YaHei"/>
                <a:ea typeface="Microsoft YaHei"/>
                <a:cs typeface="Microsoft YaHei"/>
              </a:rPr>
              <a:t>基线</a:t>
            </a:r>
            <a:endParaRPr sz="1200" dirty="0">
              <a:solidFill>
                <a:schemeClr val="accent1">
                  <a:lumMod val="60000"/>
                  <a:lumOff val="4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2" name="隔行底色102"/>
          <p:cNvSpPr>
            <a:spLocks noGrp="1"/>
          </p:cNvSpPr>
          <p:nvPr/>
        </p:nvSpPr>
        <p:spPr>
          <a:xfrm>
            <a:off x="711200" y="331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03" name="表格文字103"/>
          <p:cNvSpPr>
            <a:spLocks noGrp="1"/>
          </p:cNvSpPr>
          <p:nvPr/>
        </p:nvSpPr>
        <p:spPr>
          <a:xfrm>
            <a:off x="781200" y="336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4" name="表格文字104"/>
          <p:cNvSpPr>
            <a:spLocks noGrp="1"/>
          </p:cNvSpPr>
          <p:nvPr/>
        </p:nvSpPr>
        <p:spPr>
          <a:xfrm>
            <a:off x="2231200" y="336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0.01923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5" name="表格文字105"/>
          <p:cNvSpPr>
            <a:spLocks noGrp="1"/>
          </p:cNvSpPr>
          <p:nvPr/>
        </p:nvSpPr>
        <p:spPr>
          <a:xfrm>
            <a:off x="3351200" y="336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6" name="表格文字106"/>
          <p:cNvSpPr>
            <a:spLocks noGrp="1"/>
          </p:cNvSpPr>
          <p:nvPr/>
        </p:nvSpPr>
        <p:spPr>
          <a:xfrm>
            <a:off x="781200" y="365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CutMix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7" name="表格文字107"/>
          <p:cNvSpPr>
            <a:spLocks noGrp="1"/>
          </p:cNvSpPr>
          <p:nvPr/>
        </p:nvSpPr>
        <p:spPr>
          <a:xfrm>
            <a:off x="2231200" y="365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0.01951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表格文字108"/>
          <p:cNvSpPr>
            <a:spLocks noGrp="1"/>
          </p:cNvSpPr>
          <p:nvPr/>
        </p:nvSpPr>
        <p:spPr>
          <a:xfrm>
            <a:off x="3351200" y="365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" name="隔行底色109"/>
          <p:cNvSpPr>
            <a:spLocks noGrp="1"/>
          </p:cNvSpPr>
          <p:nvPr/>
        </p:nvSpPr>
        <p:spPr>
          <a:xfrm>
            <a:off x="711200" y="388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0" name="表格文字110"/>
          <p:cNvSpPr>
            <a:spLocks noGrp="1"/>
          </p:cNvSpPr>
          <p:nvPr/>
        </p:nvSpPr>
        <p:spPr>
          <a:xfrm>
            <a:off x="781200" y="393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对比度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1" name="表格文字111"/>
          <p:cNvSpPr>
            <a:spLocks noGrp="1"/>
          </p:cNvSpPr>
          <p:nvPr/>
        </p:nvSpPr>
        <p:spPr>
          <a:xfrm>
            <a:off x="2231200" y="393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0.01955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" name="表格文字112"/>
          <p:cNvSpPr>
            <a:spLocks noGrp="1"/>
          </p:cNvSpPr>
          <p:nvPr/>
        </p:nvSpPr>
        <p:spPr>
          <a:xfrm>
            <a:off x="3351200" y="393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3" name="表格文字113"/>
          <p:cNvSpPr>
            <a:spLocks noGrp="1"/>
          </p:cNvSpPr>
          <p:nvPr/>
        </p:nvSpPr>
        <p:spPr>
          <a:xfrm>
            <a:off x="781200" y="422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亮度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" name="表格文字114"/>
          <p:cNvSpPr>
            <a:spLocks noGrp="1"/>
          </p:cNvSpPr>
          <p:nvPr/>
        </p:nvSpPr>
        <p:spPr>
          <a:xfrm>
            <a:off x="2231200" y="422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" name="表格文字115"/>
          <p:cNvSpPr>
            <a:spLocks noGrp="1"/>
          </p:cNvSpPr>
          <p:nvPr/>
        </p:nvSpPr>
        <p:spPr>
          <a:xfrm>
            <a:off x="3351200" y="422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" name="隔行底色116"/>
          <p:cNvSpPr>
            <a:spLocks noGrp="1"/>
          </p:cNvSpPr>
          <p:nvPr/>
        </p:nvSpPr>
        <p:spPr>
          <a:xfrm>
            <a:off x="711200" y="445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7" name="表格文字117"/>
          <p:cNvSpPr>
            <a:spLocks noGrp="1"/>
          </p:cNvSpPr>
          <p:nvPr/>
        </p:nvSpPr>
        <p:spPr>
          <a:xfrm>
            <a:off x="781200" y="450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翻转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" name="表格文字118"/>
          <p:cNvSpPr>
            <a:spLocks noGrp="1"/>
          </p:cNvSpPr>
          <p:nvPr/>
        </p:nvSpPr>
        <p:spPr>
          <a:xfrm>
            <a:off x="2231200" y="450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0.02008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" name="表格文字119"/>
          <p:cNvSpPr>
            <a:spLocks noGrp="1"/>
          </p:cNvSpPr>
          <p:nvPr/>
        </p:nvSpPr>
        <p:spPr>
          <a:xfrm>
            <a:off x="3351200" y="450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" name="表格文字120"/>
          <p:cNvSpPr>
            <a:spLocks noGrp="1"/>
          </p:cNvSpPr>
          <p:nvPr/>
        </p:nvSpPr>
        <p:spPr>
          <a:xfrm>
            <a:off x="781200" y="479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中心裁剪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" name="表格文字121"/>
          <p:cNvSpPr>
            <a:spLocks noGrp="1"/>
          </p:cNvSpPr>
          <p:nvPr/>
        </p:nvSpPr>
        <p:spPr>
          <a:xfrm>
            <a:off x="2231200" y="479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0.02312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2" name="表格文字122"/>
          <p:cNvSpPr>
            <a:spLocks noGrp="1"/>
          </p:cNvSpPr>
          <p:nvPr/>
        </p:nvSpPr>
        <p:spPr>
          <a:xfrm>
            <a:off x="3351200" y="479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严重变差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3" name="结论卡片"/>
          <p:cNvSpPr>
            <a:spLocks noGrp="1"/>
          </p:cNvSpPr>
          <p:nvPr/>
        </p:nvSpPr>
        <p:spPr>
          <a:xfrm>
            <a:off x="711200" y="5010150"/>
            <a:ext cx="4381500" cy="996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结论强调线"/>
          <p:cNvSpPr>
            <a:spLocks noGrp="1"/>
          </p:cNvSpPr>
          <p:nvPr/>
        </p:nvSpPr>
        <p:spPr>
          <a:xfrm>
            <a:off x="711200" y="5010150"/>
            <a:ext cx="127000" cy="9906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25" name="增强结论"/>
          <p:cNvSpPr>
            <a:spLocks noGrp="1"/>
          </p:cNvSpPr>
          <p:nvPr/>
        </p:nvSpPr>
        <p:spPr>
          <a:xfrm>
            <a:off x="882650" y="5148900"/>
            <a:ext cx="4040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结论：增强收益很小，HSV/噪声略优于 none；中心裁剪和翻转会明显拉高误差。</a:t>
            </a:r>
            <a:endParaRPr lang="en-US" altLang="zh-CN" sz="12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下一步目标：探索多种数据增强方法结合使用，寻找数据增强最优参数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6" name="曲线说明"/>
          <p:cNvSpPr>
            <a:spLocks noGrp="1"/>
          </p:cNvSpPr>
          <p:nvPr/>
        </p:nvSpPr>
        <p:spPr>
          <a:xfrm>
            <a:off x="6684309" y="5542429"/>
            <a:ext cx="447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验证集损失曲线：多数增强与 none 接近，差距集中在 1e-4 量级。</a:t>
            </a:r>
            <a:endParaRPr sz="76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7693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A70C8EC0-C67D-4E56-A586-2275A8E8FE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5F1C4-A774-48D0-829D-E95113DABF5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1B1D8A-69CC-4524-BAC2-7B8A913B842B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卷积与池化方式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C2500B-CC69-42C4-AE01-E1D886892C1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卷积主路径采用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im2col +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GEMM，池化复用窗口展开并实现反向传播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5FEC16-9544-4C84-BA63-3317E85268AF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实现支持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stride、padding、dilation、groups，并兼容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CPU/GPU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后端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FDFD2A-8E77-4F14-860C-FF67C2A7DD33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C0DE5C-B8D2-4482-84D7-10DDF0AAAD42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0E1579-E436-446D-BC08-823776294357}"/>
              </a:ext>
            </a:extLst>
          </p:cNvPr>
          <p:cNvSpPr>
            <a:spLocks noGrp="1"/>
          </p:cNvSpPr>
          <p:nvPr/>
        </p:nvSpPr>
        <p:spPr>
          <a:xfrm>
            <a:off x="10287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8CC759-564C-4188-A654-74F1F85498A9}"/>
              </a:ext>
            </a:extLst>
          </p:cNvPr>
          <p:cNvSpPr>
            <a:spLocks noGrp="1"/>
          </p:cNvSpPr>
          <p:nvPr/>
        </p:nvSpPr>
        <p:spPr>
          <a:xfrm>
            <a:off x="10287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C, H, W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7DE479-4D2F-4B19-A429-214016067A5A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F6AC78-D039-4762-85DB-42BC70CAAA18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84E43-A120-4993-AF5F-4495F6C4EEAD}"/>
              </a:ext>
            </a:extLst>
          </p:cNvPr>
          <p:cNvSpPr>
            <a:spLocks noGrp="1"/>
          </p:cNvSpPr>
          <p:nvPr/>
        </p:nvSpPr>
        <p:spPr>
          <a:xfrm>
            <a:off x="33337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im2col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FD4BD3-F777-48C6-B8DE-EB21D0317A4E}"/>
              </a:ext>
            </a:extLst>
          </p:cNvPr>
          <p:cNvSpPr>
            <a:spLocks noGrp="1"/>
          </p:cNvSpPr>
          <p:nvPr/>
        </p:nvSpPr>
        <p:spPr>
          <a:xfrm>
            <a:off x="33337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N*OH*OW, C*KH*KW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E812DF-E3F4-4D54-9832-7527B49C1616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C96030-10CF-4E3C-B516-5C0FF58ACAD5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8BB339-810D-4671-BA41-7347150FCCF5}"/>
              </a:ext>
            </a:extLst>
          </p:cNvPr>
          <p:cNvSpPr>
            <a:spLocks noGrp="1"/>
          </p:cNvSpPr>
          <p:nvPr/>
        </p:nvSpPr>
        <p:spPr>
          <a:xfrm>
            <a:off x="56388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2FEAB6-EE2F-41FE-B9F9-236993502866}"/>
              </a:ext>
            </a:extLst>
          </p:cNvPr>
          <p:cNvSpPr>
            <a:spLocks noGrp="1"/>
          </p:cNvSpPr>
          <p:nvPr/>
        </p:nvSpPr>
        <p:spPr>
          <a:xfrm>
            <a:off x="56388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col @ W.T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D45DD1-74EF-4155-B52F-033CCB908D0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253D9C0-5693-4291-B87A-465A1A2580E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567978C-D283-48F5-BF47-953821429E01}"/>
              </a:ext>
            </a:extLst>
          </p:cNvPr>
          <p:cNvSpPr>
            <a:spLocks noGrp="1"/>
          </p:cNvSpPr>
          <p:nvPr/>
        </p:nvSpPr>
        <p:spPr>
          <a:xfrm>
            <a:off x="79438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E34D2E-89C6-4EBD-886E-5AE98FFC3A8D}"/>
              </a:ext>
            </a:extLst>
          </p:cNvPr>
          <p:cNvSpPr>
            <a:spLocks noGrp="1"/>
          </p:cNvSpPr>
          <p:nvPr/>
        </p:nvSpPr>
        <p:spPr>
          <a:xfrm>
            <a:off x="79438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Cout, OH, OW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DF24D5E-9A8F-4D71-A013-2B3F3D0DA446}"/>
              </a:ext>
            </a:extLst>
          </p:cNvPr>
          <p:cNvSpPr>
            <a:spLocks noGrp="1"/>
          </p:cNvSpPr>
          <p:nvPr/>
        </p:nvSpPr>
        <p:spPr>
          <a:xfrm>
            <a:off x="26098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4C53734-2682-407B-86A8-405E431CC064}"/>
              </a:ext>
            </a:extLst>
          </p:cNvPr>
          <p:cNvSpPr>
            <a:spLocks noGrp="1"/>
          </p:cNvSpPr>
          <p:nvPr/>
        </p:nvSpPr>
        <p:spPr>
          <a:xfrm>
            <a:off x="491490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E8DEF92-632B-49CE-98F8-45A642710FF1}"/>
              </a:ext>
            </a:extLst>
          </p:cNvPr>
          <p:cNvSpPr>
            <a:spLocks noGrp="1"/>
          </p:cNvSpPr>
          <p:nvPr/>
        </p:nvSpPr>
        <p:spPr>
          <a:xfrm>
            <a:off x="72199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14FC4BE-8CE5-41E6-BB6D-9C827069DD38}"/>
              </a:ext>
            </a:extLst>
          </p:cNvPr>
          <p:cNvSpPr>
            <a:spLocks noGrp="1"/>
          </p:cNvSpPr>
          <p:nvPr/>
        </p:nvSpPr>
        <p:spPr>
          <a:xfrm>
            <a:off x="106680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396BD1F-A1AE-43EC-B872-AAC4A52DB6C7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59A2CB-CD7E-4ED8-95A5-880701D471F3}"/>
              </a:ext>
            </a:extLst>
          </p:cNvPr>
          <p:cNvSpPr>
            <a:spLocks noGrp="1"/>
          </p:cNvSpPr>
          <p:nvPr/>
        </p:nvSpPr>
        <p:spPr>
          <a:xfrm>
            <a:off x="249555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dW = dO.T @ col；dCol = dO @ W；dX 通过 col2im 还原。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F288AD0-33F6-4515-98AD-EA0A0BF49EC7}"/>
              </a:ext>
            </a:extLst>
          </p:cNvPr>
          <p:cNvSpPr>
            <a:spLocks noGrp="1"/>
          </p:cNvSpPr>
          <p:nvPr/>
        </p:nvSpPr>
        <p:spPr>
          <a:xfrm>
            <a:off x="581025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5CF06C0-01EF-4425-913A-BBED72E39A8B}"/>
              </a:ext>
            </a:extLst>
          </p:cNvPr>
          <p:cNvSpPr>
            <a:spLocks noGrp="1"/>
          </p:cNvSpPr>
          <p:nvPr/>
        </p:nvSpPr>
        <p:spPr>
          <a:xfrm>
            <a:off x="607695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Pooling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B8FFDF1-2A91-4A63-A644-EDA7DA45CBF8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保存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argmax；AvgPool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均匀分配梯度；均用窗口展开验证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119E406-8BFE-4D08-BEBC-62AA7A5F936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96C5F59-899D-4CB1-89FF-F06C3FFF15F0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6977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080FD4E-F38D-E23B-58D7-7A0D66B04ADD}"/>
              </a:ext>
            </a:extLst>
          </p:cNvPr>
          <p:cNvSpPr/>
          <p:nvPr/>
        </p:nvSpPr>
        <p:spPr>
          <a:xfrm>
            <a:off x="330200" y="317500"/>
            <a:ext cx="114300" cy="114300"/>
          </a:xfrm>
          <a:prstGeom prst="rect">
            <a:avLst/>
          </a:prstGeom>
          <a:solidFill>
            <a:srgbClr val="D9911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4D4115-EF04-A82B-9E92-8A6EBFD69562}"/>
              </a:ext>
            </a:extLst>
          </p:cNvPr>
          <p:cNvSpPr txBox="1"/>
          <p:nvPr/>
        </p:nvSpPr>
        <p:spPr>
          <a:xfrm>
            <a:off x="571500" y="241300"/>
            <a:ext cx="3810000" cy="246221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第四部分 </a:t>
            </a:r>
            <a:r>
              <a:rPr lang="en-US" altLang="zh-CN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卷积类型与应用情况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5145254-E9A3-B881-DA6D-4D37A254EE61}"/>
              </a:ext>
            </a:extLst>
          </p:cNvPr>
          <p:cNvSpPr txBox="1"/>
          <p:nvPr/>
        </p:nvSpPr>
        <p:spPr>
          <a:xfrm>
            <a:off x="330200" y="698500"/>
            <a:ext cx="11430000" cy="477054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卷积形态消融口径修正：正式结果必须基于 </a:t>
            </a:r>
            <a:r>
              <a:rPr lang="en-US" altLang="zh-CN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重跑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67484F-0CC2-4269-79D8-F6393BABE505}"/>
              </a:ext>
            </a:extLst>
          </p:cNvPr>
          <p:cNvSpPr txBox="1"/>
          <p:nvPr/>
        </p:nvSpPr>
        <p:spPr>
          <a:xfrm>
            <a:off x="355600" y="1473200"/>
            <a:ext cx="11430000" cy="261610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旧表格来自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PyTorch ResNet18-style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，只能作为参考；当前已补齐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版脚本，完整实验完成后再替换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Best MSE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acc@0.10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latency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、显存。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655E5E-1ACA-7EE1-1946-320F3CC32F4A}"/>
              </a:ext>
            </a:extLst>
          </p:cNvPr>
          <p:cNvSpPr/>
          <p:nvPr/>
        </p:nvSpPr>
        <p:spPr>
          <a:xfrm>
            <a:off x="533400" y="2006600"/>
            <a:ext cx="11112500" cy="533400"/>
          </a:xfrm>
          <a:prstGeom prst="rect">
            <a:avLst/>
          </a:prstGeom>
          <a:solidFill>
            <a:srgbClr val="FFFAEB"/>
          </a:solidFill>
          <a:ln w="13970">
            <a:solidFill>
              <a:srgbClr val="D991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结论口径：本项目框架实验统一采用 </a:t>
            </a:r>
            <a:r>
              <a:rPr lang="en-US" altLang="zh-CN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</a:t>
            </a:r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PyTorch </a:t>
            </a:r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只作为外部对照框架，不再用于本页正式卷积形态消融结论。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2EBE001-CEAD-41C5-DCA6-208D22159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232798"/>
              </p:ext>
            </p:extLst>
          </p:nvPr>
        </p:nvGraphicFramePr>
        <p:xfrm>
          <a:off x="533400" y="2768600"/>
          <a:ext cx="111125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464134626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297218384"/>
                    </a:ext>
                  </a:extLst>
                </a:gridCol>
                <a:gridCol w="4254500">
                  <a:extLst>
                    <a:ext uri="{9D8B030D-6E8A-4147-A177-3AD203B41FA5}">
                      <a16:colId xmlns:a16="http://schemas.microsoft.com/office/drawing/2014/main" val="2288819844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1715015181"/>
                    </a:ext>
                  </a:extLst>
                </a:gridCol>
              </a:tblGrid>
              <a:tr h="338667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变体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MyTorch </a:t>
                      </a:r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实现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正式实验要报告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状态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58692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standard_k3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k=3 baseline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Best MSE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acc@0.10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GFLOPs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p50 latency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GPU memory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5706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kernel1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验证小核表达能力，比较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MSE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与速度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2749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kernel5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k=5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验证较大感受野收益，比较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FLOPs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增量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6992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kernel31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k=31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重点关注大核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MSE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FLOPs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、显存开销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4237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depthwise_k3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Depthwise + Pointwise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关注参数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/FLOPs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降低与精度损失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2609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group2_k3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groups=2 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关注分组卷积速度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精度折中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94678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dilation2_k3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dilation=2 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关注扩张卷积感受野变化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42999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transpose_k3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ConvTranspose2d stride=1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stride=1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残差卷积使用转置卷积；下采样仍用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238897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4F8ABBC8-5785-528D-27DB-B93F8F7190DE}"/>
              </a:ext>
            </a:extLst>
          </p:cNvPr>
          <p:cNvSpPr/>
          <p:nvPr/>
        </p:nvSpPr>
        <p:spPr>
          <a:xfrm>
            <a:off x="533400" y="6045200"/>
            <a:ext cx="5397500" cy="609600"/>
          </a:xfrm>
          <a:prstGeom prst="rect">
            <a:avLst/>
          </a:prstGeom>
          <a:solidFill>
            <a:srgbClr val="F8FCF9"/>
          </a:solidFill>
          <a:ln w="13970">
            <a:solidFill>
              <a:srgbClr val="23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已完成：新增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experiments/conv_arch_ablation_mytorch.py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，并通过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standard/group/depthwise/transpose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smoke test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F79D1E-4B61-9532-CE6C-E239FC6876BF}"/>
              </a:ext>
            </a:extLst>
          </p:cNvPr>
          <p:cNvSpPr/>
          <p:nvPr/>
        </p:nvSpPr>
        <p:spPr>
          <a:xfrm>
            <a:off x="6248400" y="6045200"/>
            <a:ext cx="5397500" cy="609600"/>
          </a:xfrm>
          <a:prstGeom prst="rect">
            <a:avLst/>
          </a:prstGeom>
          <a:solidFill>
            <a:srgbClr val="FDF2F0"/>
          </a:solidFill>
          <a:ln w="13970"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待补：运行完整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20 epoch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后，用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summary.md/csv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更新本页数值表，旧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PyTorch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表不进入最终结论。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B00A5EC-9171-3D81-5904-9EF378F9889A}"/>
              </a:ext>
            </a:extLst>
          </p:cNvPr>
          <p:cNvSpPr/>
          <p:nvPr/>
        </p:nvSpPr>
        <p:spPr>
          <a:xfrm>
            <a:off x="330200" y="6807200"/>
            <a:ext cx="11430000" cy="12700"/>
          </a:xfrm>
          <a:prstGeom prst="rect">
            <a:avLst/>
          </a:prstGeom>
          <a:solidFill>
            <a:srgbClr val="D8D0C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1E54BE8-4461-5C8A-0680-2A392631B779}"/>
              </a:ext>
            </a:extLst>
          </p:cNvPr>
          <p:cNvSpPr txBox="1"/>
          <p:nvPr/>
        </p:nvSpPr>
        <p:spPr>
          <a:xfrm>
            <a:off x="355600" y="6858000"/>
            <a:ext cx="9906000" cy="184666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700">
                <a:solidFill>
                  <a:srgbClr val="5B6978"/>
                </a:solidFill>
                <a:latin typeface="Microsoft YaHei" panose="020B0503020204020204" pitchFamily="34" charset="-122"/>
              </a:rPr>
              <a:t>正式命令见脚本说明；建议输出：</a:t>
            </a:r>
            <a:r>
              <a:rPr lang="en-US" altLang="zh-CN" sz="700">
                <a:solidFill>
                  <a:srgbClr val="5B6978"/>
                </a:solidFill>
                <a:latin typeface="Microsoft YaHei" panose="020B0503020204020204" pitchFamily="34" charset="-122"/>
              </a:rPr>
              <a:t>results/conv_arch_ablation_mytorch_full</a:t>
            </a:r>
            <a:endParaRPr lang="zh-CN" altLang="en-US" sz="7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D2006A6-F584-5BE1-7511-CBE56ACBFF37}"/>
              </a:ext>
            </a:extLst>
          </p:cNvPr>
          <p:cNvSpPr txBox="1"/>
          <p:nvPr/>
        </p:nvSpPr>
        <p:spPr>
          <a:xfrm>
            <a:off x="11747500" y="6858000"/>
            <a:ext cx="381000" cy="200055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8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3051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C4379A79-F992-4DF7-B422-D6869FF3E8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455A1F-CE02-422A-BBBA-50A04E5B120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983005-9CCA-4659-BA2E-5786FD56B93D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准确度验证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6E31A2-19F0-4C38-B9D3-3456352F6099}"/>
              </a:ext>
            </a:extLst>
          </p:cNvPr>
          <p:cNvSpPr>
            <a:spLocks noGrp="1"/>
          </p:cNvSpPr>
          <p:nvPr/>
        </p:nvSpPr>
        <p:spPr>
          <a:xfrm>
            <a:off x="681317" y="1193427"/>
            <a:ext cx="1069489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卷积和池化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11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组组合全部通过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NumPy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naive、PyTorch、MyTorch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三方验证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F7FEED-C088-4B71-8C3A-9379F3654098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482869-5487-4431-82FE-8BECF4CC2047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组合用例通过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7F1A3D-FEBF-44F9-89F2-189EF5B3B744}"/>
              </a:ext>
            </a:extLst>
          </p:cNvPr>
          <p:cNvSpPr>
            <a:spLocks noGrp="1"/>
          </p:cNvSpPr>
          <p:nvPr/>
        </p:nvSpPr>
        <p:spPr>
          <a:xfrm>
            <a:off x="34290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1e-7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608BF9-6192-479C-BCE0-0E6D028CC073}"/>
              </a:ext>
            </a:extLst>
          </p:cNvPr>
          <p:cNvSpPr>
            <a:spLocks noGrp="1"/>
          </p:cNvSpPr>
          <p:nvPr/>
        </p:nvSpPr>
        <p:spPr>
          <a:xfrm>
            <a:off x="34290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通过阈值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BB3669-E429-41EC-A081-FA2847A39727}"/>
              </a:ext>
            </a:extLst>
          </p:cNvPr>
          <p:cNvSpPr>
            <a:spLocks noGrp="1"/>
          </p:cNvSpPr>
          <p:nvPr/>
        </p:nvSpPr>
        <p:spPr>
          <a:xfrm>
            <a:off x="5905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1e-5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A97BFF-E7CC-44D5-9C6F-5F7E81AC665D}"/>
              </a:ext>
            </a:extLst>
          </p:cNvPr>
          <p:cNvSpPr>
            <a:spLocks noGrp="1"/>
          </p:cNvSpPr>
          <p:nvPr/>
        </p:nvSpPr>
        <p:spPr>
          <a:xfrm>
            <a:off x="5905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中心差分 epsilon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CF2B3E-B36D-4ADB-AD63-C20458C4B083}"/>
              </a:ext>
            </a:extLst>
          </p:cNvPr>
          <p:cNvSpPr>
            <a:spLocks noGrp="1"/>
          </p:cNvSpPr>
          <p:nvPr/>
        </p:nvSpPr>
        <p:spPr>
          <a:xfrm>
            <a:off x="8572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75B0E2-54F7-420C-9CAD-8F9BDFAB4C98}"/>
              </a:ext>
            </a:extLst>
          </p:cNvPr>
          <p:cNvSpPr>
            <a:spLocks noGrp="1"/>
          </p:cNvSpPr>
          <p:nvPr/>
        </p:nvSpPr>
        <p:spPr>
          <a:xfrm>
            <a:off x="8572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5C71C2-98CD-4E91-B4AE-4E12B4B64D75}"/>
              </a:ext>
            </a:extLst>
          </p:cNvPr>
          <p:cNvSpPr>
            <a:spLocks noGrp="1"/>
          </p:cNvSpPr>
          <p:nvPr/>
        </p:nvSpPr>
        <p:spPr>
          <a:xfrm>
            <a:off x="1009650" y="3581400"/>
            <a:ext cx="9144000" cy="17526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4DC73E-9041-44A9-818C-B626F3877F9D}"/>
              </a:ext>
            </a:extLst>
          </p:cNvPr>
          <p:cNvSpPr>
            <a:spLocks noGrp="1"/>
          </p:cNvSpPr>
          <p:nvPr/>
        </p:nvSpPr>
        <p:spPr>
          <a:xfrm>
            <a:off x="1295400" y="3848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DE623C-DD81-448D-A4E9-9ED5B4CE26A4}"/>
              </a:ext>
            </a:extLst>
          </p:cNvPr>
          <p:cNvSpPr>
            <a:spLocks noGrp="1"/>
          </p:cNvSpPr>
          <p:nvPr/>
        </p:nvSpPr>
        <p:spPr>
          <a:xfrm>
            <a:off x="4762500" y="3848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最大误差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6DB683-A1A3-4C91-94EB-F063AF92A6CE}"/>
              </a:ext>
            </a:extLst>
          </p:cNvPr>
          <p:cNvSpPr>
            <a:spLocks noGrp="1"/>
          </p:cNvSpPr>
          <p:nvPr/>
        </p:nvSpPr>
        <p:spPr>
          <a:xfrm>
            <a:off x="6915150" y="38481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379D9E-9316-4655-AEB8-136CC8052675}"/>
              </a:ext>
            </a:extLst>
          </p:cNvPr>
          <p:cNvSpPr>
            <a:spLocks noGrp="1"/>
          </p:cNvSpPr>
          <p:nvPr/>
        </p:nvSpPr>
        <p:spPr>
          <a:xfrm>
            <a:off x="129540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forward max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AC88F6E-DEBD-4509-ABFD-5D2F30D8E903}"/>
              </a:ext>
            </a:extLst>
          </p:cNvPr>
          <p:cNvSpPr>
            <a:spLocks noGrp="1"/>
          </p:cNvSpPr>
          <p:nvPr/>
        </p:nvSpPr>
        <p:spPr>
          <a:xfrm>
            <a:off x="4762500" y="4191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6.66e-16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9E39F7-DCCF-4690-8E1B-D44A57607C45}"/>
              </a:ext>
            </a:extLst>
          </p:cNvPr>
          <p:cNvSpPr>
            <a:spLocks noGrp="1"/>
          </p:cNvSpPr>
          <p:nvPr/>
        </p:nvSpPr>
        <p:spPr>
          <a:xfrm>
            <a:off x="691515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DB50DF-145A-496C-BC23-7786DB8CE29F}"/>
              </a:ext>
            </a:extLst>
          </p:cNvPr>
          <p:cNvSpPr>
            <a:spLocks noGrp="1"/>
          </p:cNvSpPr>
          <p:nvPr/>
        </p:nvSpPr>
        <p:spPr>
          <a:xfrm>
            <a:off x="129540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backward max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6883AE-9DCD-4DFA-B433-521BD109505E}"/>
              </a:ext>
            </a:extLst>
          </p:cNvPr>
          <p:cNvSpPr>
            <a:spLocks noGrp="1"/>
          </p:cNvSpPr>
          <p:nvPr/>
        </p:nvSpPr>
        <p:spPr>
          <a:xfrm>
            <a:off x="4762500" y="44577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1.78e-15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A0C3D2-9758-47EA-AD43-902A43E5F10A}"/>
              </a:ext>
            </a:extLst>
          </p:cNvPr>
          <p:cNvSpPr>
            <a:spLocks noGrp="1"/>
          </p:cNvSpPr>
          <p:nvPr/>
        </p:nvSpPr>
        <p:spPr>
          <a:xfrm>
            <a:off x="691515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4868BC-0EC7-4FC9-ADBD-882FD932A2C7}"/>
              </a:ext>
            </a:extLst>
          </p:cNvPr>
          <p:cNvSpPr>
            <a:spLocks noGrp="1"/>
          </p:cNvSpPr>
          <p:nvPr/>
        </p:nvSpPr>
        <p:spPr>
          <a:xfrm>
            <a:off x="129540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AACCEBE-4858-4BBF-91FB-ACDF8B4DB99F}"/>
              </a:ext>
            </a:extLst>
          </p:cNvPr>
          <p:cNvSpPr>
            <a:spLocks noGrp="1"/>
          </p:cNvSpPr>
          <p:nvPr/>
        </p:nvSpPr>
        <p:spPr>
          <a:xfrm>
            <a:off x="4762500" y="47244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18D005-0E0B-4A1D-9B86-76C8AB554D97}"/>
              </a:ext>
            </a:extLst>
          </p:cNvPr>
          <p:cNvSpPr>
            <a:spLocks noGrp="1"/>
          </p:cNvSpPr>
          <p:nvPr/>
        </p:nvSpPr>
        <p:spPr>
          <a:xfrm>
            <a:off x="691515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B7FBC4-061F-407B-A15F-05AB1D06D098}"/>
              </a:ext>
            </a:extLst>
          </p:cNvPr>
          <p:cNvSpPr>
            <a:spLocks noGrp="1"/>
          </p:cNvSpPr>
          <p:nvPr/>
        </p:nvSpPr>
        <p:spPr>
          <a:xfrm>
            <a:off x="129540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 gradcheck max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65F3D3-102E-4FDB-B434-7EC220BE7BD7}"/>
              </a:ext>
            </a:extLst>
          </p:cNvPr>
          <p:cNvSpPr>
            <a:spLocks noGrp="1"/>
          </p:cNvSpPr>
          <p:nvPr/>
        </p:nvSpPr>
        <p:spPr>
          <a:xfrm>
            <a:off x="4762500" y="4991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4.01e-11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3EFFFE-21DB-418F-881E-7AC97B988218}"/>
              </a:ext>
            </a:extLst>
          </p:cNvPr>
          <p:cNvSpPr>
            <a:spLocks noGrp="1"/>
          </p:cNvSpPr>
          <p:nvPr/>
        </p:nvSpPr>
        <p:spPr>
          <a:xfrm>
            <a:off x="691515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EF0B808-8084-41C0-853E-E826624E8B34}"/>
              </a:ext>
            </a:extLst>
          </p:cNvPr>
          <p:cNvSpPr>
            <a:spLocks noGrp="1"/>
          </p:cNvSpPr>
          <p:nvPr/>
        </p:nvSpPr>
        <p:spPr>
          <a:xfrm>
            <a:off x="1314450" y="556260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结论：核心卷积/池化算子在多参数组合下达到数值舍入量级误差，可作为模型训练的可信基础。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BC7E294-B456-4FC6-BCE7-6A4DEA92CF6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6AB99F9-21A7-4A7F-8D22-00016DED1973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1187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7A4E4026-6ED4-4C11-9DA7-B8AE7A5E26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11E60C-610B-4CBA-8F43-655719EC4660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CD3D34-43A2-4305-BE2C-E3E9A8E4357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第五部分 / 计算图优化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634C54-D8AB-4003-9B60-205592A0444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融合消融已完成：速度小幅提升，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验证误差最低。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5C3F20-D3DE-4631-BA4A-2E2FA52A7AEA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同配置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ResNet18Original，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train/val，20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epoch，batch_size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08745B-D00B-40BD-AF92-EE38FDE90F47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98D30B-169D-49A7-B0D3-6F40F1B96639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1A157F-68A5-4C3D-BD88-1E7E26C78E3D}"/>
              </a:ext>
            </a:extLst>
          </p:cNvPr>
          <p:cNvSpPr>
            <a:spLocks noGrp="1"/>
          </p:cNvSpPr>
          <p:nvPr/>
        </p:nvSpPr>
        <p:spPr>
          <a:xfrm>
            <a:off x="106680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B36C86-CC2F-486E-B710-4E2CAC79B298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捕获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IRNode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2464799-2F4E-471F-9A28-4A5504B08E9F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816756-5B2A-4CEA-AE8E-F367C5CF6B08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92DF91-C78C-441F-AA6E-5CDF89B7C42C}"/>
              </a:ext>
            </a:extLst>
          </p:cNvPr>
          <p:cNvSpPr>
            <a:spLocks noGrp="1"/>
          </p:cNvSpPr>
          <p:nvPr/>
        </p:nvSpPr>
        <p:spPr>
          <a:xfrm>
            <a:off x="33718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Optimize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942CE5-D841-4DC8-8C0E-EFF85EFEB24D}"/>
              </a:ext>
            </a:extLst>
          </p:cNvPr>
          <p:cNvSpPr>
            <a:spLocks noGrp="1"/>
          </p:cNvSpPr>
          <p:nvPr/>
        </p:nvSpPr>
        <p:spPr>
          <a:xfrm>
            <a:off x="33718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optimize_graph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进行融合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EA4EAC-850D-420E-B476-EEF58D2AB2DB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A1F1C1-78D1-49F1-A3E9-5893D1F621DD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24B285-7374-4A2D-B06B-E32E749121E9}"/>
              </a:ext>
            </a:extLst>
          </p:cNvPr>
          <p:cNvSpPr>
            <a:spLocks noGrp="1"/>
          </p:cNvSpPr>
          <p:nvPr/>
        </p:nvSpPr>
        <p:spPr>
          <a:xfrm>
            <a:off x="5676900" y="255270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Execute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6CE87C-1A30-4EB9-AC58-D9BA9291E320}"/>
              </a:ext>
            </a:extLst>
          </p:cNvPr>
          <p:cNvSpPr>
            <a:spLocks noGrp="1"/>
          </p:cNvSpPr>
          <p:nvPr/>
        </p:nvSpPr>
        <p:spPr>
          <a:xfrm>
            <a:off x="5676900" y="2876550"/>
            <a:ext cx="1600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训练图执行器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CUDA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RawKernel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3C2C81-9EBC-407B-A3A9-FD7F18305B3A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BF94FDC-D76B-42F5-B6A7-CECD7690498B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494A0C-D665-4682-BA86-3ED0B13A237C}"/>
              </a:ext>
            </a:extLst>
          </p:cNvPr>
          <p:cNvSpPr>
            <a:spLocks noGrp="1"/>
          </p:cNvSpPr>
          <p:nvPr/>
        </p:nvSpPr>
        <p:spPr>
          <a:xfrm>
            <a:off x="81724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Profile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DD9EC58-903A-4A70-9E5D-9595B8C156BF}"/>
              </a:ext>
            </a:extLst>
          </p:cNvPr>
          <p:cNvSpPr>
            <a:spLocks noGrp="1"/>
          </p:cNvSpPr>
          <p:nvPr/>
        </p:nvSpPr>
        <p:spPr>
          <a:xfrm>
            <a:off x="81724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记录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by-op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与慢节点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3D62C-5E0E-49D3-9150-504DC8DA0FB2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70A5CA-B37A-4A77-AE28-1562C18857D9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8327D6D-C148-416B-A260-F91AC3F2AA95}"/>
              </a:ext>
            </a:extLst>
          </p:cNvPr>
          <p:cNvSpPr>
            <a:spLocks noGrp="1"/>
          </p:cNvSpPr>
          <p:nvPr/>
        </p:nvSpPr>
        <p:spPr>
          <a:xfrm>
            <a:off x="74485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8063D7-A48B-41C0-8781-6A2863BCA6A7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4457700" cy="17716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27B6AE3-E554-4CBF-87C0-BFF925EDFD81}"/>
              </a:ext>
            </a:extLst>
          </p:cNvPr>
          <p:cNvSpPr>
            <a:spLocks noGrp="1"/>
          </p:cNvSpPr>
          <p:nvPr/>
        </p:nvSpPr>
        <p:spPr>
          <a:xfrm>
            <a:off x="1073524" y="42481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三组消融结果</a:t>
            </a:r>
            <a:endParaRPr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2D1CD55-144A-44EE-A9A4-E0B6678C3DF4}"/>
              </a:ext>
            </a:extLst>
          </p:cNvPr>
          <p:cNvSpPr>
            <a:spLocks noGrp="1"/>
          </p:cNvSpPr>
          <p:nvPr/>
        </p:nvSpPr>
        <p:spPr>
          <a:xfrm>
            <a:off x="1037663" y="4628029"/>
            <a:ext cx="4323229" cy="1041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无融合：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234.18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 / epoch，p50 233.44ms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Dynamic Fused：220.59s，p50 220.39ms，+6.2%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Fused：222.59s，p50 223.17ms，+5.2%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F04359-789A-41E4-82A9-1F4C165F210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1981200"/>
          </a:xfrm>
          <a:prstGeom prst="rect">
            <a:avLst/>
          </a:prstGeom>
          <a:solidFill>
            <a:srgbClr val="FFFDF8"/>
          </a:solidFill>
          <a:ln w="13335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61A449F-C223-4CAC-A317-486EE41422D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3A3936-8042-4AC3-8B96-47F6ABEBD65B}"/>
              </a:ext>
            </a:extLst>
          </p:cNvPr>
          <p:cNvSpPr>
            <a:spLocks noGrp="1"/>
          </p:cNvSpPr>
          <p:nvPr/>
        </p:nvSpPr>
        <p:spPr>
          <a:xfrm>
            <a:off x="5810250" y="409575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  <a:endParaRPr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401FD8D-E901-4512-9041-8EBA562B43D3}"/>
              </a:ext>
            </a:extLst>
          </p:cNvPr>
          <p:cNvSpPr>
            <a:spLocks noGrp="1"/>
          </p:cNvSpPr>
          <p:nvPr/>
        </p:nvSpPr>
        <p:spPr>
          <a:xfrm>
            <a:off x="5810250" y="4400550"/>
            <a:ext cx="203835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MSE：0.0274 / 0.0</a:t>
            </a:r>
            <a:r>
              <a:rPr lang="en-US" sz="14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30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7 / 0.0224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acc@0.10：92.85% / 90.85% / 93.35%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3266 / 3300 / 5842 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1D07F71-1974-402C-AE63-C563C6470B52}"/>
              </a:ext>
            </a:extLst>
          </p:cNvPr>
          <p:cNvSpPr>
            <a:spLocks noGrp="1"/>
          </p:cNvSpPr>
          <p:nvPr/>
        </p:nvSpPr>
        <p:spPr>
          <a:xfrm>
            <a:off x="8420100" y="3905250"/>
            <a:ext cx="2381250" cy="19812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5094E56-1084-443C-9580-9564AEFF3E5F}"/>
              </a:ext>
            </a:extLst>
          </p:cNvPr>
          <p:cNvSpPr>
            <a:spLocks noGrp="1"/>
          </p:cNvSpPr>
          <p:nvPr/>
        </p:nvSpPr>
        <p:spPr>
          <a:xfrm>
            <a:off x="8591550" y="408940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综合最好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8FAD7FC-71F1-49E1-A9E5-3412EEF4660A}"/>
              </a:ext>
            </a:extLst>
          </p:cNvPr>
          <p:cNvSpPr>
            <a:spLocks noGrp="1"/>
          </p:cNvSpPr>
          <p:nvPr/>
        </p:nvSpPr>
        <p:spPr>
          <a:xfrm>
            <a:off x="8591550" y="4648200"/>
            <a:ext cx="2038350" cy="901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在完整验证集上 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最低，并保持约 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5.2%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训练加速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</a:t>
            </a:r>
            <a:endParaRPr lang="zh-CN" altLang="en-US"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2C80512-E816-4C00-9060-CB6A2083623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A51C148-4E5A-4706-94AB-F0407CD5FB8B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67917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39BA4B57-DE9E-49B4-8C14-AA05A67B8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D755DF-8982-4CD0-B36C-37A9CCC11B5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196E8B-D189-44E4-B815-BDC0FCD58EE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第六部分 / 数据处理与训练并行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E97982-4FD4-415E-9175-E40684A6839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并行加载消融已完成：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async loader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明显降低取 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等待。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E37483-9802-46C7-AA07-237591516C02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378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固定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JIT、temporal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split、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train/val，5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=8；async 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配置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workers=4、prefetch=4</a:t>
            </a:r>
            <a:endParaRPr sz="13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E4A025-9481-4F45-9BA4-7AC1844F4385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1B769C-51C7-44E5-955B-FFE0EC2BB152}"/>
              </a:ext>
            </a:extLst>
          </p:cNvPr>
          <p:cNvSpPr>
            <a:spLocks noGrp="1"/>
          </p:cNvSpPr>
          <p:nvPr/>
        </p:nvSpPr>
        <p:spPr>
          <a:xfrm>
            <a:off x="10477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Producer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A5E3EC-D5EB-4C82-896C-54012D73F0DB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4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个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线程读取、解码、预处理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，并提前写入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Queue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2087BA-8578-4BD4-AF1D-18F0E08FBA37}"/>
              </a:ext>
            </a:extLst>
          </p:cNvPr>
          <p:cNvSpPr>
            <a:spLocks noGrp="1"/>
          </p:cNvSpPr>
          <p:nvPr/>
        </p:nvSpPr>
        <p:spPr>
          <a:xfrm>
            <a:off x="10477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DDC743-B349-4506-982A-58803FD054C9}"/>
              </a:ext>
            </a:extLst>
          </p:cNvPr>
          <p:cNvSpPr>
            <a:spLocks noGrp="1"/>
          </p:cNvSpPr>
          <p:nvPr/>
        </p:nvSpPr>
        <p:spPr>
          <a:xfrm>
            <a:off x="10477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workers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85DC83-3F5C-45AD-B0EF-A5A016601DD4}"/>
              </a:ext>
            </a:extLst>
          </p:cNvPr>
          <p:cNvSpPr>
            <a:spLocks noGrp="1"/>
          </p:cNvSpPr>
          <p:nvPr/>
        </p:nvSpPr>
        <p:spPr>
          <a:xfrm>
            <a:off x="4235450" y="221615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D21C84-9E75-415D-A9C4-B99583BAA5EE}"/>
              </a:ext>
            </a:extLst>
          </p:cNvPr>
          <p:cNvSpPr>
            <a:spLocks noGrp="1"/>
          </p:cNvSpPr>
          <p:nvPr/>
        </p:nvSpPr>
        <p:spPr>
          <a:xfrm>
            <a:off x="45529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Queue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B991AA-3B91-4EDC-8429-48E242FE3516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maxsize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workers ×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prefetch_factor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16；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训练线程按顺序消费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4D3104-6958-4D44-BBBD-D6EFB772674B}"/>
              </a:ext>
            </a:extLst>
          </p:cNvPr>
          <p:cNvSpPr>
            <a:spLocks noGrp="1"/>
          </p:cNvSpPr>
          <p:nvPr/>
        </p:nvSpPr>
        <p:spPr>
          <a:xfrm>
            <a:off x="45529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CAFE52-CC2A-4868-9F7F-0C93919FC12B}"/>
              </a:ext>
            </a:extLst>
          </p:cNvPr>
          <p:cNvSpPr>
            <a:spLocks noGrp="1"/>
          </p:cNvSpPr>
          <p:nvPr/>
        </p:nvSpPr>
        <p:spPr>
          <a:xfrm>
            <a:off x="45529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 factor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1715A3-E79A-472D-B59C-D153D0F0F2DD}"/>
              </a:ext>
            </a:extLst>
          </p:cNvPr>
          <p:cNvSpPr>
            <a:spLocks noGrp="1"/>
          </p:cNvSpPr>
          <p:nvPr/>
        </p:nvSpPr>
        <p:spPr>
          <a:xfrm>
            <a:off x="77533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762FA6F-56A2-4EEA-9F3C-19E0F34A2E74}"/>
              </a:ext>
            </a:extLst>
          </p:cNvPr>
          <p:cNvSpPr>
            <a:spLocks noGrp="1"/>
          </p:cNvSpPr>
          <p:nvPr/>
        </p:nvSpPr>
        <p:spPr>
          <a:xfrm>
            <a:off x="80581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Consumer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66F7E7-ACA0-4C99-8A40-CCF4C734900E}"/>
              </a:ext>
            </a:extLst>
          </p:cNvPr>
          <p:cNvSpPr>
            <a:spLocks noGrp="1"/>
          </p:cNvSpPr>
          <p:nvPr/>
        </p:nvSpPr>
        <p:spPr>
          <a:xfrm>
            <a:off x="80581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训练循环执行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forward、backward、optimizer step；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仅在取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时等待。</a:t>
            </a:r>
            <a:endParaRPr sz="12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08C566-0907-4D68-8094-ADF078A93799}"/>
              </a:ext>
            </a:extLst>
          </p:cNvPr>
          <p:cNvSpPr>
            <a:spLocks noGrp="1"/>
          </p:cNvSpPr>
          <p:nvPr/>
        </p:nvSpPr>
        <p:spPr>
          <a:xfrm>
            <a:off x="8058150" y="38290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000" b="1">
                <a:solidFill>
                  <a:srgbClr val="D78E16"/>
                </a:solidFill>
                <a:latin typeface="Microsoft YaHei"/>
                <a:ea typeface="Microsoft YaHei"/>
                <a:cs typeface="Microsoft YaHei"/>
              </a:rPr>
              <a:t>0.0051ms</a:t>
            </a:r>
            <a:endParaRPr sz="2000" b="1">
              <a:solidFill>
                <a:srgbClr val="D78E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BF75E2-5328-408C-900A-F6EA8AA525C0}"/>
              </a:ext>
            </a:extLst>
          </p:cNvPr>
          <p:cNvSpPr>
            <a:spLocks noGrp="1"/>
          </p:cNvSpPr>
          <p:nvPr/>
        </p:nvSpPr>
        <p:spPr>
          <a:xfrm>
            <a:off x="8058150" y="42481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loader fetch p50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E004CC-6E7A-4B51-A3B8-34BEBE8C7021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1257300"/>
          </a:xfrm>
          <a:prstGeom prst="rect">
            <a:avLst/>
          </a:prstGeom>
          <a:solidFill>
            <a:srgbClr val="FFFDF8"/>
          </a:solidFill>
          <a:ln w="13335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C7F417-2312-45FA-A062-6BCA206697BA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1B448F4-9911-403E-8B7C-6EA49CDE1079}"/>
              </a:ext>
            </a:extLst>
          </p:cNvPr>
          <p:cNvSpPr>
            <a:spLocks noGrp="1"/>
          </p:cNvSpPr>
          <p:nvPr/>
        </p:nvSpPr>
        <p:spPr>
          <a:xfrm>
            <a:off x="1295400" y="5143500"/>
            <a:ext cx="4019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sync vs async </a:t>
            </a: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消融结果</a:t>
            </a:r>
            <a:endParaRPr sz="1600"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081BA1-A9E0-462C-B5DC-5D0ECE7D45C1}"/>
              </a:ext>
            </a:extLst>
          </p:cNvPr>
          <p:cNvSpPr>
            <a:spLocks noGrp="1"/>
          </p:cNvSpPr>
          <p:nvPr/>
        </p:nvSpPr>
        <p:spPr>
          <a:xfrm>
            <a:off x="1295400" y="5448300"/>
            <a:ext cx="40195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sync：</a:t>
            </a:r>
            <a:r>
              <a:rPr lang="en-US" sz="10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158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.1s/epoch，32.07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2.85ms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async：153.4s/epoch，51.22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0.005ms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p50：159.1ms → 154.6ms；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3662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 → 3349MB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C8F67D-99F1-4999-999B-5E3E86A9CE8A}"/>
              </a:ext>
            </a:extLst>
          </p:cNvPr>
          <p:cNvSpPr>
            <a:spLocks noGrp="1"/>
          </p:cNvSpPr>
          <p:nvPr/>
        </p:nvSpPr>
        <p:spPr>
          <a:xfrm>
            <a:off x="6000750" y="4953000"/>
            <a:ext cx="4171950" cy="12573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3A2FA4F-3761-4A54-86C7-CF93793021C5}"/>
              </a:ext>
            </a:extLst>
          </p:cNvPr>
          <p:cNvSpPr>
            <a:spLocks noGrp="1"/>
          </p:cNvSpPr>
          <p:nvPr/>
        </p:nvSpPr>
        <p:spPr>
          <a:xfrm>
            <a:off x="6172200" y="51054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b="1">
                <a:solidFill>
                  <a:srgbClr val="0E8F5A"/>
                </a:solidFill>
                <a:latin typeface="Microsoft YaHei"/>
                <a:ea typeface="Microsoft YaHei"/>
                <a:cs typeface="Microsoft YaHei"/>
              </a:rPr>
              <a:t>已完成实验</a:t>
            </a:r>
            <a:endParaRPr sz="1000" b="1">
              <a:solidFill>
                <a:srgbClr val="0E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DEB2DC-3A13-4EBC-918F-F0000AC13734}"/>
              </a:ext>
            </a:extLst>
          </p:cNvPr>
          <p:cNvSpPr>
            <a:spLocks noGrp="1"/>
          </p:cNvSpPr>
          <p:nvPr/>
        </p:nvSpPr>
        <p:spPr>
          <a:xfrm>
            <a:off x="6172200" y="5372100"/>
            <a:ext cx="3829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异步预取有效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CFA63A7-F3DE-4550-B0D7-A5053F5E7716}"/>
              </a:ext>
            </a:extLst>
          </p:cNvPr>
          <p:cNvSpPr>
            <a:spLocks noGrp="1"/>
          </p:cNvSpPr>
          <p:nvPr/>
        </p:nvSpPr>
        <p:spPr>
          <a:xfrm>
            <a:off x="6172200" y="5695950"/>
            <a:ext cx="3829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fetch p50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降低约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99.8%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，端到端吞吐提升约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1.60×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两组一致，说明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改动未改变训练目标；后续继续优化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backward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与显存管理。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6191677-5430-4F07-BEFD-50BEBE27439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C37D72-DAA4-48CD-9A68-F3AB0DA6C7EE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40048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0A3A5F22-447B-467A-AE99-5D13B04598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A2DAC11-4DEB-4467-88DF-3A973D8B15B2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C48FB4-EE9D-49E8-83A2-7858D4A4624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第七部分 / DOCKER、KUBERNETES、KUBEFLOW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A35077-2450-4589-9294-1EDAD1BC5075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7261412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已有容器化与调度原型文件，但目前是训练任务模板，不是完整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服务化部署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F26346-674F-44F2-A4CD-E26BF027823D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2857500" cy="18097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CA1B77-AF02-40DF-96EE-084DA8D79C3E}"/>
              </a:ext>
            </a:extLst>
          </p:cNvPr>
          <p:cNvSpPr>
            <a:spLocks noGrp="1"/>
          </p:cNvSpPr>
          <p:nvPr/>
        </p:nvSpPr>
        <p:spPr>
          <a:xfrm>
            <a:off x="1047750" y="25336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Docker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FE0E1C-8E70-4163-841C-F39FBF0C5AE5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000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deploy/docker/Dockerfile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docker-compose.yml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可封装训练环境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8F184C-3EA1-4B74-B453-30D9F6EA4CE7}"/>
              </a:ext>
            </a:extLst>
          </p:cNvPr>
          <p:cNvSpPr>
            <a:spLocks noGrp="1"/>
          </p:cNvSpPr>
          <p:nvPr/>
        </p:nvSpPr>
        <p:spPr>
          <a:xfrm>
            <a:off x="4248150" y="2247900"/>
            <a:ext cx="2857500" cy="18097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D73E1C-4E2A-43E9-AD18-3103CC0ED4BD}"/>
              </a:ext>
            </a:extLst>
          </p:cNvPr>
          <p:cNvSpPr>
            <a:spLocks noGrp="1"/>
          </p:cNvSpPr>
          <p:nvPr/>
        </p:nvSpPr>
        <p:spPr>
          <a:xfrm>
            <a:off x="4552950" y="25336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Kubernetes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897D306-28F1-45F1-A76F-C9CCA5B4025B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20764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deploy/k8s/mnist-training-job.yaml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定义 Job、资源请求、数据卷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356E58F-4D91-4D3B-AFCA-6615D00A9602}"/>
              </a:ext>
            </a:extLst>
          </p:cNvPr>
          <p:cNvSpPr>
            <a:spLocks noGrp="1"/>
          </p:cNvSpPr>
          <p:nvPr/>
        </p:nvSpPr>
        <p:spPr>
          <a:xfrm>
            <a:off x="7753350" y="2247900"/>
            <a:ext cx="2857500" cy="18097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53C004-26F7-413B-A5BB-C1EE2D31D8E4}"/>
              </a:ext>
            </a:extLst>
          </p:cNvPr>
          <p:cNvSpPr>
            <a:spLocks noGrp="1"/>
          </p:cNvSpPr>
          <p:nvPr/>
        </p:nvSpPr>
        <p:spPr>
          <a:xfrm>
            <a:off x="8058150" y="25336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Kubeflow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FD8CA52-0746-4D62-AA1C-496A09CAD87B}"/>
              </a:ext>
            </a:extLst>
          </p:cNvPr>
          <p:cNvSpPr>
            <a:spLocks noGrp="1"/>
          </p:cNvSpPr>
          <p:nvPr/>
        </p:nvSpPr>
        <p:spPr>
          <a:xfrm>
            <a:off x="8058150" y="3028950"/>
            <a:ext cx="2095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kuflow/kfp_pipeline.py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TaskOperator / pipeline demo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可扩展为训练算子调度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742949C-BBE8-44BB-B8A8-E4843B54A062}"/>
              </a:ext>
            </a:extLst>
          </p:cNvPr>
          <p:cNvSpPr>
            <a:spLocks noGrp="1"/>
          </p:cNvSpPr>
          <p:nvPr/>
        </p:nvSpPr>
        <p:spPr>
          <a:xfrm>
            <a:off x="4324350" y="4400550"/>
            <a:ext cx="2857500" cy="152400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A9BD8B4-3BC8-4042-B78C-8FC277AFCC76}"/>
              </a:ext>
            </a:extLst>
          </p:cNvPr>
          <p:cNvSpPr>
            <a:spLocks noGrp="1"/>
          </p:cNvSpPr>
          <p:nvPr/>
        </p:nvSpPr>
        <p:spPr>
          <a:xfrm>
            <a:off x="4495800" y="4552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C03C19C-2C90-41FE-9266-E2CC362DAD34}"/>
              </a:ext>
            </a:extLst>
          </p:cNvPr>
          <p:cNvSpPr>
            <a:spLocks noGrp="1"/>
          </p:cNvSpPr>
          <p:nvPr/>
        </p:nvSpPr>
        <p:spPr>
          <a:xfrm>
            <a:off x="4495800" y="481965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部署实验缺失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B0B9FCE-0A0E-4615-A23D-9B7D37298191}"/>
              </a:ext>
            </a:extLst>
          </p:cNvPr>
          <p:cNvSpPr>
            <a:spLocks noGrp="1"/>
          </p:cNvSpPr>
          <p:nvPr/>
        </p:nvSpPr>
        <p:spPr>
          <a:xfrm>
            <a:off x="4495800" y="5143500"/>
            <a:ext cx="2514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补 docker build/run、K8s Job、Kubeflow pipeline 日志和资源占用。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F93747B-8B6D-4713-8AA5-CB038389C4CB}"/>
              </a:ext>
            </a:extLst>
          </p:cNvPr>
          <p:cNvSpPr>
            <a:spLocks noGrp="1"/>
          </p:cNvSpPr>
          <p:nvPr/>
        </p:nvSpPr>
        <p:spPr>
          <a:xfrm>
            <a:off x="7734300" y="4400550"/>
            <a:ext cx="2857500" cy="152400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E59EAA0-1BEB-4787-9607-B4DC368BB593}"/>
              </a:ext>
            </a:extLst>
          </p:cNvPr>
          <p:cNvSpPr>
            <a:spLocks noGrp="1"/>
          </p:cNvSpPr>
          <p:nvPr/>
        </p:nvSpPr>
        <p:spPr>
          <a:xfrm>
            <a:off x="7905750" y="4552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740E3D4-9147-4BCF-AC70-4619F232E146}"/>
              </a:ext>
            </a:extLst>
          </p:cNvPr>
          <p:cNvSpPr>
            <a:spLocks noGrp="1"/>
          </p:cNvSpPr>
          <p:nvPr/>
        </p:nvSpPr>
        <p:spPr>
          <a:xfrm>
            <a:off x="7905750" y="481965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服务化缺失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30F62CD-DF2E-4F42-973E-7903E0AFE8DB}"/>
              </a:ext>
            </a:extLst>
          </p:cNvPr>
          <p:cNvSpPr>
            <a:spLocks noGrp="1"/>
          </p:cNvSpPr>
          <p:nvPr/>
        </p:nvSpPr>
        <p:spPr>
          <a:xfrm>
            <a:off x="7905750" y="5143500"/>
            <a:ext cx="2514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gRPC server/client 与 DonkeyCar 在线推理服务尚未完成。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258AB49-C129-4B90-A65B-8A9B6F0892D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B616853-8669-4A25-AE3F-4181D7E7A0C7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15078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FEAAE649-A626-495A-AF71-D58F30A27741}"/>
              </a:ext>
            </a:extLst>
          </p:cNvPr>
          <p:cNvSpPr>
            <a:spLocks noGrp="1"/>
          </p:cNvSpPr>
          <p:nvPr/>
        </p:nvSpPr>
        <p:spPr>
          <a:xfrm>
            <a:off x="0" y="5715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401F0A-115B-4BB2-A4D4-11CDC4E9D281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EA4F2D-C2EA-4479-879B-E2AA801D7C1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与 PYTORCH 的效果对比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AD52DB-9450-4C1E-BC24-FB19BFD3549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可以完成训练，但性能和转向误差仍明显落后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BA5DF4-9EB2-4913-9E1E-75D30E05B273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相同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同一数据集、同一训练配置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</a:t>
            </a: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19A5D7-F393-4A70-9FB1-18992A278024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7D695D-E040-4F6A-9ED5-60149E4C0C1F}"/>
              </a:ext>
            </a:extLst>
          </p:cNvPr>
          <p:cNvSpPr>
            <a:spLocks noGrp="1"/>
          </p:cNvSpPr>
          <p:nvPr/>
        </p:nvSpPr>
        <p:spPr>
          <a:xfrm>
            <a:off x="1066800" y="24003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805A19-ED27-4B46-9B99-4D46B052CEC3}"/>
              </a:ext>
            </a:extLst>
          </p:cNvPr>
          <p:cNvSpPr>
            <a:spLocks noGrp="1"/>
          </p:cNvSpPr>
          <p:nvPr/>
        </p:nvSpPr>
        <p:spPr>
          <a:xfrm>
            <a:off x="106680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MyTorch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1782AE-5EA2-42AF-8889-D5D155D68C65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020DB4-18CA-467E-AE62-CE083EB9CC6E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DB82C1-EF3C-4D57-86A5-783DEA016AC4}"/>
              </a:ext>
            </a:extLst>
          </p:cNvPr>
          <p:cNvSpPr>
            <a:spLocks noGrp="1"/>
          </p:cNvSpPr>
          <p:nvPr/>
        </p:nvSpPr>
        <p:spPr>
          <a:xfrm>
            <a:off x="417195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3127.76s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07B9C6-FC57-433A-B7E2-6AF661C4A2E2}"/>
              </a:ext>
            </a:extLst>
          </p:cNvPr>
          <p:cNvSpPr>
            <a:spLocks noGrp="1"/>
          </p:cNvSpPr>
          <p:nvPr/>
        </p:nvSpPr>
        <p:spPr>
          <a:xfrm>
            <a:off x="106680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PyTorch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AE4F96-0336-43A2-B7A5-55BC4CCFFB91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1A7531-ECED-4604-B246-23F9724C1528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12098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FF5624-E7FD-491E-93DF-48CAEF0EE3E9}"/>
              </a:ext>
            </a:extLst>
          </p:cNvPr>
          <p:cNvSpPr>
            <a:spLocks noGrp="1"/>
          </p:cNvSpPr>
          <p:nvPr/>
        </p:nvSpPr>
        <p:spPr>
          <a:xfrm>
            <a:off x="417195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245.40s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0EEFB5-0223-4881-A8CC-07CC0428BF48}"/>
              </a:ext>
            </a:extLst>
          </p:cNvPr>
          <p:cNvSpPr>
            <a:spLocks noGrp="1"/>
          </p:cNvSpPr>
          <p:nvPr/>
        </p:nvSpPr>
        <p:spPr>
          <a:xfrm>
            <a:off x="1066800" y="4038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MyTorch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331E1A-B31B-472A-B2B4-F8E857B9C12B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FFA056-3439-4766-9269-0F5C199BD183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1208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1D6BD14-C182-4776-94B4-0D34CDF98344}"/>
              </a:ext>
            </a:extLst>
          </p:cNvPr>
          <p:cNvSpPr>
            <a:spLocks noGrp="1"/>
          </p:cNvSpPr>
          <p:nvPr/>
        </p:nvSpPr>
        <p:spPr>
          <a:xfrm>
            <a:off x="4171950" y="4038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51.15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C5B6EF-03A6-40EC-92DE-E4E24B1826F9}"/>
              </a:ext>
            </a:extLst>
          </p:cNvPr>
          <p:cNvSpPr>
            <a:spLocks noGrp="1"/>
          </p:cNvSpPr>
          <p:nvPr/>
        </p:nvSpPr>
        <p:spPr>
          <a:xfrm>
            <a:off x="1066800" y="4419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9C3AC97-CBD2-44D2-839E-91411949CA28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2C296D7-B418-467E-922E-64F713AEB2E9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AC65071-0276-419E-9DD5-7A6D5180197F}"/>
              </a:ext>
            </a:extLst>
          </p:cNvPr>
          <p:cNvSpPr>
            <a:spLocks noGrp="1"/>
          </p:cNvSpPr>
          <p:nvPr/>
        </p:nvSpPr>
        <p:spPr>
          <a:xfrm>
            <a:off x="4171950" y="4419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652.00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1CA99D-3F1A-4FD5-9FBD-34A79CF5EDAE}"/>
              </a:ext>
            </a:extLst>
          </p:cNvPr>
          <p:cNvSpPr>
            <a:spLocks noGrp="1"/>
          </p:cNvSpPr>
          <p:nvPr/>
        </p:nvSpPr>
        <p:spPr>
          <a:xfrm>
            <a:off x="598170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60EB4B9-5003-45D6-9C46-41F1D3DD1A25}"/>
              </a:ext>
            </a:extLst>
          </p:cNvPr>
          <p:cNvSpPr>
            <a:spLocks noGrp="1"/>
          </p:cNvSpPr>
          <p:nvPr/>
        </p:nvSpPr>
        <p:spPr>
          <a:xfrm>
            <a:off x="626745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EBC837-455B-4A07-BCF6-989D389A3CCB}"/>
              </a:ext>
            </a:extLst>
          </p:cNvPr>
          <p:cNvSpPr>
            <a:spLocks noGrp="1"/>
          </p:cNvSpPr>
          <p:nvPr/>
        </p:nvSpPr>
        <p:spPr>
          <a:xfrm>
            <a:off x="626745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MyTorch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DE28F0C-BE69-4980-AAEF-A3795B24925D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A4E39E-7581-4668-9214-913C766B1A7B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3DD198D-50CE-45DA-9880-FC88157026EB}"/>
              </a:ext>
            </a:extLst>
          </p:cNvPr>
          <p:cNvSpPr>
            <a:spLocks noGrp="1"/>
          </p:cNvSpPr>
          <p:nvPr/>
        </p:nvSpPr>
        <p:spPr>
          <a:xfrm>
            <a:off x="937260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DA20ECF-88B6-44AF-99EE-D63D8CAEC361}"/>
              </a:ext>
            </a:extLst>
          </p:cNvPr>
          <p:cNvSpPr>
            <a:spLocks noGrp="1"/>
          </p:cNvSpPr>
          <p:nvPr/>
        </p:nvSpPr>
        <p:spPr>
          <a:xfrm>
            <a:off x="626745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PyTorch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B603376-4D4B-4B0F-B05F-3811964FCA66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DE6751D-9920-4547-9F10-08D798C4C092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95872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836B083-D5B0-4D44-8020-C4A27EED2DC3}"/>
              </a:ext>
            </a:extLst>
          </p:cNvPr>
          <p:cNvSpPr>
            <a:spLocks noGrp="1"/>
          </p:cNvSpPr>
          <p:nvPr/>
        </p:nvSpPr>
        <p:spPr>
          <a:xfrm>
            <a:off x="937260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CB5CE73-CD74-4D43-AB17-580BC4015DA6}"/>
              </a:ext>
            </a:extLst>
          </p:cNvPr>
          <p:cNvSpPr>
            <a:spLocks noGrp="1"/>
          </p:cNvSpPr>
          <p:nvPr/>
        </p:nvSpPr>
        <p:spPr>
          <a:xfrm>
            <a:off x="6286500" y="3746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MyTorch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188D292-012B-4DA1-AD55-893F3FF961A0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705F154-608D-4749-8CAB-DA72381431FE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11899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8C9FC63-5DF5-40DC-9A1D-9C0F4F45E1AD}"/>
              </a:ext>
            </a:extLst>
          </p:cNvPr>
          <p:cNvSpPr>
            <a:spLocks noGrp="1"/>
          </p:cNvSpPr>
          <p:nvPr/>
        </p:nvSpPr>
        <p:spPr>
          <a:xfrm>
            <a:off x="9391650" y="3746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0.220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83A572F-A1F6-4503-99F4-41EA1CB43228}"/>
              </a:ext>
            </a:extLst>
          </p:cNvPr>
          <p:cNvSpPr>
            <a:spLocks noGrp="1"/>
          </p:cNvSpPr>
          <p:nvPr/>
        </p:nvSpPr>
        <p:spPr>
          <a:xfrm>
            <a:off x="6286500" y="4127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C4A56E-E485-4006-B97D-842D83E28440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1D38B9-6060-445E-8A01-FDEE924D3753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F7A9E79-E0F4-4289-A241-23AE54BE11CD}"/>
              </a:ext>
            </a:extLst>
          </p:cNvPr>
          <p:cNvSpPr>
            <a:spLocks noGrp="1"/>
          </p:cNvSpPr>
          <p:nvPr/>
        </p:nvSpPr>
        <p:spPr>
          <a:xfrm>
            <a:off x="9391650" y="4127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2.809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417FDA6-423A-40EC-AE92-BC47B442F2E1}"/>
              </a:ext>
            </a:extLst>
          </p:cNvPr>
          <p:cNvSpPr>
            <a:spLocks noGrp="1"/>
          </p:cNvSpPr>
          <p:nvPr/>
        </p:nvSpPr>
        <p:spPr>
          <a:xfrm>
            <a:off x="1162050" y="577215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结论：当前框架功能可用，但 backward、内存复用与算子调度是下一阶段性能瓶颈。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6126571-92C4-4BC8-8A8F-FD841C1C63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43723F5-430A-4E26-AE18-2C9137B70D2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BA60F75-B8C2-061B-CB23-4DD4CA8D00E5}"/>
              </a:ext>
            </a:extLst>
          </p:cNvPr>
          <p:cNvSpPr>
            <a:spLocks noGrp="1"/>
          </p:cNvSpPr>
          <p:nvPr/>
        </p:nvSpPr>
        <p:spPr>
          <a:xfrm>
            <a:off x="6280150" y="4521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55FE886-AA64-15AD-FFDA-218D7087A6B9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186AFCC-EC8A-2014-FEF2-BD137FEEDF57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2400" cy="825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A84CCA1-C404-E38A-5801-85B2E31B84B0}"/>
              </a:ext>
            </a:extLst>
          </p:cNvPr>
          <p:cNvSpPr>
            <a:spLocks noGrp="1"/>
          </p:cNvSpPr>
          <p:nvPr/>
        </p:nvSpPr>
        <p:spPr>
          <a:xfrm>
            <a:off x="9385300" y="4521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4206.5</a:t>
            </a:r>
            <a:r>
              <a:rPr lang="en-US" altLang="zh-CN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68BADFE-E991-0181-67B9-D21AAFD0D47F}"/>
              </a:ext>
            </a:extLst>
          </p:cNvPr>
          <p:cNvSpPr>
            <a:spLocks noGrp="1"/>
          </p:cNvSpPr>
          <p:nvPr/>
        </p:nvSpPr>
        <p:spPr>
          <a:xfrm>
            <a:off x="6280150" y="4902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E432A42-42D3-C147-5CAB-2E732F66BC26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C02697A-1F57-43C2-0759-2FC1A11E96B1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90170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4D9715D-6E6F-8E38-7CC3-EB2854FADD7A}"/>
              </a:ext>
            </a:extLst>
          </p:cNvPr>
          <p:cNvSpPr>
            <a:spLocks noGrp="1"/>
          </p:cNvSpPr>
          <p:nvPr/>
        </p:nvSpPr>
        <p:spPr>
          <a:xfrm>
            <a:off x="9385300" y="4902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2822.5MB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20509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670800FD-56FD-450A-82AE-6CAE2DFBDC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8E5620-7459-4830-ABEE-563D626A61B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A8FA9F-091D-4AC6-B039-FB41356294C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性能瓶颈拆解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0CB730-D1C3-4D88-8152-33D728996EC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差距主要来自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backward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阶段，而不是数据读取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BA62EE-21AC-4045-BE6C-EFF961A4B49C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p50 batch 记录把“慢在哪里”变成可量化证据。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31B3FE-3254-4832-82BB-CBD0A2AFCB33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7625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F7E121-385E-470F-A01B-8B285FC0866A}"/>
              </a:ext>
            </a:extLst>
          </p:cNvPr>
          <p:cNvSpPr>
            <a:spLocks noGrp="1"/>
          </p:cNvSpPr>
          <p:nvPr/>
        </p:nvSpPr>
        <p:spPr>
          <a:xfrm>
            <a:off x="11049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 p50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D0B741-55C4-4DC9-A925-51E76A7026F0}"/>
              </a:ext>
            </a:extLst>
          </p:cNvPr>
          <p:cNvSpPr>
            <a:spLocks noGrp="1"/>
          </p:cNvSpPr>
          <p:nvPr/>
        </p:nvSpPr>
        <p:spPr>
          <a:xfrm>
            <a:off x="11049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0AC8A5-4BE4-4CE4-B9DB-C2CCEF5A6CFB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89E0E1-BCA0-4830-BAD2-EDBE1E4EB13D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BEBDD7-A303-4F93-98D9-CE1BD1424947}"/>
              </a:ext>
            </a:extLst>
          </p:cNvPr>
          <p:cNvSpPr>
            <a:spLocks noGrp="1"/>
          </p:cNvSpPr>
          <p:nvPr/>
        </p:nvSpPr>
        <p:spPr>
          <a:xfrm>
            <a:off x="440055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0.0047ms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C96E3C-58F9-4958-A533-CFAA761CE6F6}"/>
              </a:ext>
            </a:extLst>
          </p:cNvPr>
          <p:cNvSpPr>
            <a:spLocks noGrp="1"/>
          </p:cNvSpPr>
          <p:nvPr/>
        </p:nvSpPr>
        <p:spPr>
          <a:xfrm>
            <a:off x="11049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C7C5A8-3770-4A62-BBA9-7151E248C2EE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E70F09-7A77-4854-A5DC-15C76C8907F8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45096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025A2B-0A7A-403B-8A82-043E1DC797E3}"/>
              </a:ext>
            </a:extLst>
          </p:cNvPr>
          <p:cNvSpPr>
            <a:spLocks noGrp="1"/>
          </p:cNvSpPr>
          <p:nvPr/>
        </p:nvSpPr>
        <p:spPr>
          <a:xfrm>
            <a:off x="440055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13.81ms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CCC3C56-6DB1-43AB-8DC8-DA13ACE2F2B1}"/>
              </a:ext>
            </a:extLst>
          </p:cNvPr>
          <p:cNvSpPr>
            <a:spLocks noGrp="1"/>
          </p:cNvSpPr>
          <p:nvPr/>
        </p:nvSpPr>
        <p:spPr>
          <a:xfrm>
            <a:off x="11049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7C1F86-2CF8-4EE0-A454-D430614DB0A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A8907F-BD35-422F-9822-9F564CB2A48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28693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02FD539-108D-412C-971C-98331D7A5C33}"/>
              </a:ext>
            </a:extLst>
          </p:cNvPr>
          <p:cNvSpPr>
            <a:spLocks noGrp="1"/>
          </p:cNvSpPr>
          <p:nvPr/>
        </p:nvSpPr>
        <p:spPr>
          <a:xfrm>
            <a:off x="440055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122.47ms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F6D5FF-D23D-45B0-BF1A-BD341C87791A}"/>
              </a:ext>
            </a:extLst>
          </p:cNvPr>
          <p:cNvSpPr>
            <a:spLocks noGrp="1"/>
          </p:cNvSpPr>
          <p:nvPr/>
        </p:nvSpPr>
        <p:spPr>
          <a:xfrm>
            <a:off x="11049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19CBDD8-5B48-4091-9869-3D60070075BC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71CF37-B02E-49DB-A99E-F157766652FD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CA3A94C-561F-4719-9440-C36FA2F0478E}"/>
              </a:ext>
            </a:extLst>
          </p:cNvPr>
          <p:cNvSpPr>
            <a:spLocks noGrp="1"/>
          </p:cNvSpPr>
          <p:nvPr/>
        </p:nvSpPr>
        <p:spPr>
          <a:xfrm>
            <a:off x="440055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154.09ms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E2B1C3-0C27-4595-9948-36211C985804}"/>
              </a:ext>
            </a:extLst>
          </p:cNvPr>
          <p:cNvSpPr>
            <a:spLocks noGrp="1"/>
          </p:cNvSpPr>
          <p:nvPr/>
        </p:nvSpPr>
        <p:spPr>
          <a:xfrm>
            <a:off x="6096000" y="2171700"/>
            <a:ext cx="41910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2D95D70-8686-4325-A7DD-B8E0C7468933}"/>
              </a:ext>
            </a:extLst>
          </p:cNvPr>
          <p:cNvSpPr>
            <a:spLocks noGrp="1"/>
          </p:cNvSpPr>
          <p:nvPr/>
        </p:nvSpPr>
        <p:spPr>
          <a:xfrm>
            <a:off x="64008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 p50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5F9A009-67EF-4BC3-B77B-18D6C57BD7B2}"/>
              </a:ext>
            </a:extLst>
          </p:cNvPr>
          <p:cNvSpPr>
            <a:spLocks noGrp="1"/>
          </p:cNvSpPr>
          <p:nvPr/>
        </p:nvSpPr>
        <p:spPr>
          <a:xfrm>
            <a:off x="64008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8F1D7DC-FCC0-4E83-8909-61B26625E293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E1A332-F4F1-4D63-9350-0F7DC8620A15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B1CE174-7B74-47BB-807E-8A95FF2E051A}"/>
              </a:ext>
            </a:extLst>
          </p:cNvPr>
          <p:cNvSpPr>
            <a:spLocks noGrp="1"/>
          </p:cNvSpPr>
          <p:nvPr/>
        </p:nvSpPr>
        <p:spPr>
          <a:xfrm>
            <a:off x="941070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0.098ms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F309F97-D08E-457E-BDB2-22666ADD6F37}"/>
              </a:ext>
            </a:extLst>
          </p:cNvPr>
          <p:cNvSpPr>
            <a:spLocks noGrp="1"/>
          </p:cNvSpPr>
          <p:nvPr/>
        </p:nvSpPr>
        <p:spPr>
          <a:xfrm>
            <a:off x="64008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44E03D7-7411-46D6-AB4A-6392960F204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FF7A27-7F84-4ED8-B227-4DB5F00201C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316785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8B9508-0634-49C1-A5D8-922D10AD2AC5}"/>
              </a:ext>
            </a:extLst>
          </p:cNvPr>
          <p:cNvSpPr>
            <a:spLocks noGrp="1"/>
          </p:cNvSpPr>
          <p:nvPr/>
        </p:nvSpPr>
        <p:spPr>
          <a:xfrm>
            <a:off x="941070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2.69ms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A9FE941-FD83-4DB4-A01E-B19D6304B284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AEF06E-D304-451F-8F9C-CCA783D0A868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869BDC3-4BFF-4CB6-B3C1-421CC6ABBEB6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51236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14C24FD-23C4-4CED-85F1-59FB24309DEE}"/>
              </a:ext>
            </a:extLst>
          </p:cNvPr>
          <p:cNvSpPr>
            <a:spLocks noGrp="1"/>
          </p:cNvSpPr>
          <p:nvPr/>
        </p:nvSpPr>
        <p:spPr>
          <a:xfrm>
            <a:off x="941070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4.34ms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68EB7A9-7812-42C0-83BA-7488D2DF26AA}"/>
              </a:ext>
            </a:extLst>
          </p:cNvPr>
          <p:cNvSpPr>
            <a:spLocks noGrp="1"/>
          </p:cNvSpPr>
          <p:nvPr/>
        </p:nvSpPr>
        <p:spPr>
          <a:xfrm>
            <a:off x="64008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A6CD8D2-4043-46CC-AF10-922A74AB4DB1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D4AE4E2-F18D-49D9-B010-671E0526096B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9B9C50F-CE0C-41FC-82B1-5F8D9A29D94D}"/>
              </a:ext>
            </a:extLst>
          </p:cNvPr>
          <p:cNvSpPr>
            <a:spLocks noGrp="1"/>
          </p:cNvSpPr>
          <p:nvPr/>
        </p:nvSpPr>
        <p:spPr>
          <a:xfrm>
            <a:off x="941070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11.30ms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71D272F-A4D3-4F4D-BDE4-6B13D2E34E5D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819150"/>
          </a:xfrm>
          <a:prstGeom prst="rect">
            <a:avLst/>
          </a:prstGeom>
          <a:solidFill>
            <a:srgbClr val="FFFDF8"/>
          </a:solidFill>
          <a:ln w="13335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A3FAB57-AEF2-4639-B58B-A5A0E8DD16F1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223B7CC-9B54-481A-8A6A-5093A724E613}"/>
              </a:ext>
            </a:extLst>
          </p:cNvPr>
          <p:cNvSpPr>
            <a:spLocks noGrp="1"/>
          </p:cNvSpPr>
          <p:nvPr/>
        </p:nvSpPr>
        <p:spPr>
          <a:xfrm>
            <a:off x="1524000" y="5638800"/>
            <a:ext cx="784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490A668-5DA3-47AE-8E96-8BBD59276138}"/>
              </a:ext>
            </a:extLst>
          </p:cNvPr>
          <p:cNvSpPr>
            <a:spLocks noGrp="1"/>
          </p:cNvSpPr>
          <p:nvPr/>
        </p:nvSpPr>
        <p:spPr>
          <a:xfrm>
            <a:off x="1524000" y="5943600"/>
            <a:ext cx="784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backward p50 是 PyTorch 的约 28.2 倍；下一步优先优化反向传播、显存复用和融合前后的调度。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D400410-50FF-4EC8-8725-E63DD282B2A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2CE2ADE-F675-4AE6-935E-37695DA87219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68845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4A43F2AA-465A-4F15-8D27-6C62E37789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8AD66A-D767-4157-857F-BF86A4CD53D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A59C26-CFF1-4FF7-B72C-30D68CD79879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第九部分 / 下一步目标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17EAED-1E05-4FB9-AFB1-625D5FDA40C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下阶段目标：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2AAD3F-67F3-4EC7-B33A-5869E622E7E1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783861-B2C9-4B2C-864B-77F9EFD17411}"/>
              </a:ext>
            </a:extLst>
          </p:cNvPr>
          <p:cNvSpPr>
            <a:spLocks noGrp="1"/>
          </p:cNvSpPr>
          <p:nvPr/>
        </p:nvSpPr>
        <p:spPr>
          <a:xfrm>
            <a:off x="1028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8AE954-DA0E-43EA-8ABE-12E3A469B33B}"/>
              </a:ext>
            </a:extLst>
          </p:cNvPr>
          <p:cNvSpPr>
            <a:spLocks noGrp="1"/>
          </p:cNvSpPr>
          <p:nvPr/>
        </p:nvSpPr>
        <p:spPr>
          <a:xfrm>
            <a:off x="1504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增加速度控制</a:t>
            </a:r>
            <a:r>
              <a:rPr lang="en-US" altLang="zh-CN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	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B5B98A-67CC-473A-8D1B-1DE7AD2E8D8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在原本转向角控制的基础上，下一步增加速度控制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6092B0-2104-462D-B8AC-CC7459997893}"/>
              </a:ext>
            </a:extLst>
          </p:cNvPr>
          <p:cNvSpPr>
            <a:spLocks noGrp="1"/>
          </p:cNvSpPr>
          <p:nvPr/>
        </p:nvSpPr>
        <p:spPr>
          <a:xfrm>
            <a:off x="4248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30807C-3693-4B29-96FF-00C0716B4065}"/>
              </a:ext>
            </a:extLst>
          </p:cNvPr>
          <p:cNvSpPr>
            <a:spLocks noGrp="1"/>
          </p:cNvSpPr>
          <p:nvPr/>
        </p:nvSpPr>
        <p:spPr>
          <a:xfrm>
            <a:off x="4457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876067-A446-4F17-ACDD-E779098A642C}"/>
              </a:ext>
            </a:extLst>
          </p:cNvPr>
          <p:cNvSpPr>
            <a:spLocks noGrp="1"/>
          </p:cNvSpPr>
          <p:nvPr/>
        </p:nvSpPr>
        <p:spPr>
          <a:xfrm>
            <a:off x="4933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训练监控完善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4B9838E-A02A-4832-94C3-0C09624B5CA0}"/>
              </a:ext>
            </a:extLst>
          </p:cNvPr>
          <p:cNvSpPr>
            <a:spLocks noGrp="1"/>
          </p:cNvSpPr>
          <p:nvPr/>
        </p:nvSpPr>
        <p:spPr>
          <a:xfrm>
            <a:off x="4933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增加模型训练过程的可视化模块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27D81B-65FC-4158-88E4-1818F0D734E9}"/>
              </a:ext>
            </a:extLst>
          </p:cNvPr>
          <p:cNvSpPr>
            <a:spLocks noGrp="1"/>
          </p:cNvSpPr>
          <p:nvPr/>
        </p:nvSpPr>
        <p:spPr>
          <a:xfrm>
            <a:off x="7677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44D924-0D0C-4A72-8E8C-1413D9994A7D}"/>
              </a:ext>
            </a:extLst>
          </p:cNvPr>
          <p:cNvSpPr>
            <a:spLocks noGrp="1"/>
          </p:cNvSpPr>
          <p:nvPr/>
        </p:nvSpPr>
        <p:spPr>
          <a:xfrm>
            <a:off x="7886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A7881B-11B2-4DB1-8ACF-08B998D03D53}"/>
              </a:ext>
            </a:extLst>
          </p:cNvPr>
          <p:cNvSpPr>
            <a:spLocks noGrp="1"/>
          </p:cNvSpPr>
          <p:nvPr/>
        </p:nvSpPr>
        <p:spPr>
          <a:xfrm>
            <a:off x="8362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JIT/Fusion </a:t>
            </a: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AB9B2-262A-4E3E-9B75-81224C73AF76}"/>
              </a:ext>
            </a:extLst>
          </p:cNvPr>
          <p:cNvSpPr>
            <a:spLocks noGrp="1"/>
          </p:cNvSpPr>
          <p:nvPr/>
        </p:nvSpPr>
        <p:spPr>
          <a:xfrm>
            <a:off x="8211671" y="2762250"/>
            <a:ext cx="2094379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当前方案实现的是基于</a:t>
            </a:r>
            <a:r>
              <a:rPr lang="en-US" altLang="zh-CN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JIT</a:t>
            </a:r>
            <a:r>
              <a:rPr lang="zh-CN" altLang="en-US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的简化版的算子融合，还未实现训练编译器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4EC5C1-29D0-4995-B528-AEA4337AB3CE}"/>
              </a:ext>
            </a:extLst>
          </p:cNvPr>
          <p:cNvSpPr>
            <a:spLocks noGrp="1"/>
          </p:cNvSpPr>
          <p:nvPr/>
        </p:nvSpPr>
        <p:spPr>
          <a:xfrm>
            <a:off x="819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9C6491-04BC-4A11-8631-34AF007BB7B0}"/>
              </a:ext>
            </a:extLst>
          </p:cNvPr>
          <p:cNvSpPr>
            <a:spLocks noGrp="1"/>
          </p:cNvSpPr>
          <p:nvPr/>
        </p:nvSpPr>
        <p:spPr>
          <a:xfrm>
            <a:off x="1028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93AC6E-0513-4445-B4A7-A6631C92FCF2}"/>
              </a:ext>
            </a:extLst>
          </p:cNvPr>
          <p:cNvSpPr>
            <a:spLocks noGrp="1"/>
          </p:cNvSpPr>
          <p:nvPr/>
        </p:nvSpPr>
        <p:spPr>
          <a:xfrm>
            <a:off x="1504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模型的保存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91CBAAE-6CA8-4984-B350-F48E4FECA6B0}"/>
              </a:ext>
            </a:extLst>
          </p:cNvPr>
          <p:cNvSpPr>
            <a:spLocks noGrp="1"/>
          </p:cNvSpPr>
          <p:nvPr/>
        </p:nvSpPr>
        <p:spPr>
          <a:xfrm>
            <a:off x="1504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lang="en-US" altLang="zh-CN" sz="1013" dirty="0"/>
              <a:t>JSON+NPZ </a:t>
            </a:r>
            <a:r>
              <a:rPr lang="zh-CN" altLang="en-US" sz="1013" dirty="0"/>
              <a:t>方式，可以拓展 </a:t>
            </a:r>
            <a:r>
              <a:rPr lang="en-US" altLang="zh-CN" sz="1013" dirty="0"/>
              <a:t>ONNX </a:t>
            </a:r>
            <a:r>
              <a:rPr lang="zh-CN" altLang="en-US" sz="1013" dirty="0"/>
              <a:t>方式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71D23-5721-4804-9A90-62E7DB26B444}"/>
              </a:ext>
            </a:extLst>
          </p:cNvPr>
          <p:cNvSpPr>
            <a:spLocks noGrp="1"/>
          </p:cNvSpPr>
          <p:nvPr/>
        </p:nvSpPr>
        <p:spPr>
          <a:xfrm>
            <a:off x="4248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13FD90-37A1-42A2-8705-7E87B88E9DBB}"/>
              </a:ext>
            </a:extLst>
          </p:cNvPr>
          <p:cNvSpPr>
            <a:spLocks noGrp="1"/>
          </p:cNvSpPr>
          <p:nvPr/>
        </p:nvSpPr>
        <p:spPr>
          <a:xfrm>
            <a:off x="4457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A9D576-9636-456C-A442-936D838E97E8}"/>
              </a:ext>
            </a:extLst>
          </p:cNvPr>
          <p:cNvSpPr>
            <a:spLocks noGrp="1"/>
          </p:cNvSpPr>
          <p:nvPr/>
        </p:nvSpPr>
        <p:spPr>
          <a:xfrm>
            <a:off x="4933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服务化部署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106DE25-FD10-4509-9FAA-AD3282B9053C}"/>
              </a:ext>
            </a:extLst>
          </p:cNvPr>
          <p:cNvSpPr>
            <a:spLocks noGrp="1"/>
          </p:cNvSpPr>
          <p:nvPr/>
        </p:nvSpPr>
        <p:spPr>
          <a:xfrm>
            <a:off x="4933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JSON+NPZ/ONNX、INT8、gRPC server/client。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B457104-CB43-4EEB-BDDB-831F3E6DF519}"/>
              </a:ext>
            </a:extLst>
          </p:cNvPr>
          <p:cNvSpPr>
            <a:spLocks noGrp="1"/>
          </p:cNvSpPr>
          <p:nvPr/>
        </p:nvSpPr>
        <p:spPr>
          <a:xfrm>
            <a:off x="7677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7BD9D0B-D059-49BC-B32C-5A29941B1822}"/>
              </a:ext>
            </a:extLst>
          </p:cNvPr>
          <p:cNvSpPr>
            <a:spLocks noGrp="1"/>
          </p:cNvSpPr>
          <p:nvPr/>
        </p:nvSpPr>
        <p:spPr>
          <a:xfrm>
            <a:off x="7886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AF46CC-960F-4FB7-8C4C-3670A6A86E9A}"/>
              </a:ext>
            </a:extLst>
          </p:cNvPr>
          <p:cNvSpPr>
            <a:spLocks noGrp="1"/>
          </p:cNvSpPr>
          <p:nvPr/>
        </p:nvSpPr>
        <p:spPr>
          <a:xfrm>
            <a:off x="8362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卷积算法优化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66B398-702F-4245-8F3B-9AA7C3BA08A1}"/>
              </a:ext>
            </a:extLst>
          </p:cNvPr>
          <p:cNvSpPr>
            <a:spLocks noGrp="1"/>
          </p:cNvSpPr>
          <p:nvPr/>
        </p:nvSpPr>
        <p:spPr>
          <a:xfrm>
            <a:off x="8193741" y="4400550"/>
            <a:ext cx="2112309" cy="6017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完成例如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Winograd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卷积算法，例如数据重排优化循环分块提高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L1/L2 Cache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命中率</a:t>
            </a:r>
          </a:p>
          <a:p>
            <a:endParaRPr lang="zh-CN" altLang="en-US"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4CD2BD9-5407-4FAB-8F92-E3C61AB7276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80A6419-B24B-452D-99F1-23CA4CB51DC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16617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67779-8D5A-D9E2-54D0-D7B5C0C50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F0D23F2A-D506-7874-CDC6-409A9B0FDC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1D39A6-9037-A715-06CA-45326B14238C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FDF9C8-F794-4287-D992-25062F852FC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十</a:t>
            </a:r>
            <a:r>
              <a:rPr sz="938" b="1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部分</a:t>
            </a: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困难</a:t>
            </a:r>
            <a:endParaRPr sz="938" b="1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E844B6-1507-501C-2082-1BCA64F3BE1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数据增强困难：从增强无效到定位数据泄漏与标签冲突</a:t>
            </a:r>
            <a:endParaRPr sz="20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数据增强卡片 50"/>
          <p:cNvSpPr>
            <a:spLocks noGrp="1"/>
          </p:cNvSpPr>
          <p:nvPr/>
        </p:nvSpPr>
        <p:spPr>
          <a:xfrm>
            <a:off x="6096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卡片强调线 51"/>
          <p:cNvSpPr>
            <a:spLocks noGrp="1"/>
          </p:cNvSpPr>
          <p:nvPr/>
        </p:nvSpPr>
        <p:spPr>
          <a:xfrm>
            <a:off x="609600" y="1765300"/>
            <a:ext cx="5334000" cy="571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卡片标题 52"/>
          <p:cNvSpPr>
            <a:spLocks noGrp="1"/>
          </p:cNvSpPr>
          <p:nvPr/>
        </p:nvSpPr>
        <p:spPr>
          <a:xfrm>
            <a:off x="8001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1. 现象：增强组损失普遍高于 none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卡片正文 53"/>
          <p:cNvSpPr>
            <a:spLocks noGrp="1"/>
          </p:cNvSpPr>
          <p:nvPr/>
        </p:nvSpPr>
        <p:spPr>
          <a:xfrm>
            <a:off x="8001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随机帧划分下，none 验证 MSE 最低。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flip_only / donkey_safe / MixUp / CutMix 等均未超过 baseline。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增强没有直接带来收益，甚至表现为反向效果。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数据增强卡片 54"/>
          <p:cNvSpPr>
            <a:spLocks noGrp="1"/>
          </p:cNvSpPr>
          <p:nvPr/>
        </p:nvSpPr>
        <p:spPr>
          <a:xfrm>
            <a:off x="62484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卡片强调线 55"/>
          <p:cNvSpPr>
            <a:spLocks noGrp="1"/>
          </p:cNvSpPr>
          <p:nvPr/>
        </p:nvSpPr>
        <p:spPr>
          <a:xfrm>
            <a:off x="6248400" y="1765300"/>
            <a:ext cx="5334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卡片标题 56"/>
          <p:cNvSpPr>
            <a:spLocks noGrp="1"/>
          </p:cNvSpPr>
          <p:nvPr/>
        </p:nvSpPr>
        <p:spPr>
          <a:xfrm>
            <a:off x="64389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2. 判断：几何增强造成标签冲突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" name="卡片正文 57"/>
          <p:cNvSpPr>
            <a:spLocks noGrp="1"/>
          </p:cNvSpPr>
          <p:nvPr/>
        </p:nvSpPr>
        <p:spPr>
          <a:xfrm>
            <a:off x="64389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随机裁剪改变车道线在图像中的相对位置。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随机旋转改变车道方向和地平线结构。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steering label 未同步修正时，形成冲突样本。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数据增强卡片 58"/>
          <p:cNvSpPr>
            <a:spLocks noGrp="1"/>
          </p:cNvSpPr>
          <p:nvPr/>
        </p:nvSpPr>
        <p:spPr>
          <a:xfrm>
            <a:off x="6096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卡片强调线 59"/>
          <p:cNvSpPr>
            <a:spLocks noGrp="1"/>
          </p:cNvSpPr>
          <p:nvPr/>
        </p:nvSpPr>
        <p:spPr>
          <a:xfrm>
            <a:off x="609600" y="3524250"/>
            <a:ext cx="5334000" cy="571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卡片标题 60"/>
          <p:cNvSpPr>
            <a:spLocks noGrp="1"/>
          </p:cNvSpPr>
          <p:nvPr/>
        </p:nvSpPr>
        <p:spPr>
          <a:xfrm>
            <a:off x="8001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3. 排查：关闭裁剪/旋转后仍然变差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1" name="卡片正文 61"/>
          <p:cNvSpPr>
            <a:spLocks noGrp="1"/>
          </p:cNvSpPr>
          <p:nvPr/>
        </p:nvSpPr>
        <p:spPr>
          <a:xfrm>
            <a:off x="8001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说明问题不只来自几何增强。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DonkeyCar 是连续视频帧，随机划分会产生大量相邻帧泄漏。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none 的低损失包含记忆相邻帧的水分。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" name="数据增强卡片 62"/>
          <p:cNvSpPr>
            <a:spLocks noGrp="1"/>
          </p:cNvSpPr>
          <p:nvPr/>
        </p:nvSpPr>
        <p:spPr>
          <a:xfrm>
            <a:off x="62484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卡片强调线 63"/>
          <p:cNvSpPr>
            <a:spLocks noGrp="1"/>
          </p:cNvSpPr>
          <p:nvPr/>
        </p:nvSpPr>
        <p:spPr>
          <a:xfrm>
            <a:off x="6248400" y="3524250"/>
            <a:ext cx="5334000" cy="571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卡片标题 64"/>
          <p:cNvSpPr>
            <a:spLocks noGrp="1"/>
          </p:cNvSpPr>
          <p:nvPr/>
        </p:nvSpPr>
        <p:spPr>
          <a:xfrm>
            <a:off x="64389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4. 修正：任务一致增强 + 时间划分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" name="卡片正文 65"/>
          <p:cNvSpPr>
            <a:spLocks noGrp="1"/>
          </p:cNvSpPr>
          <p:nvPr/>
        </p:nvSpPr>
        <p:spPr>
          <a:xfrm>
            <a:off x="64389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暂时关闭随机裁剪、随机旋转。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保留水平翻转，并对 steering label 取反。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轻量光照/噪声扰动，加入 temporal split + purge gap。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新增 val loss 曲线，比较各策略收敛过程。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结论卡片"/>
          <p:cNvSpPr>
            <a:spLocks noGrp="1"/>
          </p:cNvSpPr>
          <p:nvPr/>
        </p:nvSpPr>
        <p:spPr>
          <a:xfrm>
            <a:off x="609600" y="5238750"/>
            <a:ext cx="10972800" cy="762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结论强调线"/>
          <p:cNvSpPr>
            <a:spLocks noGrp="1"/>
          </p:cNvSpPr>
          <p:nvPr/>
        </p:nvSpPr>
        <p:spPr>
          <a:xfrm>
            <a:off x="609600" y="5238750"/>
            <a:ext cx="57150" cy="7620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结论文字"/>
          <p:cNvSpPr>
            <a:spLocks noGrp="1"/>
          </p:cNvSpPr>
          <p:nvPr/>
        </p:nvSpPr>
        <p:spPr>
          <a:xfrm>
            <a:off x="800100" y="5381625"/>
            <a:ext cx="10591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结论：行为克隆回归任务的数据增强必须保证视觉变化与 steering label 物理一致；否则增强会制造错误监督。</a:t>
            </a:r>
            <a:endParaRPr sz="112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9" name="关键证据"/>
          <p:cNvSpPr>
            <a:spLocks noGrp="1"/>
          </p:cNvSpPr>
          <p:nvPr/>
        </p:nvSpPr>
        <p:spPr>
          <a:xfrm>
            <a:off x="800100" y="5686425"/>
            <a:ext cx="10591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85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关键证据：随机帧划分中，验证帧附近 ±1 帧训练邻居约 96.2%，±5 帧约 100%；新 split 使用 temporal block + purge gap 降低泄漏。</a:t>
            </a:r>
            <a:endParaRPr sz="85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0" name="页脚分隔线"/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页码"/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00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400475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0D47373A-E432-8938-83DC-F905A0CE52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5C3466-32D6-079C-B712-1B185C618EE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0682F5-2E32-96D7-C246-28D83080BDE2}"/>
              </a:ext>
            </a:extLst>
          </p:cNvPr>
          <p:cNvSpPr txBox="1"/>
          <p:nvPr/>
        </p:nvSpPr>
        <p:spPr>
          <a:xfrm>
            <a:off x="609600" y="381000"/>
            <a:ext cx="279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第十部分 </a:t>
            </a:r>
            <a:r>
              <a:rPr lang="en-US" altLang="zh-CN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困难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60C526-5BA6-9B57-A25D-D14B516B3104}"/>
              </a:ext>
            </a:extLst>
          </p:cNvPr>
          <p:cNvSpPr txBox="1"/>
          <p:nvPr/>
        </p:nvSpPr>
        <p:spPr>
          <a:xfrm>
            <a:off x="609600" y="736600"/>
            <a:ext cx="965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困难二：完整 </a:t>
            </a:r>
            <a:r>
              <a:rPr lang="en-US" altLang="zh-CN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大融合没有比不融合更快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63789B2-E835-7B6F-AE33-40FA1DB90A9A}"/>
              </a:ext>
            </a:extLst>
          </p:cNvPr>
          <p:cNvSpPr txBox="1"/>
          <p:nvPr/>
        </p:nvSpPr>
        <p:spPr>
          <a:xfrm>
            <a:off x="609600" y="1320800"/>
            <a:ext cx="10414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这不是 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trace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或图扫描失败，而是“融合粒度变大”后，底层卷积、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BN reduction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workspace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没有同步升级为 </a:t>
            </a:r>
            <a:r>
              <a:rPr lang="en-US" altLang="zh-CN" sz="105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cuDNN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/CUTLASS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级高性能实现。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53C3C6-B77C-15A8-3E2A-6E42389C1203}"/>
              </a:ext>
            </a:extLst>
          </p:cNvPr>
          <p:cNvSpPr/>
          <p:nvPr/>
        </p:nvSpPr>
        <p:spPr>
          <a:xfrm>
            <a:off x="698500" y="1905000"/>
            <a:ext cx="38100" cy="7366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DEBADD-A2FC-98A6-4418-CF3182098338}"/>
              </a:ext>
            </a:extLst>
          </p:cNvPr>
          <p:cNvSpPr txBox="1"/>
          <p:nvPr/>
        </p:nvSpPr>
        <p:spPr>
          <a:xfrm>
            <a:off x="8509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13.63x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B72999-E939-A857-DFB3-D9785CE73BBE}"/>
              </a:ext>
            </a:extLst>
          </p:cNvPr>
          <p:cNvSpPr txBox="1"/>
          <p:nvPr/>
        </p:nvSpPr>
        <p:spPr>
          <a:xfrm>
            <a:off x="8509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total batch p50 </a:t>
            </a:r>
            <a:r>
              <a:rPr lang="zh-CN" altLang="en-US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慢于 </a:t>
            </a:r>
            <a:r>
              <a:rPr lang="en-US" altLang="zh-CN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PyTorch</a:t>
            </a:r>
            <a:endParaRPr lang="zh-CN" altLang="en-US" sz="82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2BD978-2751-84A1-F4BC-6ECFFEAF4FD6}"/>
              </a:ext>
            </a:extLst>
          </p:cNvPr>
          <p:cNvSpPr/>
          <p:nvPr/>
        </p:nvSpPr>
        <p:spPr>
          <a:xfrm>
            <a:off x="3022600" y="1905000"/>
            <a:ext cx="38100" cy="7366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C899FE-58E6-5B9C-4465-A29D031CB05D}"/>
              </a:ext>
            </a:extLst>
          </p:cNvPr>
          <p:cNvSpPr txBox="1"/>
          <p:nvPr/>
        </p:nvSpPr>
        <p:spPr>
          <a:xfrm>
            <a:off x="31750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28.20x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3ADC0B9-22F9-9A2D-5B71-577D954D080D}"/>
              </a:ext>
            </a:extLst>
          </p:cNvPr>
          <p:cNvSpPr txBox="1"/>
          <p:nvPr/>
        </p:nvSpPr>
        <p:spPr>
          <a:xfrm>
            <a:off x="31750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F97316"/>
                </a:solidFill>
                <a:latin typeface="Microsoft YaHei" panose="020B0503020204020204" pitchFamily="34" charset="-122"/>
              </a:rPr>
              <a:t>backward p50 </a:t>
            </a:r>
            <a:r>
              <a:rPr lang="zh-CN" altLang="en-US" sz="820" b="1">
                <a:solidFill>
                  <a:srgbClr val="F97316"/>
                </a:solidFill>
                <a:latin typeface="Microsoft YaHei" panose="020B0503020204020204" pitchFamily="34" charset="-122"/>
              </a:rPr>
              <a:t>是最大瓶颈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06E175-D584-7A14-8F37-CA602755CCC5}"/>
              </a:ext>
            </a:extLst>
          </p:cNvPr>
          <p:cNvSpPr/>
          <p:nvPr/>
        </p:nvSpPr>
        <p:spPr>
          <a:xfrm>
            <a:off x="5346700" y="1905000"/>
            <a:ext cx="38100" cy="73660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9FD707B-2101-FCCB-6818-E1DEDF902BEE}"/>
              </a:ext>
            </a:extLst>
          </p:cNvPr>
          <p:cNvSpPr txBox="1"/>
          <p:nvPr/>
        </p:nvSpPr>
        <p:spPr>
          <a:xfrm>
            <a:off x="54991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0.0047 ms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7DB17E0-0755-5ADC-22FF-73E4D0BC3210}"/>
              </a:ext>
            </a:extLst>
          </p:cNvPr>
          <p:cNvSpPr txBox="1"/>
          <p:nvPr/>
        </p:nvSpPr>
        <p:spPr>
          <a:xfrm>
            <a:off x="54991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16A34A"/>
                </a:solidFill>
                <a:latin typeface="Microsoft YaHei" panose="020B0503020204020204" pitchFamily="34" charset="-122"/>
              </a:rPr>
              <a:t>loader fetch p50 </a:t>
            </a:r>
            <a:r>
              <a:rPr lang="zh-CN" altLang="en-US" sz="820" b="1">
                <a:solidFill>
                  <a:srgbClr val="16A34A"/>
                </a:solidFill>
                <a:latin typeface="Microsoft YaHei" panose="020B0503020204020204" pitchFamily="34" charset="-122"/>
              </a:rPr>
              <a:t>很低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71D9ADD-6CFA-6A1B-25C6-492E216DF75F}"/>
              </a:ext>
            </a:extLst>
          </p:cNvPr>
          <p:cNvSpPr/>
          <p:nvPr/>
        </p:nvSpPr>
        <p:spPr>
          <a:xfrm>
            <a:off x="8077200" y="1905000"/>
            <a:ext cx="38100" cy="7366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9B76ED3-90CF-0B7A-3F70-4FF4DBA44374}"/>
              </a:ext>
            </a:extLst>
          </p:cNvPr>
          <p:cNvSpPr txBox="1"/>
          <p:nvPr/>
        </p:nvSpPr>
        <p:spPr>
          <a:xfrm>
            <a:off x="82296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BN-only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D302ADA-F944-5288-8277-C1715298699A}"/>
              </a:ext>
            </a:extLst>
          </p:cNvPr>
          <p:cNvSpPr txBox="1"/>
          <p:nvPr/>
        </p:nvSpPr>
        <p:spPr>
          <a:xfrm>
            <a:off x="82296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当前训练 </a:t>
            </a:r>
            <a:r>
              <a:rPr lang="en-US" altLang="zh-CN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默认策略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C7CE944-858F-D31C-C521-21F36D7BD137}"/>
              </a:ext>
            </a:extLst>
          </p:cNvPr>
          <p:cNvSpPr/>
          <p:nvPr/>
        </p:nvSpPr>
        <p:spPr>
          <a:xfrm>
            <a:off x="889000" y="3048000"/>
            <a:ext cx="1651000" cy="558800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17C2A84-57DB-C10D-6958-6403CEC65E1B}"/>
              </a:ext>
            </a:extLst>
          </p:cNvPr>
          <p:cNvSpPr txBox="1"/>
          <p:nvPr/>
        </p:nvSpPr>
        <p:spPr>
          <a:xfrm>
            <a:off x="965200" y="3162300"/>
            <a:ext cx="1498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期望：节点更少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359C0A5-6480-AC99-12AB-D7A8C72317A0}"/>
              </a:ext>
            </a:extLst>
          </p:cNvPr>
          <p:cNvCxnSpPr/>
          <p:nvPr/>
        </p:nvCxnSpPr>
        <p:spPr>
          <a:xfrm>
            <a:off x="2641600" y="3327400"/>
            <a:ext cx="698500" cy="0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80DC5FCC-FCA6-885D-BC95-B368468EC960}"/>
              </a:ext>
            </a:extLst>
          </p:cNvPr>
          <p:cNvSpPr txBox="1"/>
          <p:nvPr/>
        </p:nvSpPr>
        <p:spPr>
          <a:xfrm>
            <a:off x="32385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0F766E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59D1C0D-42E8-0831-20B0-C9DDC084E40A}"/>
              </a:ext>
            </a:extLst>
          </p:cNvPr>
          <p:cNvSpPr/>
          <p:nvPr/>
        </p:nvSpPr>
        <p:spPr>
          <a:xfrm>
            <a:off x="3454400" y="3048000"/>
            <a:ext cx="2032000" cy="558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584396-8D36-666D-582F-CAAC31A9FA02}"/>
              </a:ext>
            </a:extLst>
          </p:cNvPr>
          <p:cNvSpPr txBox="1"/>
          <p:nvPr/>
        </p:nvSpPr>
        <p:spPr>
          <a:xfrm>
            <a:off x="3530600" y="3162300"/>
            <a:ext cx="1879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Conv+BN+ReLU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大融合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379E129-0590-C65F-EE2A-9B23DEC36E0D}"/>
              </a:ext>
            </a:extLst>
          </p:cNvPr>
          <p:cNvCxnSpPr/>
          <p:nvPr/>
        </p:nvCxnSpPr>
        <p:spPr>
          <a:xfrm>
            <a:off x="5588000" y="3327400"/>
            <a:ext cx="698500" cy="0"/>
          </a:xfrm>
          <a:prstGeom prst="line">
            <a:avLst/>
          </a:prstGeom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4D20C681-9C7C-CF2E-3BEA-FA5E571AE9E1}"/>
              </a:ext>
            </a:extLst>
          </p:cNvPr>
          <p:cNvSpPr txBox="1"/>
          <p:nvPr/>
        </p:nvSpPr>
        <p:spPr>
          <a:xfrm>
            <a:off x="61849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F97316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F9731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0D978E9-7FE1-3654-EB11-F1A8954B2D8B}"/>
              </a:ext>
            </a:extLst>
          </p:cNvPr>
          <p:cNvSpPr/>
          <p:nvPr/>
        </p:nvSpPr>
        <p:spPr>
          <a:xfrm>
            <a:off x="6400800" y="3048000"/>
            <a:ext cx="1905000" cy="5588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22CF7A0-E830-9C75-8E15-E25BDF5755C7}"/>
              </a:ext>
            </a:extLst>
          </p:cNvPr>
          <p:cNvSpPr txBox="1"/>
          <p:nvPr/>
        </p:nvSpPr>
        <p:spPr>
          <a:xfrm>
            <a:off x="6477000" y="3162300"/>
            <a:ext cx="1752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实际：</a:t>
            </a:r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workspace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变重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33F6EFC-6BE3-C5CA-5969-5F615FCA884B}"/>
              </a:ext>
            </a:extLst>
          </p:cNvPr>
          <p:cNvCxnSpPr/>
          <p:nvPr/>
        </p:nvCxnSpPr>
        <p:spPr>
          <a:xfrm>
            <a:off x="8407400" y="3327400"/>
            <a:ext cx="698500" cy="0"/>
          </a:xfrm>
          <a:prstGeom prst="line">
            <a:avLst/>
          </a:prstGeom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7E480DF7-F4A5-D440-2086-EBE5B0852F0B}"/>
              </a:ext>
            </a:extLst>
          </p:cNvPr>
          <p:cNvSpPr txBox="1"/>
          <p:nvPr/>
        </p:nvSpPr>
        <p:spPr>
          <a:xfrm>
            <a:off x="90043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DC2626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32D4A99-2540-D587-168E-2508625B607C}"/>
              </a:ext>
            </a:extLst>
          </p:cNvPr>
          <p:cNvSpPr/>
          <p:nvPr/>
        </p:nvSpPr>
        <p:spPr>
          <a:xfrm>
            <a:off x="9220200" y="3048000"/>
            <a:ext cx="2159000" cy="55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2BA0243-746C-CFF5-274B-73FBE49F3751}"/>
              </a:ext>
            </a:extLst>
          </p:cNvPr>
          <p:cNvSpPr txBox="1"/>
          <p:nvPr/>
        </p:nvSpPr>
        <p:spPr>
          <a:xfrm>
            <a:off x="9296400" y="3162300"/>
            <a:ext cx="2006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结果：不如 </a:t>
            </a:r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BN-only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稳定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BE9F9A2-E21A-3566-1E7A-3C19F97DA07A}"/>
              </a:ext>
            </a:extLst>
          </p:cNvPr>
          <p:cNvSpPr/>
          <p:nvPr/>
        </p:nvSpPr>
        <p:spPr>
          <a:xfrm>
            <a:off x="698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F1F3D4C-3BF9-4276-AD95-BE3190655FC5}"/>
              </a:ext>
            </a:extLst>
          </p:cNvPr>
          <p:cNvSpPr/>
          <p:nvPr/>
        </p:nvSpPr>
        <p:spPr>
          <a:xfrm>
            <a:off x="698500" y="4064000"/>
            <a:ext cx="50800" cy="13716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B50A6F0-17BE-C14F-F6C6-C20F2DE6728D}"/>
              </a:ext>
            </a:extLst>
          </p:cNvPr>
          <p:cNvSpPr txBox="1"/>
          <p:nvPr/>
        </p:nvSpPr>
        <p:spPr>
          <a:xfrm>
            <a:off x="901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：只是图结构融合，不是高性能卷积内核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25BA499-DECA-D567-0EFA-5E426761D91A}"/>
              </a:ext>
            </a:extLst>
          </p:cNvPr>
          <p:cNvSpPr txBox="1"/>
          <p:nvPr/>
        </p:nvSpPr>
        <p:spPr>
          <a:xfrm>
            <a:off x="901700" y="4597400"/>
            <a:ext cx="3073400" cy="4339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FusedConvBNReLU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内部仍然离不开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im2col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GEMM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BN mean/var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ReLU mask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dCol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col2im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。节点少了，但核心计算路径并没有自动变成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cuDNN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级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kernel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F477004-CF68-3CAA-DF29-8CF97C82C567}"/>
              </a:ext>
            </a:extLst>
          </p:cNvPr>
          <p:cNvSpPr/>
          <p:nvPr/>
        </p:nvSpPr>
        <p:spPr>
          <a:xfrm>
            <a:off x="4381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D8D81D5-4E1A-91EB-950B-AC7EC0B2125B}"/>
              </a:ext>
            </a:extLst>
          </p:cNvPr>
          <p:cNvSpPr/>
          <p:nvPr/>
        </p:nvSpPr>
        <p:spPr>
          <a:xfrm>
            <a:off x="4381500" y="4064000"/>
            <a:ext cx="50800" cy="13716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3228DEE-3507-73D2-F965-D8C2FEAB58FC}"/>
              </a:ext>
            </a:extLst>
          </p:cNvPr>
          <p:cNvSpPr txBox="1"/>
          <p:nvPr/>
        </p:nvSpPr>
        <p:spPr>
          <a:xfrm>
            <a:off x="4584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2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stem 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大输入卷积放大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im2col 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成本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CD772AD-1AD6-692B-7C93-5763DB8731DE}"/>
              </a:ext>
            </a:extLst>
          </p:cNvPr>
          <p:cNvSpPr txBox="1"/>
          <p:nvPr/>
        </p:nvSpPr>
        <p:spPr>
          <a:xfrm>
            <a:off x="4584700" y="4597400"/>
            <a:ext cx="3073400" cy="4339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ResNet18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第一层输入空间大，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Conv-BN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大融合会产生更大的临时展开矩阵和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workspace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中最慢节点集中在这类大输入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fused conv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上。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D18FD08-4A51-1FA2-B6C1-3B63BEECB9A3}"/>
              </a:ext>
            </a:extLst>
          </p:cNvPr>
          <p:cNvSpPr/>
          <p:nvPr/>
        </p:nvSpPr>
        <p:spPr>
          <a:xfrm>
            <a:off x="8064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B591E09-A8B8-D6B8-B5E0-CEAF09E729D9}"/>
              </a:ext>
            </a:extLst>
          </p:cNvPr>
          <p:cNvSpPr/>
          <p:nvPr/>
        </p:nvSpPr>
        <p:spPr>
          <a:xfrm>
            <a:off x="8064500" y="4064000"/>
            <a:ext cx="50800" cy="13716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6213E76-411F-43F4-DA58-09BECA27A582}"/>
              </a:ext>
            </a:extLst>
          </p:cNvPr>
          <p:cNvSpPr txBox="1"/>
          <p:nvPr/>
        </p:nvSpPr>
        <p:spPr>
          <a:xfrm>
            <a:off x="8267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3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：训练看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backward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，不只看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forward</a:t>
            </a:r>
            <a:endParaRPr lang="zh-CN" altLang="en-US" sz="135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1DB9AA-9A79-1D94-628F-ED987F4E4DE9}"/>
              </a:ext>
            </a:extLst>
          </p:cNvPr>
          <p:cNvSpPr txBox="1"/>
          <p:nvPr/>
        </p:nvSpPr>
        <p:spPr>
          <a:xfrm>
            <a:off x="8267700" y="4597400"/>
            <a:ext cx="3073400" cy="5786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Conv-BN-Add-</a:t>
            </a:r>
            <a:r>
              <a:rPr lang="en-US" altLang="zh-CN" sz="94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ReLU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要同时处理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BN reduction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gamma/beta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weight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input grad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identity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；当前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比 </a:t>
            </a:r>
            <a:r>
              <a:rPr lang="en-US" altLang="zh-CN" sz="94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PyTorch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慢得多。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7C5848E-3C44-2AE9-C578-0AF242603E9F}"/>
              </a:ext>
            </a:extLst>
          </p:cNvPr>
          <p:cNvSpPr/>
          <p:nvPr/>
        </p:nvSpPr>
        <p:spPr>
          <a:xfrm>
            <a:off x="698500" y="5791200"/>
            <a:ext cx="10795000" cy="609600"/>
          </a:xfrm>
          <a:prstGeom prst="rect">
            <a:avLst/>
          </a:prstGeom>
          <a:solidFill>
            <a:srgbClr val="ECFDF5"/>
          </a:solidFill>
          <a:ln w="9525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43A50ED-FBDE-103D-8E9E-80616AA83EFE}"/>
              </a:ext>
            </a:extLst>
          </p:cNvPr>
          <p:cNvSpPr txBox="1"/>
          <p:nvPr/>
        </p:nvSpPr>
        <p:spPr>
          <a:xfrm>
            <a:off x="952500" y="5943600"/>
            <a:ext cx="1397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F766E"/>
                </a:solidFill>
                <a:latin typeface="Microsoft YaHei" panose="020B0503020204020204" pitchFamily="34" charset="-122"/>
              </a:rPr>
              <a:t>答辩表述建议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938A955-B692-69E1-7C88-7638735AE5F4}"/>
              </a:ext>
            </a:extLst>
          </p:cNvPr>
          <p:cNvSpPr txBox="1"/>
          <p:nvPr/>
        </p:nvSpPr>
        <p:spPr>
          <a:xfrm>
            <a:off x="2413000" y="5905500"/>
            <a:ext cx="85725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完整 </a:t>
            </a:r>
            <a:r>
              <a:rPr lang="en-US" altLang="zh-CN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的困难不是“不会融合”，而是融合后算子内部还没有真正高性能化；因此训练默认选择 </a:t>
            </a:r>
            <a:r>
              <a:rPr lang="en-US" altLang="zh-CN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BN-only </a:t>
            </a:r>
            <a:r>
              <a:rPr lang="zh-CN" altLang="en-US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融合，把 </a:t>
            </a:r>
            <a:r>
              <a:rPr lang="en-US" altLang="zh-CN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Conv-BN </a:t>
            </a:r>
            <a:r>
              <a:rPr lang="zh-CN" altLang="en-US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大融合作为实验策略保留。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8BE3C5F-5EFA-51F1-F4A8-38AAC56FA0E8}"/>
              </a:ext>
            </a:extLst>
          </p:cNvPr>
          <p:cNvSpPr txBox="1"/>
          <p:nvPr/>
        </p:nvSpPr>
        <p:spPr>
          <a:xfrm>
            <a:off x="9398000" y="6527800"/>
            <a:ext cx="2159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750">
                <a:solidFill>
                  <a:srgbClr val="64748B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750">
                <a:solidFill>
                  <a:srgbClr val="64748B"/>
                </a:solidFill>
                <a:latin typeface="Microsoft YaHei" panose="020B0503020204020204" pitchFamily="34" charset="-122"/>
              </a:rPr>
              <a:t>自动驾驶框架答辩 </a:t>
            </a:r>
            <a:r>
              <a:rPr lang="en-US" altLang="zh-CN" sz="750">
                <a:solidFill>
                  <a:srgbClr val="64748B"/>
                </a:solidFill>
                <a:latin typeface="Microsoft YaHei" panose="020B0503020204020204" pitchFamily="34" charset="-122"/>
              </a:rPr>
              <a:t>| 18</a:t>
            </a:r>
            <a:endParaRPr lang="zh-CN" altLang="en-US" sz="75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169418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2153</Words>
  <Application>Microsoft Office PowerPoint</Application>
  <DocSecurity>0</DocSecurity>
  <PresentationFormat>宽屏</PresentationFormat>
  <Paragraphs>400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宾斌 罗</cp:lastModifiedBy>
  <cp:revision>11</cp:revision>
  <dcterms:created xsi:type="dcterms:W3CDTF">2026-05-19T13:12:39Z</dcterms:created>
  <dcterms:modified xsi:type="dcterms:W3CDTF">2026-05-21T02:58:06Z</dcterms:modified>
</cp:coreProperties>
</file>