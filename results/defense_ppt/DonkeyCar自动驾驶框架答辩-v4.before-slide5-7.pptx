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 DonkeyCar 的自动驾驶深度学习框架答辩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9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image_path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ResNet18 与 PyTorch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对比训练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ReLU + MaxPool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BasicBlock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GlobalAvgPool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MSELoss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lr=1e-4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ABD7AB-9280-47FE-9635-28D3F6108326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2762250" cy="1600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DFB879-FA74-46B8-ABAE-0D93BA7EDDAC}"/>
              </a:ext>
            </a:extLst>
          </p:cNvPr>
          <p:cNvSpPr>
            <a:spLocks noGrp="1"/>
          </p:cNvSpPr>
          <p:nvPr/>
        </p:nvSpPr>
        <p:spPr>
          <a:xfrm>
            <a:off x="8267700" y="22860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AE190C-C9F7-490C-9AED-1386835C9B34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正确率实验缺失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4CB85B-27AD-4ED8-81E1-28F9E038CE33}"/>
              </a:ext>
            </a:extLst>
          </p:cNvPr>
          <p:cNvSpPr>
            <a:spLocks noGrp="1"/>
          </p:cNvSpPr>
          <p:nvPr/>
        </p:nvSpPr>
        <p:spPr>
          <a:xfrm>
            <a:off x="8267700" y="287655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当前没有逐样本预测保存，无法直接计算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accuracy。建议新增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acc@0.05 / acc@0.10：当 |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预测角-真实角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|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小于阈值时计为正确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08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已实现基础处理和五组增强消融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增强策略包括随机裁剪、旋转、颜色抖动、MixUp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C22C54-C925-4083-B1F5-8B69BBC54223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4381500" cy="3543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B4E20A-09E9-4FE8-9C25-3E5367CA2D76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增强消融结果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C31DD2-D3A5-4ADB-BE0B-91B67F3536C8}"/>
              </a:ext>
            </a:extLst>
          </p:cNvPr>
          <p:cNvSpPr>
            <a:spLocks noGrp="1"/>
          </p:cNvSpPr>
          <p:nvPr/>
        </p:nvSpPr>
        <p:spPr>
          <a:xfrm>
            <a:off x="1028700" y="2838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variant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BB57F1-EE78-48C2-A176-7780352CA7E6}"/>
              </a:ext>
            </a:extLst>
          </p:cNvPr>
          <p:cNvSpPr>
            <a:spLocks noGrp="1"/>
          </p:cNvSpPr>
          <p:nvPr/>
        </p:nvSpPr>
        <p:spPr>
          <a:xfrm>
            <a:off x="2914650" y="2838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VAL_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FE8C4B-E76E-427E-BEB0-73F0894F4BA2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133814-4BFB-4992-8798-06D6BF80BFA3}"/>
              </a:ext>
            </a:extLst>
          </p:cNvPr>
          <p:cNvSpPr>
            <a:spLocks noGrp="1"/>
          </p:cNvSpPr>
          <p:nvPr/>
        </p:nvSpPr>
        <p:spPr>
          <a:xfrm>
            <a:off x="2914650" y="31623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sz="1065" b="0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1908</a:t>
            </a:r>
            <a:endParaRPr sz="1065" b="0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97E244-24EE-43B7-AF0D-A53BDA027947}"/>
              </a:ext>
            </a:extLst>
          </p:cNvPr>
          <p:cNvSpPr>
            <a:spLocks noGrp="1"/>
          </p:cNvSpPr>
          <p:nvPr/>
        </p:nvSpPr>
        <p:spPr>
          <a:xfrm>
            <a:off x="1028700" y="3524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65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065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44A276-B1DA-40BB-92EE-DA8C2DFE146D}"/>
              </a:ext>
            </a:extLst>
          </p:cNvPr>
          <p:cNvSpPr>
            <a:spLocks noGrp="1"/>
          </p:cNvSpPr>
          <p:nvPr/>
        </p:nvSpPr>
        <p:spPr>
          <a:xfrm>
            <a:off x="2914650" y="35242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sz="1065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2366</a:t>
            </a:r>
            <a:endParaRPr sz="1065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1E3CC0-C206-4066-874B-E746EAF05BE3}"/>
              </a:ext>
            </a:extLst>
          </p:cNvPr>
          <p:cNvSpPr>
            <a:spLocks noGrp="1"/>
          </p:cNvSpPr>
          <p:nvPr/>
        </p:nvSpPr>
        <p:spPr>
          <a:xfrm>
            <a:off x="1010771" y="431650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065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2E5C80-AE3C-4668-96E7-4E896B694C2F}"/>
              </a:ext>
            </a:extLst>
          </p:cNvPr>
          <p:cNvSpPr>
            <a:spLocks noGrp="1"/>
          </p:cNvSpPr>
          <p:nvPr/>
        </p:nvSpPr>
        <p:spPr>
          <a:xfrm>
            <a:off x="2896721" y="4316505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65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0.02176</a:t>
            </a:r>
            <a:endParaRPr sz="1065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8CD9BB-3303-4E1E-801D-603CA3A42D83}"/>
              </a:ext>
            </a:extLst>
          </p:cNvPr>
          <p:cNvSpPr>
            <a:spLocks noGrp="1"/>
          </p:cNvSpPr>
          <p:nvPr/>
        </p:nvSpPr>
        <p:spPr>
          <a:xfrm>
            <a:off x="1010771" y="467845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065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0F4FD6-4DCA-442B-AEF1-C8A402481AD3}"/>
              </a:ext>
            </a:extLst>
          </p:cNvPr>
          <p:cNvSpPr>
            <a:spLocks noGrp="1"/>
          </p:cNvSpPr>
          <p:nvPr/>
        </p:nvSpPr>
        <p:spPr>
          <a:xfrm>
            <a:off x="2896721" y="4678455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0.05445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35B2E7-281F-4D90-9EF9-3BCFCABD6209}"/>
              </a:ext>
            </a:extLst>
          </p:cNvPr>
          <p:cNvSpPr>
            <a:spLocks noGrp="1"/>
          </p:cNvSpPr>
          <p:nvPr/>
        </p:nvSpPr>
        <p:spPr>
          <a:xfrm>
            <a:off x="1046629" y="3928782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65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065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0F3F43-2C63-42E4-AC73-E51B3FEDE9D6}"/>
              </a:ext>
            </a:extLst>
          </p:cNvPr>
          <p:cNvSpPr>
            <a:spLocks noGrp="1"/>
          </p:cNvSpPr>
          <p:nvPr/>
        </p:nvSpPr>
        <p:spPr>
          <a:xfrm>
            <a:off x="2932579" y="3928782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sz="1065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1945</a:t>
            </a:r>
            <a:endParaRPr sz="1065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8F2B4E-BDB8-4DD7-B06B-E48522A4AB23}"/>
              </a:ext>
            </a:extLst>
          </p:cNvPr>
          <p:cNvSpPr>
            <a:spLocks noGrp="1"/>
          </p:cNvSpPr>
          <p:nvPr/>
        </p:nvSpPr>
        <p:spPr>
          <a:xfrm>
            <a:off x="1028700" y="49911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8A2E56-A904-4AE4-B716-D5AD2A97A890}"/>
              </a:ext>
            </a:extLst>
          </p:cNvPr>
          <p:cNvSpPr>
            <a:spLocks noGrp="1"/>
          </p:cNvSpPr>
          <p:nvPr/>
        </p:nvSpPr>
        <p:spPr>
          <a:xfrm>
            <a:off x="2609850" y="5086350"/>
            <a:ext cx="1238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007322-0339-41F2-8B0E-E8C53BD52D64}"/>
              </a:ext>
            </a:extLst>
          </p:cNvPr>
          <p:cNvSpPr>
            <a:spLocks noGrp="1"/>
          </p:cNvSpPr>
          <p:nvPr/>
        </p:nvSpPr>
        <p:spPr>
          <a:xfrm>
            <a:off x="2609850" y="5086350"/>
            <a:ext cx="61541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DC0C6D-8977-46A9-8652-1DAB8C5F06E0}"/>
              </a:ext>
            </a:extLst>
          </p:cNvPr>
          <p:cNvSpPr>
            <a:spLocks noGrp="1"/>
          </p:cNvSpPr>
          <p:nvPr/>
        </p:nvSpPr>
        <p:spPr>
          <a:xfrm>
            <a:off x="3943350" y="49911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0.0298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EE71C3D-F1EA-4B13-B44B-88B44F752E04}"/>
              </a:ext>
            </a:extLst>
          </p:cNvPr>
          <p:cNvSpPr>
            <a:spLocks noGrp="1"/>
          </p:cNvSpPr>
          <p:nvPr/>
        </p:nvSpPr>
        <p:spPr>
          <a:xfrm>
            <a:off x="1028700" y="5257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5A6D7EA-F231-45AA-A7E3-50BDF3EB6FD3}"/>
              </a:ext>
            </a:extLst>
          </p:cNvPr>
          <p:cNvSpPr>
            <a:spLocks noGrp="1"/>
          </p:cNvSpPr>
          <p:nvPr/>
        </p:nvSpPr>
        <p:spPr>
          <a:xfrm>
            <a:off x="2609850" y="5353050"/>
            <a:ext cx="1238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24C76D-50E9-44F7-B45B-3E12989A3C08}"/>
              </a:ext>
            </a:extLst>
          </p:cNvPr>
          <p:cNvSpPr>
            <a:spLocks noGrp="1"/>
          </p:cNvSpPr>
          <p:nvPr/>
        </p:nvSpPr>
        <p:spPr>
          <a:xfrm>
            <a:off x="2609850" y="5353050"/>
            <a:ext cx="123144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344AD25-9026-4A64-989F-3E881641967C}"/>
              </a:ext>
            </a:extLst>
          </p:cNvPr>
          <p:cNvSpPr>
            <a:spLocks noGrp="1"/>
          </p:cNvSpPr>
          <p:nvPr/>
        </p:nvSpPr>
        <p:spPr>
          <a:xfrm>
            <a:off x="3943350" y="5257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0.0597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5773271" y="977153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93753" y="1093694"/>
            <a:ext cx="5259729" cy="4262719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EF041029-26AE-41CB-82D2-82AF676C3B1F}"/>
              </a:ext>
            </a:extLst>
          </p:cNvPr>
          <p:cNvSpPr>
            <a:spLocks noGrp="1"/>
          </p:cNvSpPr>
          <p:nvPr/>
        </p:nvSpPr>
        <p:spPr>
          <a:xfrm>
            <a:off x="6164356" y="5425888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结论</a:t>
            </a:r>
            <a:r>
              <a:rPr sz="1163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163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当前数据增强方式对于该任务训练结果并无增强</a:t>
            </a:r>
            <a:endParaRPr sz="1163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 stride、padding、dilation、groups，并兼容 CPU/GPU 后端。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 保存 argmax；AvgPool 均匀分配梯度；均用窗口展开验证。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基础算子支持多种卷积形态；DonkeyCar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当前主要使用普通卷积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不同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kernel size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和特殊卷积对模型效果的影响仍缺少系统消融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075FDB-9242-41C9-859B-A2C14E325178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10287000" cy="23622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42EA2A-2C03-4D2E-984B-F82DC9709754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89C22D-6178-498A-AD6C-9B8A1481D1DD}"/>
              </a:ext>
            </a:extLst>
          </p:cNvPr>
          <p:cNvSpPr>
            <a:spLocks noGrp="1"/>
          </p:cNvSpPr>
          <p:nvPr/>
        </p:nvSpPr>
        <p:spPr>
          <a:xfrm>
            <a:off x="2686050" y="23812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当前应用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1DB4DE-807C-4FF8-B87B-A76E3D8428A2}"/>
              </a:ext>
            </a:extLst>
          </p:cNvPr>
          <p:cNvSpPr>
            <a:spLocks noGrp="1"/>
          </p:cNvSpPr>
          <p:nvPr/>
        </p:nvSpPr>
        <p:spPr>
          <a:xfrm>
            <a:off x="4629150" y="23812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00128A-25E0-40B1-8D59-288FA6117792}"/>
              </a:ext>
            </a:extLst>
          </p:cNvPr>
          <p:cNvSpPr>
            <a:spLocks noGrp="1"/>
          </p:cNvSpPr>
          <p:nvPr/>
        </p:nvSpPr>
        <p:spPr>
          <a:xfrm>
            <a:off x="7239000" y="23812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E529B3-2944-4EC4-B8B7-41764A0876C1}"/>
              </a:ext>
            </a:extLst>
          </p:cNvPr>
          <p:cNvSpPr>
            <a:spLocks noGrp="1"/>
          </p:cNvSpPr>
          <p:nvPr/>
        </p:nvSpPr>
        <p:spPr>
          <a:xfrm>
            <a:off x="9639300" y="2381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E6AB75-827E-4F5C-A37E-487007C4D72F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1/3/5/31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D396BE-40AD-4E8A-AC48-BD983EC0A0D4}"/>
              </a:ext>
            </a:extLst>
          </p:cNvPr>
          <p:cNvSpPr>
            <a:spLocks noGrp="1"/>
          </p:cNvSpPr>
          <p:nvPr/>
        </p:nvSpPr>
        <p:spPr>
          <a:xfrm>
            <a:off x="2686050" y="27813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主用 7/3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415D68-4C6A-4DFB-B6B7-D05EED209F05}"/>
              </a:ext>
            </a:extLst>
          </p:cNvPr>
          <p:cNvSpPr>
            <a:spLocks noGrp="1"/>
          </p:cNvSpPr>
          <p:nvPr/>
        </p:nvSpPr>
        <p:spPr>
          <a:xfrm>
            <a:off x="4629150" y="2781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算子支持任意 KH/KW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A438AB-2EE3-48EC-976A-C86A748393B1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缺少尺寸消融效果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D7766A-6C86-4A44-A5C5-2FA87A84D060}"/>
              </a:ext>
            </a:extLst>
          </p:cNvPr>
          <p:cNvSpPr>
            <a:spLocks noGrp="1"/>
          </p:cNvSpPr>
          <p:nvPr/>
        </p:nvSpPr>
        <p:spPr>
          <a:xfrm>
            <a:off x="9639300" y="27813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55D23D-2789-45EA-AD81-5DF2535C4135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深度可分离卷积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F25F53-C2AE-4AEC-9E96-1C739348AD9F}"/>
              </a:ext>
            </a:extLst>
          </p:cNvPr>
          <p:cNvSpPr>
            <a:spLocks noGrp="1"/>
          </p:cNvSpPr>
          <p:nvPr/>
        </p:nvSpPr>
        <p:spPr>
          <a:xfrm>
            <a:off x="2686050" y="31813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B6E686-4D23-405C-9E57-02988B4E2A5A}"/>
              </a:ext>
            </a:extLst>
          </p:cNvPr>
          <p:cNvSpPr>
            <a:spLocks noGrp="1"/>
          </p:cNvSpPr>
          <p:nvPr/>
        </p:nvSpPr>
        <p:spPr>
          <a:xfrm>
            <a:off x="4629150" y="3181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depthwise correctness PASS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B8E8FF-412A-4D8D-A8A8-79071369B2BE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 DonkeyCar 应用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5543D3-302B-441A-ACC4-7029F244C60A}"/>
              </a:ext>
            </a:extLst>
          </p:cNvPr>
          <p:cNvSpPr>
            <a:spLocks noGrp="1"/>
          </p:cNvSpPr>
          <p:nvPr/>
        </p:nvSpPr>
        <p:spPr>
          <a:xfrm>
            <a:off x="963930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74562F-B128-40CB-A14D-3186044FB9C1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分组卷积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DF20B-355E-4C04-9894-11FE6E3F94B2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3024B4D-8A16-49DD-A313-A72D07CE7A8F}"/>
              </a:ext>
            </a:extLst>
          </p:cNvPr>
          <p:cNvSpPr>
            <a:spLocks noGrp="1"/>
          </p:cNvSpPr>
          <p:nvPr/>
        </p:nvSpPr>
        <p:spPr>
          <a:xfrm>
            <a:off x="4629150" y="35814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groups=2 correctness PASS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46232F-1F1E-4204-A522-1A6766D0186B}"/>
              </a:ext>
            </a:extLst>
          </p:cNvPr>
          <p:cNvSpPr>
            <a:spLocks noGrp="1"/>
          </p:cNvSpPr>
          <p:nvPr/>
        </p:nvSpPr>
        <p:spPr>
          <a:xfrm>
            <a:off x="7239000" y="35814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缺少性能/效果消融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D2D52A-B73E-4492-9503-6D88863A8EBA}"/>
              </a:ext>
            </a:extLst>
          </p:cNvPr>
          <p:cNvSpPr>
            <a:spLocks noGrp="1"/>
          </p:cNvSpPr>
          <p:nvPr/>
        </p:nvSpPr>
        <p:spPr>
          <a:xfrm>
            <a:off x="9639300" y="3581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F8A768-9A79-4F78-82E0-0DEF7D155C9E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扩张卷积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6632D8-E918-4334-93F6-3EDCC3B9ACA5}"/>
              </a:ext>
            </a:extLst>
          </p:cNvPr>
          <p:cNvSpPr>
            <a:spLocks noGrp="1"/>
          </p:cNvSpPr>
          <p:nvPr/>
        </p:nvSpPr>
        <p:spPr>
          <a:xfrm>
            <a:off x="2686050" y="39814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E007BF-6995-4BFC-A7DD-5CD020CFADE9}"/>
              </a:ext>
            </a:extLst>
          </p:cNvPr>
          <p:cNvSpPr>
            <a:spLocks noGrp="1"/>
          </p:cNvSpPr>
          <p:nvPr/>
        </p:nvSpPr>
        <p:spPr>
          <a:xfrm>
            <a:off x="4629150" y="39814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dilation correctness PASS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3B81BB-A608-440A-ACF2-74CD80B10995}"/>
              </a:ext>
            </a:extLst>
          </p:cNvPr>
          <p:cNvSpPr>
            <a:spLocks noGrp="1"/>
          </p:cNvSpPr>
          <p:nvPr/>
        </p:nvSpPr>
        <p:spPr>
          <a:xfrm>
            <a:off x="7239000" y="39814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缺少模型级实验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CC7F5F-64CD-4293-90C2-A452F2B90B2F}"/>
              </a:ext>
            </a:extLst>
          </p:cNvPr>
          <p:cNvSpPr>
            <a:spLocks noGrp="1"/>
          </p:cNvSpPr>
          <p:nvPr/>
        </p:nvSpPr>
        <p:spPr>
          <a:xfrm>
            <a:off x="9639300" y="39814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9319E7-FDAC-4BC5-9D32-B50A60B82E95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E9838FD-F9C6-486B-88F5-D51767F51E1E}"/>
              </a:ext>
            </a:extLst>
          </p:cNvPr>
          <p:cNvSpPr>
            <a:spLocks noGrp="1"/>
          </p:cNvSpPr>
          <p:nvPr/>
        </p:nvSpPr>
        <p:spPr>
          <a:xfrm>
            <a:off x="106680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EECCB7-AFBE-4438-ABCA-1ABAEF570B0F}"/>
              </a:ext>
            </a:extLst>
          </p:cNvPr>
          <p:cNvSpPr>
            <a:spLocks noGrp="1"/>
          </p:cNvSpPr>
          <p:nvPr/>
        </p:nvSpPr>
        <p:spPr>
          <a:xfrm>
            <a:off x="106680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1/3/5/31 缺失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FDD7B2B-ABEC-4878-84C7-D48B0641D96B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ResNet18，仅替换 kernel size；报告 Val MSE、acc@阈值、FLOPs、latency。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732BA89-215B-48E1-BBA0-EAE1EBDE53EC}"/>
              </a:ext>
            </a:extLst>
          </p:cNvPr>
          <p:cNvSpPr>
            <a:spLocks noGrp="1"/>
          </p:cNvSpPr>
          <p:nvPr/>
        </p:nvSpPr>
        <p:spPr>
          <a:xfrm>
            <a:off x="434340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1DD5277-98D7-4669-B6F4-B6EC8E83DAD8}"/>
              </a:ext>
            </a:extLst>
          </p:cNvPr>
          <p:cNvSpPr>
            <a:spLocks noGrp="1"/>
          </p:cNvSpPr>
          <p:nvPr/>
        </p:nvSpPr>
        <p:spPr>
          <a:xfrm>
            <a:off x="451485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267ED0F-3CB7-49EA-999F-9971A31C8D86}"/>
              </a:ext>
            </a:extLst>
          </p:cNvPr>
          <p:cNvSpPr>
            <a:spLocks noGrp="1"/>
          </p:cNvSpPr>
          <p:nvPr/>
        </p:nvSpPr>
        <p:spPr>
          <a:xfrm>
            <a:off x="451485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转置卷积实验缺失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489D6D-330D-4C69-9CB7-1EC4106C34D0}"/>
              </a:ext>
            </a:extLst>
          </p:cNvPr>
          <p:cNvSpPr>
            <a:spLocks noGrp="1"/>
          </p:cNvSpPr>
          <p:nvPr/>
        </p:nvSpPr>
        <p:spPr>
          <a:xfrm>
            <a:off x="451485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代码存在；正确性表未覆盖转置卷积，需补 fwd/bwd/gradcheck。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ECF41EA-F101-40E2-B602-3F4D152D12D2}"/>
              </a:ext>
            </a:extLst>
          </p:cNvPr>
          <p:cNvSpPr>
            <a:spLocks noGrp="1"/>
          </p:cNvSpPr>
          <p:nvPr/>
        </p:nvSpPr>
        <p:spPr>
          <a:xfrm>
            <a:off x="779145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5A3DDF-6511-4BA5-8F12-51126FB582F1}"/>
              </a:ext>
            </a:extLst>
          </p:cNvPr>
          <p:cNvSpPr>
            <a:spLocks noGrp="1"/>
          </p:cNvSpPr>
          <p:nvPr/>
        </p:nvSpPr>
        <p:spPr>
          <a:xfrm>
            <a:off x="796290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663F4AB-E6C5-4C54-924C-5FD606057A74}"/>
              </a:ext>
            </a:extLst>
          </p:cNvPr>
          <p:cNvSpPr>
            <a:spLocks noGrp="1"/>
          </p:cNvSpPr>
          <p:nvPr/>
        </p:nvSpPr>
        <p:spPr>
          <a:xfrm>
            <a:off x="796290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特殊卷积应用缺失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B7C2AE4-94E7-4F9B-A812-2FAE4C0A25FB}"/>
              </a:ext>
            </a:extLst>
          </p:cNvPr>
          <p:cNvSpPr>
            <a:spLocks noGrp="1"/>
          </p:cNvSpPr>
          <p:nvPr/>
        </p:nvSpPr>
        <p:spPr>
          <a:xfrm>
            <a:off x="796290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算子级已验证，未接入 DonkeyCar；需补模型效果对比。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框架已有基于计算图的 JIT 跟踪、图优化和算子融合路径。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对比使用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JIT；缺少同配置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eager vs JIT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消融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 IRGraph / IRNode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 进行融合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 / CUDA RawKernel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 by-op 与慢节点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28625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已实现融合算子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181100" y="46291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FusedBNReLU、FusedAddReLU、FusedConv2dReLU、FusedConvBNReLU、FusedConvBNAddReLU、FusedMSELoss。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已有实验证据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ResNet18 已完成 20 epoch DonkeyCar 训练，并与 PyTorch 作性能/效果对比。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C2F408-465E-40DC-93C7-E850D7FC9416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3243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 消融缺失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MyTorch eager / JIT / fused：时间、batch p50、显存、Val MSE、节点数。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F70D22-4116-47BA-99B1-2A5828A7B67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代码：mytorch/jit.py, jit_pass.py, function.py；实验：donkeycar_resnet18_jit_vs_pytorch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已实现生产者-消费者式异步加载，DonkeyCar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训练配置已启用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async loader。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但还缺少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sync vs async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的独立消融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多个 worker 线程读取、解码、预处理 batch，并写入 Queue。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workers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481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maxsize = workers * prefetch_factor；训练线程从队列消费 batch。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训练循环执行 forward、backward、optimizer step。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loader fetch p50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已有结果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对比实验中 loader_fetch p50 很小，说明瓶颈不在取 batch，而在 backward 与内存管理。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并行加载消融缺失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固定模型和 batch size，对比 sync / async loader：吞吐、GPU 利用率、队列等待。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D7A0F5-369E-431B-A31C-24326B5874E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代码：mytorch/async_dataloader.py；配置：mytorch_loader=async, workers=4, prefetch=4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61412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764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95E520-DB83-4BED-835E-35D7F10BB5FA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15240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440632-F0F3-47BE-A0AF-4F2A442AFB80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C1323-CDD5-496A-9B2B-BAB74A984E87}"/>
              </a:ext>
            </a:extLst>
          </p:cNvPr>
          <p:cNvSpPr>
            <a:spLocks noGrp="1"/>
          </p:cNvSpPr>
          <p:nvPr/>
        </p:nvSpPr>
        <p:spPr>
          <a:xfrm>
            <a:off x="1238250" y="45910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2D53B3-D735-4287-845B-F53158D2226D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已有文件级原型与任务描述，可作为下一阶段工程化基础。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noGrp="1"/>
          </p:cNvSpPr>
          <p:nvPr/>
        </p:nvSpPr>
        <p:spPr>
          <a:xfrm>
            <a:off x="432435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noGrp="1"/>
          </p:cNvSpPr>
          <p:nvPr/>
        </p:nvSpPr>
        <p:spPr>
          <a:xfrm>
            <a:off x="44958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noGrp="1"/>
          </p:cNvSpPr>
          <p:nvPr/>
        </p:nvSpPr>
        <p:spPr>
          <a:xfrm>
            <a:off x="449580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noGrp="1"/>
          </p:cNvSpPr>
          <p:nvPr/>
        </p:nvSpPr>
        <p:spPr>
          <a:xfrm>
            <a:off x="790575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6745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7260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PyTorch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7260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75B8F9-EBA6-4A9D-8924-F039F1D3BF75}"/>
              </a:ext>
            </a:extLst>
          </p:cNvPr>
          <p:cNvSpPr>
            <a:spLocks noGrp="1"/>
          </p:cNvSpPr>
          <p:nvPr/>
        </p:nvSpPr>
        <p:spPr>
          <a:xfrm>
            <a:off x="6267450" y="4953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补充：显存峰值 MyTorch 4206.5MB，PyTorch 2822.5MB。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或图扫描失败，而是“融合粒度变大”后，底层卷积、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3A50ED-FBDE-103D-8E9E-80616AA83EFE}"/>
              </a:ext>
            </a:extLst>
          </p:cNvPr>
          <p:cNvSpPr txBox="1"/>
          <p:nvPr/>
        </p:nvSpPr>
        <p:spPr>
          <a:xfrm>
            <a:off x="952500" y="594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答辩表述建议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BE3C5F-5EFA-51F1-F4A8-38AAC56FA0E8}"/>
              </a:ext>
            </a:extLst>
          </p:cNvPr>
          <p:cNvSpPr txBox="1"/>
          <p:nvPr/>
        </p:nvSpPr>
        <p:spPr>
          <a:xfrm>
            <a:off x="9398000" y="6527800"/>
            <a:ext cx="2159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50">
                <a:solidFill>
                  <a:srgbClr val="64748B"/>
                </a:solidFill>
                <a:latin typeface="Microsoft YaHei" panose="020B0503020204020204" pitchFamily="34" charset="-122"/>
              </a:rPr>
              <a:t>自动驾驶框架答辩 </a:t>
            </a:r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| 18</a:t>
            </a:r>
            <a:endParaRPr lang="zh-CN" altLang="en-US" sz="75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1754</Words>
  <Application>Microsoft Office PowerPoint</Application>
  <DocSecurity>0</DocSecurity>
  <PresentationFormat>宽屏</PresentationFormat>
  <Paragraphs>369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4</cp:revision>
  <dcterms:created xsi:type="dcterms:W3CDTF">2026-05-19T13:12:39Z</dcterms:created>
  <dcterms:modified xsi:type="dcterms:W3CDTF">2026-05-20T09:02:22Z</dcterms:modified>
</cp:coreProperties>
</file>