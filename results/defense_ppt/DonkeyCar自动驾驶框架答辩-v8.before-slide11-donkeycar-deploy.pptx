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=64。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严重变差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80FD4E-F38D-E23B-58D7-7A0D66B04ADD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4D4115-EF04-A82B-9E92-8A6EBFD69562}"/>
              </a:ext>
            </a:extLst>
          </p:cNvPr>
          <p:cNvSpPr txBox="1"/>
          <p:nvPr/>
        </p:nvSpPr>
        <p:spPr>
          <a:xfrm>
            <a:off x="571500" y="241300"/>
            <a:ext cx="3810000" cy="24622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卷积类型与应用情况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145254-E9A3-B881-DA6D-4D37A254EE61}"/>
              </a:ext>
            </a:extLst>
          </p:cNvPr>
          <p:cNvSpPr txBox="1"/>
          <p:nvPr/>
        </p:nvSpPr>
        <p:spPr>
          <a:xfrm>
            <a:off x="330200" y="698500"/>
            <a:ext cx="114300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卷积形态消融口径修正：正式结果必须基于 </a:t>
            </a:r>
            <a:r>
              <a:rPr lang="en-US" altLang="zh-CN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重跑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67484F-0CC2-4269-79D8-F6393BABE505}"/>
              </a:ext>
            </a:extLst>
          </p:cNvPr>
          <p:cNvSpPr txBox="1"/>
          <p:nvPr/>
        </p:nvSpPr>
        <p:spPr>
          <a:xfrm>
            <a:off x="355600" y="1473200"/>
            <a:ext cx="11430000" cy="261610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旧表格来自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PyTorch ResNet18-style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，只能作为参考；当前已补齐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版脚本，完整实验完成后再替换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Best MSE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acc@0.10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latency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、显存。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55E5E-1ACA-7EE1-1946-320F3CC32F4A}"/>
              </a:ext>
            </a:extLst>
          </p:cNvPr>
          <p:cNvSpPr/>
          <p:nvPr/>
        </p:nvSpPr>
        <p:spPr>
          <a:xfrm>
            <a:off x="533400" y="2006600"/>
            <a:ext cx="11112500" cy="5334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结论口径：本项目框架实验统一采用 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只作为外部对照框架，不再用于本页正式卷积形态消融结论。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2EBE001-CEAD-41C5-DCA6-208D2215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32798"/>
              </p:ext>
            </p:extLst>
          </p:nvPr>
        </p:nvGraphicFramePr>
        <p:xfrm>
          <a:off x="533400" y="2768600"/>
          <a:ext cx="111125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6413462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29721838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28881984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71501518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变体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MyTorch </a:t>
                      </a:r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正式实验要报告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58692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standard_k3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 baseline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Best 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acc@0.10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p50 latency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GPU memory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06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验证小核表达能力，比较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与速度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749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kernel5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k=5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验证较大感受野收益，比较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增量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992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kernel31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重点关注大核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、显存开销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237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 + Pointwise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关注参数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降低与精度损失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609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groups=2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关注分组卷积速度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精度折中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467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关注扩张卷积感受野变化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299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transpose_k3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ConvTranspose2d stride=1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stride=1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残差卷积使用转置卷积；下采样仍用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3889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F8ABBC8-5785-528D-27DB-B93F8F7190DE}"/>
              </a:ext>
            </a:extLst>
          </p:cNvPr>
          <p:cNvSpPr/>
          <p:nvPr/>
        </p:nvSpPr>
        <p:spPr>
          <a:xfrm>
            <a:off x="533400" y="6045200"/>
            <a:ext cx="5397500" cy="609600"/>
          </a:xfrm>
          <a:prstGeom prst="rect">
            <a:avLst/>
          </a:prstGeom>
          <a:solidFill>
            <a:srgbClr val="F8FCF9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已完成：新增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experiments/conv_arch_ablation_mytorch.py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，并通过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standard/group/depthwise/transpose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smoke test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79D1E-4B61-9532-CE6C-E239FC6876BF}"/>
              </a:ext>
            </a:extLst>
          </p:cNvPr>
          <p:cNvSpPr/>
          <p:nvPr/>
        </p:nvSpPr>
        <p:spPr>
          <a:xfrm>
            <a:off x="6248400" y="6045200"/>
            <a:ext cx="5397500" cy="609600"/>
          </a:xfrm>
          <a:prstGeom prst="rect">
            <a:avLst/>
          </a:prstGeom>
          <a:solidFill>
            <a:srgbClr val="FDF2F0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待补：运行完整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20 epoch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后，用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summary.md/csv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更新本页数值表，旧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表不进入最终结论。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00A5EC-9171-3D81-5904-9EF378F9889A}"/>
              </a:ext>
            </a:extLst>
          </p:cNvPr>
          <p:cNvSpPr/>
          <p:nvPr/>
        </p:nvSpPr>
        <p:spPr>
          <a:xfrm>
            <a:off x="330200" y="68072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54BE8-4461-5C8A-0680-2A392631B779}"/>
              </a:ext>
            </a:extLst>
          </p:cNvPr>
          <p:cNvSpPr txBox="1"/>
          <p:nvPr/>
        </p:nvSpPr>
        <p:spPr>
          <a:xfrm>
            <a:off x="355600" y="6858000"/>
            <a:ext cx="9906000" cy="184666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正式命令见脚本说明；建议输出：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results/conv_arch_ablation_mytorch_full</a:t>
            </a:r>
            <a:endParaRPr lang="zh-CN" altLang="en-US" sz="7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2006A6-F584-5BE1-7511-CBE56ACBFF37}"/>
              </a:ext>
            </a:extLst>
          </p:cNvPr>
          <p:cNvSpPr txBox="1"/>
          <p:nvPr/>
        </p:nvSpPr>
        <p:spPr>
          <a:xfrm>
            <a:off x="11747500" y="6858000"/>
            <a:ext cx="381000" cy="200055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BF5D50C-46B1-C368-2CB1-E811324F718E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C0392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E55A55-11F6-CC99-9D5C-D24AF31DB8A0}"/>
              </a:ext>
            </a:extLst>
          </p:cNvPr>
          <p:cNvSpPr txBox="1"/>
          <p:nvPr/>
        </p:nvSpPr>
        <p:spPr>
          <a:xfrm>
            <a:off x="571500" y="241300"/>
            <a:ext cx="4953000" cy="271869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100" b="1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EEED291-21FF-C389-4671-21AA51DE726D}"/>
              </a:ext>
            </a:extLst>
          </p:cNvPr>
          <p:cNvSpPr txBox="1"/>
          <p:nvPr/>
        </p:nvSpPr>
        <p:spPr>
          <a:xfrm>
            <a:off x="330200" y="698500"/>
            <a:ext cx="11112500" cy="47192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2400" b="1">
                <a:solidFill>
                  <a:srgbClr val="1F2933"/>
                </a:solidFill>
                <a:latin typeface="Microsoft YaHei" panose="020B0503020204020204" pitchFamily="34" charset="-122"/>
              </a:rPr>
              <a:t>部署与编排原型已落地：</a:t>
            </a:r>
            <a:r>
              <a:rPr lang="en-US" altLang="zh-CN" sz="2400" b="1">
                <a:solidFill>
                  <a:srgbClr val="1F2933"/>
                </a:solidFill>
                <a:latin typeface="Microsoft YaHei" panose="020B0503020204020204" pitchFamily="34" charset="-122"/>
              </a:rPr>
              <a:t>Docker → K8s Job → Kuflow/Kubeflow </a:t>
            </a:r>
            <a:r>
              <a:rPr lang="zh-CN" altLang="en-US" sz="2400" b="1">
                <a:solidFill>
                  <a:srgbClr val="1F2933"/>
                </a:solidFill>
                <a:latin typeface="Microsoft YaHei" panose="020B0503020204020204" pitchFamily="34" charset="-122"/>
              </a:rPr>
              <a:t>算子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D5B6700-3346-761C-B2B1-4EF4E65BBC9E}"/>
              </a:ext>
            </a:extLst>
          </p:cNvPr>
          <p:cNvSpPr txBox="1"/>
          <p:nvPr/>
        </p:nvSpPr>
        <p:spPr>
          <a:xfrm>
            <a:off x="355600" y="1409700"/>
            <a:ext cx="111125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参考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Mytorch-UESTC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部署方案，当前代码已具备容器化训练任务模板；对象仍是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MNIST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训练，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在线推理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/gRPC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服务尚未完成。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A5ACF2C-9498-B0F3-90F3-67105FA7382A}"/>
              </a:ext>
            </a:extLst>
          </p:cNvPr>
          <p:cNvSpPr/>
          <p:nvPr/>
        </p:nvSpPr>
        <p:spPr>
          <a:xfrm>
            <a:off x="533400" y="2095500"/>
            <a:ext cx="3429000" cy="1905000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0904AB7-0B76-49E4-4C9E-B9760D92DAD9}"/>
              </a:ext>
            </a:extLst>
          </p:cNvPr>
          <p:cNvSpPr/>
          <p:nvPr/>
        </p:nvSpPr>
        <p:spPr>
          <a:xfrm>
            <a:off x="4381500" y="2095500"/>
            <a:ext cx="3429000" cy="1905000"/>
          </a:xfrm>
          <a:prstGeom prst="rect">
            <a:avLst/>
          </a:prstGeom>
          <a:solidFill>
            <a:srgbClr val="F0FDF4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E89DF7A-650B-FA04-64CF-99ED0D48B9F7}"/>
              </a:ext>
            </a:extLst>
          </p:cNvPr>
          <p:cNvSpPr/>
          <p:nvPr/>
        </p:nvSpPr>
        <p:spPr>
          <a:xfrm>
            <a:off x="8229600" y="2095500"/>
            <a:ext cx="3429000" cy="19050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B019240-E29C-4692-ACED-0661A28258BA}"/>
              </a:ext>
            </a:extLst>
          </p:cNvPr>
          <p:cNvSpPr/>
          <p:nvPr/>
        </p:nvSpPr>
        <p:spPr>
          <a:xfrm>
            <a:off x="533400" y="2095500"/>
            <a:ext cx="3429000" cy="63500"/>
          </a:xfrm>
          <a:prstGeom prst="rect">
            <a:avLst/>
          </a:prstGeom>
          <a:solidFill>
            <a:srgbClr val="2563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DB291CB-20CA-1746-5589-9EA9E22223C3}"/>
              </a:ext>
            </a:extLst>
          </p:cNvPr>
          <p:cNvSpPr/>
          <p:nvPr/>
        </p:nvSpPr>
        <p:spPr>
          <a:xfrm>
            <a:off x="4381500" y="2095500"/>
            <a:ext cx="3429000" cy="63500"/>
          </a:xfrm>
          <a:prstGeom prst="rect">
            <a:avLst/>
          </a:prstGeom>
          <a:solidFill>
            <a:srgbClr val="238B57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D425EBD-FA2D-4802-4E19-968E941F7918}"/>
              </a:ext>
            </a:extLst>
          </p:cNvPr>
          <p:cNvSpPr/>
          <p:nvPr/>
        </p:nvSpPr>
        <p:spPr>
          <a:xfrm>
            <a:off x="8229600" y="2095500"/>
            <a:ext cx="3429000" cy="635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E5084C8-E675-2B40-234E-7D1B9CA40342}"/>
              </a:ext>
            </a:extLst>
          </p:cNvPr>
          <p:cNvSpPr txBox="1"/>
          <p:nvPr/>
        </p:nvSpPr>
        <p:spPr>
          <a:xfrm>
            <a:off x="762000" y="2336800"/>
            <a:ext cx="2921000" cy="31803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400" b="1">
                <a:solidFill>
                  <a:srgbClr val="1F2933"/>
                </a:solidFill>
                <a:latin typeface="Microsoft YaHei" panose="020B0503020204020204" pitchFamily="34" charset="-122"/>
              </a:rPr>
              <a:t>Level 1  Docker </a:t>
            </a:r>
            <a:r>
              <a:rPr lang="zh-CN" altLang="en-US" sz="1400" b="1">
                <a:solidFill>
                  <a:srgbClr val="1F2933"/>
                </a:solidFill>
                <a:latin typeface="Microsoft YaHei" panose="020B0503020204020204" pitchFamily="34" charset="-122"/>
              </a:rPr>
              <a:t>封装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FA9BCED-2983-EDFD-5A4F-1EB71A5121B2}"/>
              </a:ext>
            </a:extLst>
          </p:cNvPr>
          <p:cNvSpPr txBox="1"/>
          <p:nvPr/>
        </p:nvSpPr>
        <p:spPr>
          <a:xfrm>
            <a:off x="762000" y="2717800"/>
            <a:ext cx="2921000" cy="65659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固定依赖与入口：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python:3.11-slim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requirements.txt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MYTORCH_HEADLESS=1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/data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数据卷。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docker-compose.yml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可一键拉起训练任务。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1571690-E561-CFCD-E4C0-4BE36F28DEB7}"/>
              </a:ext>
            </a:extLst>
          </p:cNvPr>
          <p:cNvSpPr txBox="1"/>
          <p:nvPr/>
        </p:nvSpPr>
        <p:spPr>
          <a:xfrm>
            <a:off x="762000" y="3644900"/>
            <a:ext cx="2921000" cy="21031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700" b="1">
                <a:solidFill>
                  <a:srgbClr val="2563EB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00" b="1">
                <a:solidFill>
                  <a:srgbClr val="2563EB"/>
                </a:solidFill>
                <a:latin typeface="Microsoft YaHei" panose="020B0503020204020204" pitchFamily="34" charset="-122"/>
              </a:rPr>
              <a:t>deploy/docker/Dockerfile</a:t>
            </a:r>
            <a:endParaRPr lang="zh-CN" altLang="en-US" sz="7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18017D0-3248-71B2-23DC-788F5478A6A4}"/>
              </a:ext>
            </a:extLst>
          </p:cNvPr>
          <p:cNvSpPr txBox="1"/>
          <p:nvPr/>
        </p:nvSpPr>
        <p:spPr>
          <a:xfrm>
            <a:off x="4610100" y="2336800"/>
            <a:ext cx="2921000" cy="31803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400" b="1">
                <a:solidFill>
                  <a:srgbClr val="1F2933"/>
                </a:solidFill>
                <a:latin typeface="Microsoft YaHei" panose="020B0503020204020204" pitchFamily="34" charset="-122"/>
              </a:rPr>
              <a:t>Level 2  Kubernetes Job</a:t>
            </a:r>
            <a:endParaRPr lang="zh-CN" altLang="en-US" sz="1400" b="1">
              <a:solidFill>
                <a:srgbClr val="1F29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847960E-49A2-3C0C-82FC-9E71681573FC}"/>
              </a:ext>
            </a:extLst>
          </p:cNvPr>
          <p:cNvSpPr txBox="1"/>
          <p:nvPr/>
        </p:nvSpPr>
        <p:spPr>
          <a:xfrm>
            <a:off x="4610100" y="2717800"/>
            <a:ext cx="2921000" cy="51809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以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batch/v1 Job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提交训练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Pod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backoffLimit=1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requests 500m/512Mi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limits 2CPU/2Gi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/data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emptyDir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，可替换为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PVC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465B9EC-6B9D-64BE-E40D-1D83371621A5}"/>
              </a:ext>
            </a:extLst>
          </p:cNvPr>
          <p:cNvSpPr txBox="1"/>
          <p:nvPr/>
        </p:nvSpPr>
        <p:spPr>
          <a:xfrm>
            <a:off x="4610100" y="3644900"/>
            <a:ext cx="2921000" cy="21031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700" b="1">
                <a:solidFill>
                  <a:srgbClr val="238B57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00" b="1">
                <a:solidFill>
                  <a:srgbClr val="238B57"/>
                </a:solidFill>
                <a:latin typeface="Microsoft YaHei" panose="020B0503020204020204" pitchFamily="34" charset="-122"/>
              </a:rPr>
              <a:t>deploy/k8s/mnist-training-job.yaml</a:t>
            </a:r>
            <a:endParaRPr lang="zh-CN" altLang="en-US" sz="700" b="1">
              <a:solidFill>
                <a:srgbClr val="238B5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1F08EA7-75D0-97C4-9384-9600DDC38470}"/>
              </a:ext>
            </a:extLst>
          </p:cNvPr>
          <p:cNvSpPr txBox="1"/>
          <p:nvPr/>
        </p:nvSpPr>
        <p:spPr>
          <a:xfrm>
            <a:off x="8458200" y="2336800"/>
            <a:ext cx="2921000" cy="31803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400" b="1">
                <a:solidFill>
                  <a:srgbClr val="1F2933"/>
                </a:solidFill>
                <a:latin typeface="Microsoft YaHei" panose="020B0503020204020204" pitchFamily="34" charset="-122"/>
              </a:rPr>
              <a:t>Level 3  Kuflow / Kubeflow</a:t>
            </a:r>
            <a:endParaRPr lang="zh-CN" altLang="en-US" sz="1400" b="1">
              <a:solidFill>
                <a:srgbClr val="1F29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F4A7032-A545-A50E-69D7-D43C62EAD3EB}"/>
              </a:ext>
            </a:extLst>
          </p:cNvPr>
          <p:cNvSpPr txBox="1"/>
          <p:nvPr/>
        </p:nvSpPr>
        <p:spPr>
          <a:xfrm>
            <a:off x="8458200" y="2717800"/>
            <a:ext cx="2921000" cy="51809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把训练抽象为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TaskOperator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OperatorLaunchSpec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统一镜像、参数、资源规格；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kfp_pipeline.py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可在安装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kfp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后编译为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Pipeline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43FC392-CCB1-AFD3-D746-1AAF7FC14F8E}"/>
              </a:ext>
            </a:extLst>
          </p:cNvPr>
          <p:cNvSpPr txBox="1"/>
          <p:nvPr/>
        </p:nvSpPr>
        <p:spPr>
          <a:xfrm>
            <a:off x="8458200" y="3644900"/>
            <a:ext cx="2921000" cy="21031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700" b="1">
                <a:solidFill>
                  <a:srgbClr val="D99118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00" b="1">
                <a:solidFill>
                  <a:srgbClr val="D99118"/>
                </a:solidFill>
                <a:latin typeface="Microsoft YaHei" panose="020B0503020204020204" pitchFamily="34" charset="-122"/>
              </a:rPr>
              <a:t>kuflow/operators.py, kfp_pipeline.py</a:t>
            </a:r>
            <a:endParaRPr lang="zh-CN" altLang="en-US" sz="700" b="1">
              <a:solidFill>
                <a:srgbClr val="D9911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406C48B9-9338-8077-2769-B99F86C1A424}"/>
              </a:ext>
            </a:extLst>
          </p:cNvPr>
          <p:cNvSpPr/>
          <p:nvPr/>
        </p:nvSpPr>
        <p:spPr>
          <a:xfrm>
            <a:off x="4000500" y="2857500"/>
            <a:ext cx="342900" cy="279400"/>
          </a:xfrm>
          <a:prstGeom prst="rightArrow">
            <a:avLst/>
          </a:prstGeom>
          <a:solidFill>
            <a:srgbClr val="5B69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FC92B540-83DB-6966-7026-510E84AB9D06}"/>
              </a:ext>
            </a:extLst>
          </p:cNvPr>
          <p:cNvSpPr/>
          <p:nvPr/>
        </p:nvSpPr>
        <p:spPr>
          <a:xfrm>
            <a:off x="7848600" y="2857500"/>
            <a:ext cx="342900" cy="279400"/>
          </a:xfrm>
          <a:prstGeom prst="rightArrow">
            <a:avLst/>
          </a:prstGeom>
          <a:solidFill>
            <a:srgbClr val="5B69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6171B74-080F-15B7-10EF-C6ACA9D91D6A}"/>
              </a:ext>
            </a:extLst>
          </p:cNvPr>
          <p:cNvSpPr/>
          <p:nvPr/>
        </p:nvSpPr>
        <p:spPr>
          <a:xfrm>
            <a:off x="533400" y="4292600"/>
            <a:ext cx="5283200" cy="914400"/>
          </a:xfrm>
          <a:prstGeom prst="rect">
            <a:avLst/>
          </a:prstGeom>
          <a:solidFill>
            <a:srgbClr val="FDFCF8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3F9C429-966D-3278-ACD8-F14AC27195E9}"/>
              </a:ext>
            </a:extLst>
          </p:cNvPr>
          <p:cNvSpPr txBox="1"/>
          <p:nvPr/>
        </p:nvSpPr>
        <p:spPr>
          <a:xfrm>
            <a:off x="736600" y="4470400"/>
            <a:ext cx="48895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当前价值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19A2D31-20E4-D2FE-98D8-6319A88E8855}"/>
              </a:ext>
            </a:extLst>
          </p:cNvPr>
          <p:cNvSpPr txBox="1"/>
          <p:nvPr/>
        </p:nvSpPr>
        <p:spPr>
          <a:xfrm>
            <a:off x="736600" y="4775200"/>
            <a:ext cx="48895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解决“本机脚本”到“可交付训练任务”的环境一致性、资源约束和任务复用问题。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B541B58-9CD4-9D5B-4FEA-A8878DB441F3}"/>
              </a:ext>
            </a:extLst>
          </p:cNvPr>
          <p:cNvSpPr/>
          <p:nvPr/>
        </p:nvSpPr>
        <p:spPr>
          <a:xfrm>
            <a:off x="6375400" y="4292600"/>
            <a:ext cx="5283200" cy="914400"/>
          </a:xfrm>
          <a:prstGeom prst="rect">
            <a:avLst/>
          </a:prstGeom>
          <a:solidFill>
            <a:srgbClr val="FEF2F2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A139532-FFA1-64A0-E055-9BEDA567C8F8}"/>
              </a:ext>
            </a:extLst>
          </p:cNvPr>
          <p:cNvSpPr txBox="1"/>
          <p:nvPr/>
        </p:nvSpPr>
        <p:spPr>
          <a:xfrm>
            <a:off x="6578600" y="4470400"/>
            <a:ext cx="48895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边界说明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E3CA23F-A090-23B0-F4DB-E66BEE46F5B5}"/>
              </a:ext>
            </a:extLst>
          </p:cNvPr>
          <p:cNvSpPr txBox="1"/>
          <p:nvPr/>
        </p:nvSpPr>
        <p:spPr>
          <a:xfrm>
            <a:off x="6578600" y="4775200"/>
            <a:ext cx="4889500" cy="37959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当前是容器化批训练模板，不是完整 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服务化部署；</a:t>
            </a:r>
            <a:r>
              <a:rPr lang="en-US" altLang="zh-CN" sz="900">
                <a:solidFill>
                  <a:srgbClr val="5B6978"/>
                </a:solidFill>
                <a:latin typeface="Microsoft YaHei" panose="020B0503020204020204" pitchFamily="34" charset="-122"/>
              </a:rPr>
              <a:t>gRPC server/client </a:t>
            </a:r>
            <a:r>
              <a:rPr lang="zh-CN" altLang="en-US" sz="900">
                <a:solidFill>
                  <a:srgbClr val="5B6978"/>
                </a:solidFill>
                <a:latin typeface="Microsoft YaHei" panose="020B0503020204020204" pitchFamily="34" charset="-122"/>
              </a:rPr>
              <a:t>与在线推理待补。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5F4391A-9295-3781-274B-4711034AFBA2}"/>
              </a:ext>
            </a:extLst>
          </p:cNvPr>
          <p:cNvSpPr/>
          <p:nvPr/>
        </p:nvSpPr>
        <p:spPr>
          <a:xfrm>
            <a:off x="533400" y="5410200"/>
            <a:ext cx="11125200" cy="965200"/>
          </a:xfrm>
          <a:prstGeom prst="rect">
            <a:avLst/>
          </a:prstGeom>
          <a:solidFill>
            <a:srgbClr val="FDFCF8"/>
          </a:solidFill>
          <a:ln w="13970">
            <a:solidFill>
              <a:srgbClr val="7048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C9F3A01-C00A-5B49-2668-D2702283B10E}"/>
              </a:ext>
            </a:extLst>
          </p:cNvPr>
          <p:cNvSpPr txBox="1"/>
          <p:nvPr/>
        </p:nvSpPr>
        <p:spPr>
          <a:xfrm>
            <a:off x="736600" y="5588000"/>
            <a:ext cx="2032000" cy="28725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待补部署实验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0FEB689-6D83-6BA4-C3B1-8E4D329EC7E6}"/>
              </a:ext>
            </a:extLst>
          </p:cNvPr>
          <p:cNvSpPr txBox="1"/>
          <p:nvPr/>
        </p:nvSpPr>
        <p:spPr>
          <a:xfrm>
            <a:off x="736600" y="5892800"/>
            <a:ext cx="10414000" cy="348813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1. docker build/run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日志与镜像大小；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2. kubectl apply/logs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与资源占用；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3. Kuflow/Kubeflow pipeline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编译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运行截图；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将 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MNIST operator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迁移为 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DonkeyCar train/infer operator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补部署模式 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benchmark 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与吞吐</a:t>
            </a:r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800">
                <a:solidFill>
                  <a:srgbClr val="5B6978"/>
                </a:solidFill>
                <a:latin typeface="Microsoft YaHei" panose="020B0503020204020204" pitchFamily="34" charset="-122"/>
              </a:rPr>
              <a:t>隔离性可视化。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B3F1E93-7CCB-CC0F-F4E7-A7F8501B0142}"/>
              </a:ext>
            </a:extLst>
          </p:cNvPr>
          <p:cNvSpPr/>
          <p:nvPr/>
        </p:nvSpPr>
        <p:spPr>
          <a:xfrm>
            <a:off x="330200" y="66040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FC7B4C2-64FC-9872-76CE-5ED001B65D8F}"/>
              </a:ext>
            </a:extLst>
          </p:cNvPr>
          <p:cNvSpPr txBox="1"/>
          <p:nvPr/>
        </p:nvSpPr>
        <p:spPr>
          <a:xfrm>
            <a:off x="355600" y="6654800"/>
            <a:ext cx="10414000" cy="21031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依据：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D:/zs/Mytorch_UESTC_docker.pptx</a:t>
            </a:r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；代码：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deploy/docker</a:t>
            </a:r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deploy/k8s</a:t>
            </a:r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7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76F27FC-60EE-4178-F6E6-50670D1F46D1}"/>
              </a:ext>
            </a:extLst>
          </p:cNvPr>
          <p:cNvSpPr txBox="1"/>
          <p:nvPr/>
        </p:nvSpPr>
        <p:spPr>
          <a:xfrm>
            <a:off x="11747500" y="6654800"/>
            <a:ext cx="381000" cy="225703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5715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4206.5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90170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donkey_safe / MixUp / CutMix 等均未超过 baseline。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5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85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0D47373A-E432-8938-83DC-F905A0CE52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C3466-32D6-079C-B712-1B185C618EE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0682F5-2E32-96D7-C246-28D83080BDE2}"/>
              </a:ext>
            </a:extLst>
          </p:cNvPr>
          <p:cNvSpPr txBox="1"/>
          <p:nvPr/>
        </p:nvSpPr>
        <p:spPr>
          <a:xfrm>
            <a:off x="609600" y="381000"/>
            <a:ext cx="279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0C526-5BA6-9B57-A25D-D14B516B3104}"/>
              </a:ext>
            </a:extLst>
          </p:cNvPr>
          <p:cNvSpPr txBox="1"/>
          <p:nvPr/>
        </p:nvSpPr>
        <p:spPr>
          <a:xfrm>
            <a:off x="609600" y="736600"/>
            <a:ext cx="965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困难二：完整 </a:t>
            </a:r>
            <a:r>
              <a:rPr lang="en-US" altLang="zh-CN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大融合没有比不融合更快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3789B2-E835-7B6F-AE33-40FA1DB90A9A}"/>
              </a:ext>
            </a:extLst>
          </p:cNvPr>
          <p:cNvSpPr txBox="1"/>
          <p:nvPr/>
        </p:nvSpPr>
        <p:spPr>
          <a:xfrm>
            <a:off x="609600" y="1320800"/>
            <a:ext cx="1041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这不是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或图扫描失败，而是“融合粒度变大”后，底层卷积、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workspace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没有同步升级为 </a:t>
            </a:r>
            <a:r>
              <a:rPr lang="en-US" altLang="zh-CN" sz="105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cuDNN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/CUTLASS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级高性能实现。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3C3C6-B77C-15A8-3E2A-6E42389C1203}"/>
              </a:ext>
            </a:extLst>
          </p:cNvPr>
          <p:cNvSpPr/>
          <p:nvPr/>
        </p:nvSpPr>
        <p:spPr>
          <a:xfrm>
            <a:off x="698500" y="1905000"/>
            <a:ext cx="38100" cy="736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DEBADD-A2FC-98A6-4418-CF3182098338}"/>
              </a:ext>
            </a:extLst>
          </p:cNvPr>
          <p:cNvSpPr txBox="1"/>
          <p:nvPr/>
        </p:nvSpPr>
        <p:spPr>
          <a:xfrm>
            <a:off x="8509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13.63x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B72999-E939-A857-DFB3-D9785CE73BBE}"/>
              </a:ext>
            </a:extLst>
          </p:cNvPr>
          <p:cNvSpPr txBox="1"/>
          <p:nvPr/>
        </p:nvSpPr>
        <p:spPr>
          <a:xfrm>
            <a:off x="8509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total batch p50 </a:t>
            </a:r>
            <a:r>
              <a:rPr lang="zh-CN" altLang="en-US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慢于 </a:t>
            </a:r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PyTorch</a:t>
            </a:r>
            <a:endParaRPr lang="zh-CN" altLang="en-US" sz="82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2BD978-2751-84A1-F4BC-6ECFFEAF4FD6}"/>
              </a:ext>
            </a:extLst>
          </p:cNvPr>
          <p:cNvSpPr/>
          <p:nvPr/>
        </p:nvSpPr>
        <p:spPr>
          <a:xfrm>
            <a:off x="3022600" y="1905000"/>
            <a:ext cx="38100" cy="736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C899FE-58E6-5B9C-4465-A29D031CB05D}"/>
              </a:ext>
            </a:extLst>
          </p:cNvPr>
          <p:cNvSpPr txBox="1"/>
          <p:nvPr/>
        </p:nvSpPr>
        <p:spPr>
          <a:xfrm>
            <a:off x="31750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28.20x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ADC0B9-22F9-9A2D-5B71-577D954D080D}"/>
              </a:ext>
            </a:extLst>
          </p:cNvPr>
          <p:cNvSpPr txBox="1"/>
          <p:nvPr/>
        </p:nvSpPr>
        <p:spPr>
          <a:xfrm>
            <a:off x="31750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backward p50 </a:t>
            </a:r>
            <a:r>
              <a:rPr lang="zh-CN" altLang="en-US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是最大瓶颈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06E175-D584-7A14-8F37-CA602755CCC5}"/>
              </a:ext>
            </a:extLst>
          </p:cNvPr>
          <p:cNvSpPr/>
          <p:nvPr/>
        </p:nvSpPr>
        <p:spPr>
          <a:xfrm>
            <a:off x="5346700" y="1905000"/>
            <a:ext cx="38100" cy="7366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FD707B-2101-FCCB-6818-E1DEDF902BEE}"/>
              </a:ext>
            </a:extLst>
          </p:cNvPr>
          <p:cNvSpPr txBox="1"/>
          <p:nvPr/>
        </p:nvSpPr>
        <p:spPr>
          <a:xfrm>
            <a:off x="54991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0.0047 ms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DB17E0-0755-5ADC-22FF-73E4D0BC3210}"/>
              </a:ext>
            </a:extLst>
          </p:cNvPr>
          <p:cNvSpPr txBox="1"/>
          <p:nvPr/>
        </p:nvSpPr>
        <p:spPr>
          <a:xfrm>
            <a:off x="54991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loader fetch p50 </a:t>
            </a:r>
            <a:r>
              <a:rPr lang="zh-CN" altLang="en-US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很低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1D9ADD-6CFA-6A1B-25C6-492E216DF75F}"/>
              </a:ext>
            </a:extLst>
          </p:cNvPr>
          <p:cNvSpPr/>
          <p:nvPr/>
        </p:nvSpPr>
        <p:spPr>
          <a:xfrm>
            <a:off x="8077200" y="1905000"/>
            <a:ext cx="38100" cy="736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B76ED3-90CF-0B7A-3F70-4FF4DBA44374}"/>
              </a:ext>
            </a:extLst>
          </p:cNvPr>
          <p:cNvSpPr txBox="1"/>
          <p:nvPr/>
        </p:nvSpPr>
        <p:spPr>
          <a:xfrm>
            <a:off x="82296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302ADA-F944-5288-8277-C1715298699A}"/>
              </a:ext>
            </a:extLst>
          </p:cNvPr>
          <p:cNvSpPr txBox="1"/>
          <p:nvPr/>
        </p:nvSpPr>
        <p:spPr>
          <a:xfrm>
            <a:off x="82296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当前训练 </a:t>
            </a:r>
            <a:r>
              <a:rPr lang="en-US" altLang="zh-CN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默认策略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7CE944-858F-D31C-C521-21F36D7BD137}"/>
              </a:ext>
            </a:extLst>
          </p:cNvPr>
          <p:cNvSpPr/>
          <p:nvPr/>
        </p:nvSpPr>
        <p:spPr>
          <a:xfrm>
            <a:off x="889000" y="3048000"/>
            <a:ext cx="1651000" cy="55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7C2A84-57DB-C10D-6958-6403CEC65E1B}"/>
              </a:ext>
            </a:extLst>
          </p:cNvPr>
          <p:cNvSpPr txBox="1"/>
          <p:nvPr/>
        </p:nvSpPr>
        <p:spPr>
          <a:xfrm>
            <a:off x="965200" y="3162300"/>
            <a:ext cx="1498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期望：节点更少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359C0A5-6480-AC99-12AB-D7A8C72317A0}"/>
              </a:ext>
            </a:extLst>
          </p:cNvPr>
          <p:cNvCxnSpPr/>
          <p:nvPr/>
        </p:nvCxnSpPr>
        <p:spPr>
          <a:xfrm>
            <a:off x="2641600" y="3327400"/>
            <a:ext cx="69850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DC5FCC-FCA6-885D-BC95-B368468EC960}"/>
              </a:ext>
            </a:extLst>
          </p:cNvPr>
          <p:cNvSpPr txBox="1"/>
          <p:nvPr/>
        </p:nvSpPr>
        <p:spPr>
          <a:xfrm>
            <a:off x="32385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0F766E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9D1C0D-42E8-0831-20B0-C9DDC084E40A}"/>
              </a:ext>
            </a:extLst>
          </p:cNvPr>
          <p:cNvSpPr/>
          <p:nvPr/>
        </p:nvSpPr>
        <p:spPr>
          <a:xfrm>
            <a:off x="3454400" y="3048000"/>
            <a:ext cx="2032000" cy="55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584396-8D36-666D-582F-CAAC31A9FA02}"/>
              </a:ext>
            </a:extLst>
          </p:cNvPr>
          <p:cNvSpPr txBox="1"/>
          <p:nvPr/>
        </p:nvSpPr>
        <p:spPr>
          <a:xfrm>
            <a:off x="3530600" y="3162300"/>
            <a:ext cx="1879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379E129-0590-C65F-EE2A-9B23DEC36E0D}"/>
              </a:ext>
            </a:extLst>
          </p:cNvPr>
          <p:cNvCxnSpPr/>
          <p:nvPr/>
        </p:nvCxnSpPr>
        <p:spPr>
          <a:xfrm>
            <a:off x="5588000" y="3327400"/>
            <a:ext cx="698500" cy="0"/>
          </a:xfrm>
          <a:prstGeom prst="line">
            <a:avLst/>
          </a:prstGeom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D20C681-9C7C-CF2E-3BEA-FA5E571AE9E1}"/>
              </a:ext>
            </a:extLst>
          </p:cNvPr>
          <p:cNvSpPr txBox="1"/>
          <p:nvPr/>
        </p:nvSpPr>
        <p:spPr>
          <a:xfrm>
            <a:off x="61849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9731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F973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D978E9-7FE1-3654-EB11-F1A8954B2D8B}"/>
              </a:ext>
            </a:extLst>
          </p:cNvPr>
          <p:cNvSpPr/>
          <p:nvPr/>
        </p:nvSpPr>
        <p:spPr>
          <a:xfrm>
            <a:off x="6400800" y="3048000"/>
            <a:ext cx="1905000" cy="55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2CF7A0-E830-9C75-8E15-E25BDF5755C7}"/>
              </a:ext>
            </a:extLst>
          </p:cNvPr>
          <p:cNvSpPr txBox="1"/>
          <p:nvPr/>
        </p:nvSpPr>
        <p:spPr>
          <a:xfrm>
            <a:off x="6477000" y="3162300"/>
            <a:ext cx="1752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实际：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workspace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变重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3F6EFC-6BE3-C5CA-5969-5F615FCA884B}"/>
              </a:ext>
            </a:extLst>
          </p:cNvPr>
          <p:cNvCxnSpPr/>
          <p:nvPr/>
        </p:nvCxnSpPr>
        <p:spPr>
          <a:xfrm>
            <a:off x="8407400" y="3327400"/>
            <a:ext cx="698500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E480DF7-F4A5-D440-2086-EBE5B0852F0B}"/>
              </a:ext>
            </a:extLst>
          </p:cNvPr>
          <p:cNvSpPr txBox="1"/>
          <p:nvPr/>
        </p:nvSpPr>
        <p:spPr>
          <a:xfrm>
            <a:off x="90043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DC262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2D4A99-2540-D587-168E-2508625B607C}"/>
              </a:ext>
            </a:extLst>
          </p:cNvPr>
          <p:cNvSpPr/>
          <p:nvPr/>
        </p:nvSpPr>
        <p:spPr>
          <a:xfrm>
            <a:off x="9220200" y="3048000"/>
            <a:ext cx="2159000" cy="55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BA0243-746C-CFF5-274B-73FBE49F3751}"/>
              </a:ext>
            </a:extLst>
          </p:cNvPr>
          <p:cNvSpPr txBox="1"/>
          <p:nvPr/>
        </p:nvSpPr>
        <p:spPr>
          <a:xfrm>
            <a:off x="9296400" y="3162300"/>
            <a:ext cx="2006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结果：不如 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稳定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E9F9A2-E21A-3566-1E7A-3C19F97DA07A}"/>
              </a:ext>
            </a:extLst>
          </p:cNvPr>
          <p:cNvSpPr/>
          <p:nvPr/>
        </p:nvSpPr>
        <p:spPr>
          <a:xfrm>
            <a:off x="698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1F3D4C-3BF9-4276-AD95-BE3190655FC5}"/>
              </a:ext>
            </a:extLst>
          </p:cNvPr>
          <p:cNvSpPr/>
          <p:nvPr/>
        </p:nvSpPr>
        <p:spPr>
          <a:xfrm>
            <a:off x="698500" y="4064000"/>
            <a:ext cx="50800" cy="1371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50A6F0-17BE-C14F-F6C6-C20F2DE6728D}"/>
              </a:ext>
            </a:extLst>
          </p:cNvPr>
          <p:cNvSpPr txBox="1"/>
          <p:nvPr/>
        </p:nvSpPr>
        <p:spPr>
          <a:xfrm>
            <a:off x="901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：只是图结构融合，不是高性能卷积内核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5BA499-DECA-D567-0EFA-5E426761D91A}"/>
              </a:ext>
            </a:extLst>
          </p:cNvPr>
          <p:cNvSpPr txBox="1"/>
          <p:nvPr/>
        </p:nvSpPr>
        <p:spPr>
          <a:xfrm>
            <a:off x="901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FusedConvBNReLU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内部仍然离不开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im2col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GEMM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BN mean/var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ReLU mask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dCol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col2im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。节点少了，但核心计算路径并没有自动变成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cuDNN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级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F477004-CF68-3CAA-DF29-8CF97C82C567}"/>
              </a:ext>
            </a:extLst>
          </p:cNvPr>
          <p:cNvSpPr/>
          <p:nvPr/>
        </p:nvSpPr>
        <p:spPr>
          <a:xfrm>
            <a:off x="4381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8D81D5-4E1A-91EB-950B-AC7EC0B2125B}"/>
              </a:ext>
            </a:extLst>
          </p:cNvPr>
          <p:cNvSpPr/>
          <p:nvPr/>
        </p:nvSpPr>
        <p:spPr>
          <a:xfrm>
            <a:off x="4381500" y="4064000"/>
            <a:ext cx="50800" cy="1371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228DEE-3507-73D2-F965-D8C2FEAB58FC}"/>
              </a:ext>
            </a:extLst>
          </p:cNvPr>
          <p:cNvSpPr txBox="1"/>
          <p:nvPr/>
        </p:nvSpPr>
        <p:spPr>
          <a:xfrm>
            <a:off x="4584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stem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大输入卷积放大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im2col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成本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D772AD-1AD6-692B-7C93-5763DB8731DE}"/>
              </a:ext>
            </a:extLst>
          </p:cNvPr>
          <p:cNvSpPr txBox="1"/>
          <p:nvPr/>
        </p:nvSpPr>
        <p:spPr>
          <a:xfrm>
            <a:off x="4584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第一层输入空间大，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大融合会产生更大的临时展开矩阵和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workspace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中最慢节点集中在这类大输入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 conv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上。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D18FD08-4A51-1FA2-B6C1-3B63BEECB9A3}"/>
              </a:ext>
            </a:extLst>
          </p:cNvPr>
          <p:cNvSpPr/>
          <p:nvPr/>
        </p:nvSpPr>
        <p:spPr>
          <a:xfrm>
            <a:off x="8064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591E09-A8B8-D6B8-B5E0-CEAF09E729D9}"/>
              </a:ext>
            </a:extLst>
          </p:cNvPr>
          <p:cNvSpPr/>
          <p:nvPr/>
        </p:nvSpPr>
        <p:spPr>
          <a:xfrm>
            <a:off x="8064500" y="4064000"/>
            <a:ext cx="50800" cy="13716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213E76-411F-43F4-DA58-09BECA27A582}"/>
              </a:ext>
            </a:extLst>
          </p:cNvPr>
          <p:cNvSpPr txBox="1"/>
          <p:nvPr/>
        </p:nvSpPr>
        <p:spPr>
          <a:xfrm>
            <a:off x="8267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：训练看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，不只看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forward</a:t>
            </a:r>
            <a:endParaRPr lang="zh-CN" altLang="en-US" sz="135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1DB9AA-9A79-1D94-628F-ED987F4E4DE9}"/>
              </a:ext>
            </a:extLst>
          </p:cNvPr>
          <p:cNvSpPr txBox="1"/>
          <p:nvPr/>
        </p:nvSpPr>
        <p:spPr>
          <a:xfrm>
            <a:off x="8267700" y="4597400"/>
            <a:ext cx="3073400" cy="578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Conv-BN-Add-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ReLU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要同时处理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gamma/beta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weight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input grad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identity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；当前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比 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PyTorch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慢得多。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C5848E-3C44-2AE9-C578-0AF242603E9F}"/>
              </a:ext>
            </a:extLst>
          </p:cNvPr>
          <p:cNvSpPr/>
          <p:nvPr/>
        </p:nvSpPr>
        <p:spPr>
          <a:xfrm>
            <a:off x="698500" y="5791200"/>
            <a:ext cx="10795000" cy="609600"/>
          </a:xfrm>
          <a:prstGeom prst="rect">
            <a:avLst/>
          </a:prstGeom>
          <a:solidFill>
            <a:srgbClr val="ECFDF5"/>
          </a:solidFill>
          <a:ln w="952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43A50ED-FBDE-103D-8E9E-80616AA83EFE}"/>
              </a:ext>
            </a:extLst>
          </p:cNvPr>
          <p:cNvSpPr txBox="1"/>
          <p:nvPr/>
        </p:nvSpPr>
        <p:spPr>
          <a:xfrm>
            <a:off x="952500" y="5943600"/>
            <a:ext cx="139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F766E"/>
                </a:solidFill>
                <a:latin typeface="Microsoft YaHei" panose="020B0503020204020204" pitchFamily="34" charset="-122"/>
              </a:rPr>
              <a:t>答辩表述建议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938A955-B692-69E1-7C88-7638735AE5F4}"/>
              </a:ext>
            </a:extLst>
          </p:cNvPr>
          <p:cNvSpPr txBox="1"/>
          <p:nvPr/>
        </p:nvSpPr>
        <p:spPr>
          <a:xfrm>
            <a:off x="2413000" y="5905500"/>
            <a:ext cx="8572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的困难不是“不会融合”，而是融合后算子内部还没有真正高性能化；因此训练默认选择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融合，把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大融合作为实验策略保留。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8BE3C5F-5EFA-51F1-F4A8-38AAC56FA0E8}"/>
              </a:ext>
            </a:extLst>
          </p:cNvPr>
          <p:cNvSpPr txBox="1"/>
          <p:nvPr/>
        </p:nvSpPr>
        <p:spPr>
          <a:xfrm>
            <a:off x="9398000" y="6527800"/>
            <a:ext cx="2159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750">
                <a:solidFill>
                  <a:srgbClr val="64748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50">
                <a:solidFill>
                  <a:srgbClr val="64748B"/>
                </a:solidFill>
                <a:latin typeface="Microsoft YaHei" panose="020B0503020204020204" pitchFamily="34" charset="-122"/>
              </a:rPr>
              <a:t>自动驾驶框架答辩 </a:t>
            </a:r>
            <a:r>
              <a:rPr lang="en-US" altLang="zh-CN" sz="750">
                <a:solidFill>
                  <a:srgbClr val="64748B"/>
                </a:solidFill>
                <a:latin typeface="Microsoft YaHei" panose="020B0503020204020204" pitchFamily="34" charset="-122"/>
              </a:rPr>
              <a:t>| 18</a:t>
            </a:r>
            <a:endParaRPr lang="zh-CN" altLang="en-US" sz="75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2403</Words>
  <Application>Microsoft Office PowerPoint</Application>
  <DocSecurity>0</DocSecurity>
  <PresentationFormat>宽屏</PresentationFormat>
  <Paragraphs>400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12</cp:revision>
  <dcterms:created xsi:type="dcterms:W3CDTF">2026-05-19T13:12:39Z</dcterms:created>
  <dcterms:modified xsi:type="dcterms:W3CDTF">2026-05-21T03:13:54Z</dcterms:modified>
</cp:coreProperties>
</file>