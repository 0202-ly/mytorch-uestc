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5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80FD4E-F38D-E23B-58D7-7A0D66B04ADD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D4115-EF04-A82B-9E92-8A6EBFD69562}"/>
              </a:ext>
            </a:extLst>
          </p:cNvPr>
          <p:cNvSpPr txBox="1"/>
          <p:nvPr/>
        </p:nvSpPr>
        <p:spPr>
          <a:xfrm>
            <a:off x="571500" y="241300"/>
            <a:ext cx="3810000" cy="24622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卷积类型与应用情况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145254-E9A3-B881-DA6D-4D37A254EE61}"/>
              </a:ext>
            </a:extLst>
          </p:cNvPr>
          <p:cNvSpPr txBox="1"/>
          <p:nvPr/>
        </p:nvSpPr>
        <p:spPr>
          <a:xfrm>
            <a:off x="330200" y="698500"/>
            <a:ext cx="1143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卷积形态消融口径修正：正式结果必须基于 </a:t>
            </a:r>
            <a:r>
              <a:rPr lang="en-US" altLang="zh-CN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重跑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67484F-0CC2-4269-79D8-F6393BABE505}"/>
              </a:ext>
            </a:extLst>
          </p:cNvPr>
          <p:cNvSpPr txBox="1"/>
          <p:nvPr/>
        </p:nvSpPr>
        <p:spPr>
          <a:xfrm>
            <a:off x="355600" y="1473200"/>
            <a:ext cx="11430000" cy="261610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旧表格来自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PyTorch ResNet18-style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，只能作为参考；当前已补齐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版脚本，完整实验完成后再替换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Best MSE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、显存。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55E5E-1ACA-7EE1-1946-320F3CC32F4A}"/>
              </a:ext>
            </a:extLst>
          </p:cNvPr>
          <p:cNvSpPr/>
          <p:nvPr/>
        </p:nvSpPr>
        <p:spPr>
          <a:xfrm>
            <a:off x="533400" y="2006600"/>
            <a:ext cx="11112500" cy="5334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结论口径：本项目框架实验统一采用 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只作为外部对照框架，不再用于本页正式卷积形态消融结论。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2EBE001-CEAD-41C5-DCA6-208D2215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32798"/>
              </p:ext>
            </p:extLst>
          </p:nvPr>
        </p:nvGraphicFramePr>
        <p:xfrm>
          <a:off x="533400" y="2768600"/>
          <a:ext cx="11112500" cy="2980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6413462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29721838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2888198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1501518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变体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MyTorch </a:t>
                      </a:r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正式实验要报告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58692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standard_k3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 baseline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Best 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acc@0.10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p50 latency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GPU memory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0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验证小核表达能力，比较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与速度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749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kernel5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k=5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验证较大感受野收益，比较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增量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99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kernel31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重点关注大核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、显存开销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23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 + Pointwise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关注参数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降低与精度损失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60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groups=2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关注分组卷积速度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精度折中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467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关注扩张卷积感受野变化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299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transpose_k3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ConvTranspose2d stride=1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stride=1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残差卷积使用转置卷积；下采样仍用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388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F8ABBC8-5785-528D-27DB-B93F8F7190DE}"/>
              </a:ext>
            </a:extLst>
          </p:cNvPr>
          <p:cNvSpPr/>
          <p:nvPr/>
        </p:nvSpPr>
        <p:spPr>
          <a:xfrm>
            <a:off x="533400" y="6045200"/>
            <a:ext cx="5397500" cy="609600"/>
          </a:xfrm>
          <a:prstGeom prst="rect">
            <a:avLst/>
          </a:prstGeom>
          <a:solidFill>
            <a:srgbClr val="F8FCF9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已完成：新增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experiments/conv_arch_ablation_mytorch.py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，并通过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standard/group/depthwise/transpose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smoke test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79D1E-4B61-9532-CE6C-E239FC6876BF}"/>
              </a:ext>
            </a:extLst>
          </p:cNvPr>
          <p:cNvSpPr/>
          <p:nvPr/>
        </p:nvSpPr>
        <p:spPr>
          <a:xfrm>
            <a:off x="6248400" y="6045200"/>
            <a:ext cx="5397500" cy="609600"/>
          </a:xfrm>
          <a:prstGeom prst="rect">
            <a:avLst/>
          </a:prstGeom>
          <a:solidFill>
            <a:srgbClr val="FDF2F0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待补：运行完整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20 epoch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后，用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summary.md/csv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更新本页数值表，旧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表不进入最终结论。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00A5EC-9171-3D81-5904-9EF378F9889A}"/>
              </a:ext>
            </a:extLst>
          </p:cNvPr>
          <p:cNvSpPr/>
          <p:nvPr/>
        </p:nvSpPr>
        <p:spPr>
          <a:xfrm>
            <a:off x="330200" y="68072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54BE8-4461-5C8A-0680-2A392631B779}"/>
              </a:ext>
            </a:extLst>
          </p:cNvPr>
          <p:cNvSpPr txBox="1"/>
          <p:nvPr/>
        </p:nvSpPr>
        <p:spPr>
          <a:xfrm>
            <a:off x="355600" y="6858000"/>
            <a:ext cx="9906000" cy="18466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正式命令见脚本说明；建议输出：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results/conv_arch_ablation_mytorch_full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2006A6-F584-5BE1-7511-CBE56ACBFF37}"/>
              </a:ext>
            </a:extLst>
          </p:cNvPr>
          <p:cNvSpPr txBox="1"/>
          <p:nvPr/>
        </p:nvSpPr>
        <p:spPr>
          <a:xfrm>
            <a:off x="11747500" y="6858000"/>
            <a:ext cx="381000" cy="200055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F6AE53-E896-DA97-9C1F-3BF697A40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4528F3-D699-3EC2-F374-17829DFF0D55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34638-E830-6101-7BCB-B74B31E852A6}"/>
              </a:ext>
            </a:extLst>
          </p:cNvPr>
          <p:cNvSpPr txBox="1"/>
          <p:nvPr/>
        </p:nvSpPr>
        <p:spPr>
          <a:xfrm>
            <a:off x="635000" y="355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第五部分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计算图优化方法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351916-88AC-0676-BDA2-43584C8E9D9B}"/>
              </a:ext>
            </a:extLst>
          </p:cNvPr>
          <p:cNvSpPr txBox="1"/>
          <p:nvPr/>
        </p:nvSpPr>
        <p:spPr>
          <a:xfrm>
            <a:off x="571500" y="736600"/>
            <a:ext cx="1060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计算图优化方法：静态融合 </a:t>
            </a:r>
            <a:r>
              <a:rPr lang="en-US" altLang="zh-CN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+ JIT </a:t>
            </a:r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B2EBA-B663-F46A-CB86-DBA54FCD6DC2}"/>
              </a:ext>
            </a:extLst>
          </p:cNvPr>
          <p:cNvSpPr txBox="1"/>
          <p:nvPr/>
        </p:nvSpPr>
        <p:spPr>
          <a:xfrm>
            <a:off x="596900" y="15113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采用保守训练期优化：静态替换可安全融合的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，再由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JIT Trace → Optimize → Execute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执行前向图；反向传播仍由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eager autograd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完成。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5B9CF7-74AB-15BF-F5F8-3C9518818111}"/>
              </a:ext>
            </a:extLst>
          </p:cNvPr>
          <p:cNvSpPr/>
          <p:nvPr/>
        </p:nvSpPr>
        <p:spPr>
          <a:xfrm>
            <a:off x="609600" y="2286000"/>
            <a:ext cx="2349500" cy="1625600"/>
          </a:xfrm>
          <a:prstGeom prst="rect">
            <a:avLst/>
          </a:prstGeom>
          <a:solidFill>
            <a:srgbClr val="EFF5FF"/>
          </a:solidFill>
          <a:ln w="1905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5810A9-59FC-A7AF-1C55-F00E57E3A7F8}"/>
              </a:ext>
            </a:extLst>
          </p:cNvPr>
          <p:cNvSpPr/>
          <p:nvPr/>
        </p:nvSpPr>
        <p:spPr>
          <a:xfrm>
            <a:off x="609600" y="2286000"/>
            <a:ext cx="23495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961AB-5046-474D-B269-CB2065E11393}"/>
              </a:ext>
            </a:extLst>
          </p:cNvPr>
          <p:cNvSpPr txBox="1"/>
          <p:nvPr/>
        </p:nvSpPr>
        <p:spPr>
          <a:xfrm>
            <a:off x="812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D65F6"/>
                </a:solidFill>
                <a:latin typeface="Microsoft YaHei" panose="020B0503020204020204" pitchFamily="34" charset="-122"/>
              </a:rPr>
              <a:t>STEP 1</a:t>
            </a:r>
            <a:endParaRPr lang="zh-CN" altLang="en-US" sz="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9E2060-9E75-B1EA-7CA9-FE189FF5D156}"/>
              </a:ext>
            </a:extLst>
          </p:cNvPr>
          <p:cNvSpPr txBox="1"/>
          <p:nvPr/>
        </p:nvSpPr>
        <p:spPr>
          <a:xfrm>
            <a:off x="812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50787-7E70-446E-5F40-AAAC46E772E9}"/>
              </a:ext>
            </a:extLst>
          </p:cNvPr>
          <p:cNvSpPr txBox="1"/>
          <p:nvPr/>
        </p:nvSpPr>
        <p:spPr>
          <a:xfrm>
            <a:off x="812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Module forward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运行时捕获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IRGraph / IRNode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cache key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绑定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backend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C72AA6-6A9F-3D8B-B4D7-37DDAAFA956E}"/>
              </a:ext>
            </a:extLst>
          </p:cNvPr>
          <p:cNvSpPr txBox="1"/>
          <p:nvPr/>
        </p:nvSpPr>
        <p:spPr>
          <a:xfrm>
            <a:off x="3098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CCC0E1-888C-A3BB-9022-E7FD1277F5AE}"/>
              </a:ext>
            </a:extLst>
          </p:cNvPr>
          <p:cNvSpPr/>
          <p:nvPr/>
        </p:nvSpPr>
        <p:spPr>
          <a:xfrm>
            <a:off x="3467100" y="2286000"/>
            <a:ext cx="2349500" cy="1625600"/>
          </a:xfrm>
          <a:prstGeom prst="rect">
            <a:avLst/>
          </a:prstGeom>
          <a:solidFill>
            <a:srgbClr val="EFFAF4"/>
          </a:solidFill>
          <a:ln w="1905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9845CD-16AD-7E52-A0DA-92C708346C28}"/>
              </a:ext>
            </a:extLst>
          </p:cNvPr>
          <p:cNvSpPr/>
          <p:nvPr/>
        </p:nvSpPr>
        <p:spPr>
          <a:xfrm>
            <a:off x="3467100" y="2286000"/>
            <a:ext cx="234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003FA9-7EA7-E793-EA6F-CB28A2D6741E}"/>
              </a:ext>
            </a:extLst>
          </p:cNvPr>
          <p:cNvSpPr txBox="1"/>
          <p:nvPr/>
        </p:nvSpPr>
        <p:spPr>
          <a:xfrm>
            <a:off x="3670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B8D5C"/>
                </a:solidFill>
                <a:latin typeface="Microsoft YaHei" panose="020B0503020204020204" pitchFamily="34" charset="-122"/>
              </a:rPr>
              <a:t>STEP 2</a:t>
            </a:r>
            <a:endParaRPr lang="zh-CN" altLang="en-US" sz="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A11123-60B2-91C3-4D39-DDF92A8686E8}"/>
              </a:ext>
            </a:extLst>
          </p:cNvPr>
          <p:cNvSpPr txBox="1"/>
          <p:nvPr/>
        </p:nvSpPr>
        <p:spPr>
          <a:xfrm>
            <a:off x="3670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静态融合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EE913D-209D-9CA9-C66C-1D44597C7D62}"/>
              </a:ext>
            </a:extLst>
          </p:cNvPr>
          <p:cNvSpPr txBox="1"/>
          <p:nvPr/>
        </p:nvSpPr>
        <p:spPr>
          <a:xfrm>
            <a:off x="3670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fuse_bn_relu_for_training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预先改写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ResNet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；正式路线不启用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experimental Conv-BN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73104-EE9D-CC56-180B-7B25D0F9B296}"/>
              </a:ext>
            </a:extLst>
          </p:cNvPr>
          <p:cNvSpPr txBox="1"/>
          <p:nvPr/>
        </p:nvSpPr>
        <p:spPr>
          <a:xfrm>
            <a:off x="59563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B6C538-1198-9759-3EBC-61D8A9E1C4F6}"/>
              </a:ext>
            </a:extLst>
          </p:cNvPr>
          <p:cNvSpPr/>
          <p:nvPr/>
        </p:nvSpPr>
        <p:spPr>
          <a:xfrm>
            <a:off x="6324600" y="2286000"/>
            <a:ext cx="2349500" cy="1625600"/>
          </a:xfrm>
          <a:prstGeom prst="rect">
            <a:avLst/>
          </a:prstGeom>
          <a:solidFill>
            <a:srgbClr val="FFF8EC"/>
          </a:solidFill>
          <a:ln w="1905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616644-AA58-DDAC-92C8-3A1E2E51D4C1}"/>
              </a:ext>
            </a:extLst>
          </p:cNvPr>
          <p:cNvSpPr/>
          <p:nvPr/>
        </p:nvSpPr>
        <p:spPr>
          <a:xfrm>
            <a:off x="6324600" y="2286000"/>
            <a:ext cx="234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63CA26-8423-FEB4-0B7B-91B8303E7654}"/>
              </a:ext>
            </a:extLst>
          </p:cNvPr>
          <p:cNvSpPr txBox="1"/>
          <p:nvPr/>
        </p:nvSpPr>
        <p:spPr>
          <a:xfrm>
            <a:off x="6527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D68E1D"/>
                </a:solidFill>
                <a:latin typeface="Microsoft YaHei" panose="020B0503020204020204" pitchFamily="34" charset="-122"/>
              </a:rPr>
              <a:t>STEP 3</a:t>
            </a:r>
            <a:endParaRPr lang="zh-CN" altLang="en-US" sz="850" b="1">
              <a:solidFill>
                <a:srgbClr val="D68E1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997B97-0167-72F2-254C-A64FC1DA4DBE}"/>
              </a:ext>
            </a:extLst>
          </p:cNvPr>
          <p:cNvSpPr txBox="1"/>
          <p:nvPr/>
        </p:nvSpPr>
        <p:spPr>
          <a:xfrm>
            <a:off x="6527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Optimize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图优化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80143-124C-F4C4-A6E7-55C69D39A31B}"/>
              </a:ext>
            </a:extLst>
          </p:cNvPr>
          <p:cNvSpPr txBox="1"/>
          <p:nvPr/>
        </p:nvSpPr>
        <p:spPr>
          <a:xfrm>
            <a:off x="6527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optimize_graph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清理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no-op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、冗余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、无效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；识别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Add/ReLU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Linear/ReLU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等可融合模式。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131543-7B23-BA1F-AB49-15704320DF5A}"/>
              </a:ext>
            </a:extLst>
          </p:cNvPr>
          <p:cNvSpPr txBox="1"/>
          <p:nvPr/>
        </p:nvSpPr>
        <p:spPr>
          <a:xfrm>
            <a:off x="8813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79F81F-8BB3-C9A1-0E37-F53660B91979}"/>
              </a:ext>
            </a:extLst>
          </p:cNvPr>
          <p:cNvSpPr/>
          <p:nvPr/>
        </p:nvSpPr>
        <p:spPr>
          <a:xfrm>
            <a:off x="9182100" y="2286000"/>
            <a:ext cx="2349500" cy="1625600"/>
          </a:xfrm>
          <a:prstGeom prst="rect">
            <a:avLst/>
          </a:prstGeom>
          <a:solidFill>
            <a:srgbClr val="FFF1F0"/>
          </a:solidFill>
          <a:ln w="1905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330A4F-7EE9-5E90-5CBC-323F11BA62DE}"/>
              </a:ext>
            </a:extLst>
          </p:cNvPr>
          <p:cNvSpPr/>
          <p:nvPr/>
        </p:nvSpPr>
        <p:spPr>
          <a:xfrm>
            <a:off x="9182100" y="2286000"/>
            <a:ext cx="2349500" cy="571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0C8067-F24D-B841-801C-01D26CE824C2}"/>
              </a:ext>
            </a:extLst>
          </p:cNvPr>
          <p:cNvSpPr txBox="1"/>
          <p:nvPr/>
        </p:nvSpPr>
        <p:spPr>
          <a:xfrm>
            <a:off x="9385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CF3B2C"/>
                </a:solidFill>
                <a:latin typeface="Microsoft YaHei" panose="020B0503020204020204" pitchFamily="34" charset="-122"/>
              </a:rPr>
              <a:t>STEP 4</a:t>
            </a:r>
            <a:endParaRPr lang="zh-CN" altLang="en-US" sz="85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1431B-9889-8F0A-9373-93AE8ABD0A3A}"/>
              </a:ext>
            </a:extLst>
          </p:cNvPr>
          <p:cNvSpPr txBox="1"/>
          <p:nvPr/>
        </p:nvSpPr>
        <p:spPr>
          <a:xfrm>
            <a:off x="9385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Execute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82F64B-48B0-E2EA-6015-20CF7A4E8F5B}"/>
              </a:ext>
            </a:extLst>
          </p:cNvPr>
          <p:cNvSpPr txBox="1"/>
          <p:nvPr/>
        </p:nvSpPr>
        <p:spPr>
          <a:xfrm>
            <a:off x="9385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 graph executor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生成前向计划；按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consumer count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释放中间结果引用，保持与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eager backward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兼容。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360FF5-83FA-2CB5-585D-803EE2877904}"/>
              </a:ext>
            </a:extLst>
          </p:cNvPr>
          <p:cNvSpPr/>
          <p:nvPr/>
        </p:nvSpPr>
        <p:spPr>
          <a:xfrm>
            <a:off x="787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AD9C14-E84A-6631-8EF6-5569DA21BAE0}"/>
              </a:ext>
            </a:extLst>
          </p:cNvPr>
          <p:cNvSpPr/>
          <p:nvPr/>
        </p:nvSpPr>
        <p:spPr>
          <a:xfrm>
            <a:off x="787400" y="4318000"/>
            <a:ext cx="488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8B9AF6-BFF9-C5A8-1084-4C9B501BAF83}"/>
              </a:ext>
            </a:extLst>
          </p:cNvPr>
          <p:cNvSpPr txBox="1"/>
          <p:nvPr/>
        </p:nvSpPr>
        <p:spPr>
          <a:xfrm>
            <a:off x="1041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的边界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4862B21-FC11-C928-CEAD-8FD27FBE3502}"/>
              </a:ext>
            </a:extLst>
          </p:cNvPr>
          <p:cNvSpPr txBox="1"/>
          <p:nvPr/>
        </p:nvSpPr>
        <p:spPr>
          <a:xfrm>
            <a:off x="1041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只优化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forward graph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loss / backward / optimizer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仍走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eager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正式实验应与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保持同一条静态融合路线。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6EE64D-0960-AEBF-C4A2-2C54F8B140E5}"/>
              </a:ext>
            </a:extLst>
          </p:cNvPr>
          <p:cNvSpPr/>
          <p:nvPr/>
        </p:nvSpPr>
        <p:spPr>
          <a:xfrm>
            <a:off x="6502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2C9778-F342-B178-C55E-9DD08C4787D6}"/>
              </a:ext>
            </a:extLst>
          </p:cNvPr>
          <p:cNvSpPr/>
          <p:nvPr/>
        </p:nvSpPr>
        <p:spPr>
          <a:xfrm>
            <a:off x="6502400" y="4318000"/>
            <a:ext cx="488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2B7AFD-2DF3-2B40-96F0-C803D78347F7}"/>
              </a:ext>
            </a:extLst>
          </p:cNvPr>
          <p:cNvSpPr txBox="1"/>
          <p:nvPr/>
        </p:nvSpPr>
        <p:spPr>
          <a:xfrm>
            <a:off x="6756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为什么要做静态融合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F33A36-3504-DC81-D9B6-AFC585DE7CBF}"/>
              </a:ext>
            </a:extLst>
          </p:cNvPr>
          <p:cNvSpPr txBox="1"/>
          <p:nvPr/>
        </p:nvSpPr>
        <p:spPr>
          <a:xfrm>
            <a:off x="6756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把可确定的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BN/ReLU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组合提前替换，减少训练循环中的动态扫描开销；融合粒度保守，优先保证正确性与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可比。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9827B66-3CE4-4160-7E48-C41DC84141DB}"/>
              </a:ext>
            </a:extLst>
          </p:cNvPr>
          <p:cNvCxnSpPr/>
          <p:nvPr/>
        </p:nvCxnSpPr>
        <p:spPr>
          <a:xfrm>
            <a:off x="393700" y="63373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E28089B-BFB0-478A-8699-F4671B08A17F}"/>
              </a:ext>
            </a:extLst>
          </p:cNvPr>
          <p:cNvSpPr txBox="1"/>
          <p:nvPr/>
        </p:nvSpPr>
        <p:spPr>
          <a:xfrm>
            <a:off x="419100" y="65278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mytorch/jit_pass.py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mytorch/jit_train_rewrite.py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model/resnet.py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32C56-C129-D42B-F569-ED1B45F69C22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88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CEB161C-3909-524A-3B20-8C3141D03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DF8193-C298-DC53-A857-C90C0716FA84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AD36C3-D7B7-4F85-FE72-23897E0F2845}"/>
              </a:ext>
            </a:extLst>
          </p:cNvPr>
          <p:cNvSpPr txBox="1"/>
          <p:nvPr/>
        </p:nvSpPr>
        <p:spPr>
          <a:xfrm>
            <a:off x="635000" y="355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0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CCD11B-62B9-1861-CEC0-8F3F9B2A5430}"/>
              </a:ext>
            </a:extLst>
          </p:cNvPr>
          <p:cNvSpPr txBox="1"/>
          <p:nvPr/>
        </p:nvSpPr>
        <p:spPr>
          <a:xfrm>
            <a:off x="571500" y="7366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部署实验已跑通：</a:t>
            </a:r>
            <a:r>
              <a:rPr lang="en-US" altLang="zh-CN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Local → Docker → kind/K8s Job</a:t>
            </a:r>
            <a:endParaRPr lang="zh-CN" altLang="en-US" sz="258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A107C9-91F9-84F9-E039-07C0866EF16B}"/>
              </a:ext>
            </a:extLst>
          </p:cNvPr>
          <p:cNvSpPr txBox="1"/>
          <p:nvPr/>
        </p:nvSpPr>
        <p:spPr>
          <a:xfrm>
            <a:off x="596900" y="15113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DonkeyCar MyTorch JIT 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训练任务，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temporal split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1 epoch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batch_size=8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max train/val batches=20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；结果路径 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EA3BDE-E714-F9A8-0ACC-189D0F3604AB}"/>
              </a:ext>
            </a:extLst>
          </p:cNvPr>
          <p:cNvSpPr/>
          <p:nvPr/>
        </p:nvSpPr>
        <p:spPr>
          <a:xfrm>
            <a:off x="596900" y="2184400"/>
            <a:ext cx="3302000" cy="1422400"/>
          </a:xfrm>
          <a:prstGeom prst="rect">
            <a:avLst/>
          </a:prstGeom>
          <a:solidFill>
            <a:srgbClr val="EFF5FF"/>
          </a:solidFill>
          <a:ln w="1651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278A8D-C53D-4EE1-401A-0D65126C6835}"/>
              </a:ext>
            </a:extLst>
          </p:cNvPr>
          <p:cNvSpPr/>
          <p:nvPr/>
        </p:nvSpPr>
        <p:spPr>
          <a:xfrm>
            <a:off x="596900" y="2184400"/>
            <a:ext cx="33020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5F1ACD-15A3-17EE-A12B-09ACA71CE415}"/>
              </a:ext>
            </a:extLst>
          </p:cNvPr>
          <p:cNvSpPr txBox="1"/>
          <p:nvPr/>
        </p:nvSpPr>
        <p:spPr>
          <a:xfrm>
            <a:off x="8001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容器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E6C29ED-1D19-A825-FC3A-55EB551F7E0A}"/>
              </a:ext>
            </a:extLst>
          </p:cNvPr>
          <p:cNvSpPr txBox="1"/>
          <p:nvPr/>
        </p:nvSpPr>
        <p:spPr>
          <a:xfrm>
            <a:off x="8001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Dockerfile.donkeycar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构建成功，镜像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mytorch-donkeycar:latest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；数据和输出通过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volume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15CC9EC-DF78-3C9A-3CA3-E31F754A8C25}"/>
              </a:ext>
            </a:extLst>
          </p:cNvPr>
          <p:cNvSpPr txBox="1"/>
          <p:nvPr/>
        </p:nvSpPr>
        <p:spPr>
          <a:xfrm>
            <a:off x="8001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D65F6"/>
                </a:solidFill>
                <a:latin typeface="Microsoft YaHei" panose="020B0503020204020204" pitchFamily="34" charset="-122"/>
              </a:rPr>
              <a:t>build avg 2.343s / image 673MB</a:t>
            </a:r>
            <a:endParaRPr lang="zh-CN" altLang="en-US" sz="91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E034EED-3087-AA7E-3BA7-F03CB37B6567}"/>
              </a:ext>
            </a:extLst>
          </p:cNvPr>
          <p:cNvSpPr/>
          <p:nvPr/>
        </p:nvSpPr>
        <p:spPr>
          <a:xfrm>
            <a:off x="4254500" y="2184400"/>
            <a:ext cx="3302000" cy="1422400"/>
          </a:xfrm>
          <a:prstGeom prst="rect">
            <a:avLst/>
          </a:prstGeom>
          <a:solidFill>
            <a:srgbClr val="F0FAF5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B55ADC-71FA-C80E-78DD-C4F7F2A346A3}"/>
              </a:ext>
            </a:extLst>
          </p:cNvPr>
          <p:cNvSpPr/>
          <p:nvPr/>
        </p:nvSpPr>
        <p:spPr>
          <a:xfrm>
            <a:off x="4254500" y="2184400"/>
            <a:ext cx="33020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1386CB-A079-9511-85D3-3BA157749BDA}"/>
              </a:ext>
            </a:extLst>
          </p:cNvPr>
          <p:cNvSpPr txBox="1"/>
          <p:nvPr/>
        </p:nvSpPr>
        <p:spPr>
          <a:xfrm>
            <a:off x="44577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K8s Job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7EB8A32-C4C4-0269-C82A-21F78C04215A}"/>
              </a:ext>
            </a:extLst>
          </p:cNvPr>
          <p:cNvSpPr txBox="1"/>
          <p:nvPr/>
        </p:nvSpPr>
        <p:spPr>
          <a:xfrm>
            <a:off x="44577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kind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集群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Ready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；镜像已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load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到节点，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hostPath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挂载数据与输出目录。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F2AC35-2206-2A8E-1D36-654636F050F7}"/>
              </a:ext>
            </a:extLst>
          </p:cNvPr>
          <p:cNvSpPr txBox="1"/>
          <p:nvPr/>
        </p:nvSpPr>
        <p:spPr>
          <a:xfrm>
            <a:off x="44577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B8D5C"/>
                </a:solidFill>
                <a:latin typeface="Microsoft YaHei" panose="020B0503020204020204" pitchFamily="34" charset="-122"/>
              </a:rPr>
              <a:t>Complete 1/1 / duration 37s</a:t>
            </a:r>
            <a:endParaRPr lang="zh-CN" altLang="en-US" sz="91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206141-FD2C-2DE6-A719-CF7CE6A540B2}"/>
              </a:ext>
            </a:extLst>
          </p:cNvPr>
          <p:cNvSpPr/>
          <p:nvPr/>
        </p:nvSpPr>
        <p:spPr>
          <a:xfrm>
            <a:off x="7912100" y="2184400"/>
            <a:ext cx="3302000" cy="1422400"/>
          </a:xfrm>
          <a:prstGeom prst="rect">
            <a:avLst/>
          </a:prstGeom>
          <a:solidFill>
            <a:srgbClr val="FFF8EC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FD0D4E-925B-BBBE-81AB-11B144385938}"/>
              </a:ext>
            </a:extLst>
          </p:cNvPr>
          <p:cNvSpPr/>
          <p:nvPr/>
        </p:nvSpPr>
        <p:spPr>
          <a:xfrm>
            <a:off x="7912100" y="2184400"/>
            <a:ext cx="33020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C79C62-8BBD-1000-1621-C8B299E63DBB}"/>
              </a:ext>
            </a:extLst>
          </p:cNvPr>
          <p:cNvSpPr txBox="1"/>
          <p:nvPr/>
        </p:nvSpPr>
        <p:spPr>
          <a:xfrm>
            <a:off x="81153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Kuflow/Kubeflow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B8BBB2E-3F1A-C228-EFAC-E5B10E21D516}"/>
              </a:ext>
            </a:extLst>
          </p:cNvPr>
          <p:cNvSpPr txBox="1"/>
          <p:nvPr/>
        </p:nvSpPr>
        <p:spPr>
          <a:xfrm>
            <a:off x="81153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DONKEYCAR_TRAIN operator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pipeline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入口已完成；本轮验证到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层。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21261B0-1B36-5E7C-340F-1A13237DCB44}"/>
              </a:ext>
            </a:extLst>
          </p:cNvPr>
          <p:cNvSpPr txBox="1"/>
          <p:nvPr/>
        </p:nvSpPr>
        <p:spPr>
          <a:xfrm>
            <a:off x="81153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YAML + UI smoke run </a:t>
            </a:r>
            <a:r>
              <a:rPr lang="zh-CN" altLang="en-US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成功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8CC58A0-A28A-D6ED-CE9F-20279CAC6174}"/>
              </a:ext>
            </a:extLst>
          </p:cNvPr>
          <p:cNvSpPr/>
          <p:nvPr/>
        </p:nvSpPr>
        <p:spPr>
          <a:xfrm>
            <a:off x="660400" y="3975100"/>
            <a:ext cx="10604500" cy="1727200"/>
          </a:xfrm>
          <a:prstGeom prst="rect">
            <a:avLst/>
          </a:prstGeom>
          <a:solidFill>
            <a:srgbClr val="FDFBF7"/>
          </a:solidFill>
          <a:ln w="1143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FE2E370-737B-DEE8-81F9-12BCB0898589}"/>
              </a:ext>
            </a:extLst>
          </p:cNvPr>
          <p:cNvSpPr txBox="1"/>
          <p:nvPr/>
        </p:nvSpPr>
        <p:spPr>
          <a:xfrm>
            <a:off x="889000" y="41529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benchmark </a:t>
            </a:r>
            <a:r>
              <a:rPr lang="zh-CN" altLang="en-US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结果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5E1F2AB-CC24-669B-7882-39C7ED95EB55}"/>
              </a:ext>
            </a:extLst>
          </p:cNvPr>
          <p:cNvSpPr txBox="1"/>
          <p:nvPr/>
        </p:nvSpPr>
        <p:spPr>
          <a:xfrm>
            <a:off x="889000" y="45212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mode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5D67CE-7587-A430-D0DC-DE6966C69B6F}"/>
              </a:ext>
            </a:extLst>
          </p:cNvPr>
          <p:cNvSpPr txBox="1"/>
          <p:nvPr/>
        </p:nvSpPr>
        <p:spPr>
          <a:xfrm>
            <a:off x="2413000" y="4521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status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5CD304-D31F-D44E-8E22-88D53EFA0D4D}"/>
              </a:ext>
            </a:extLst>
          </p:cNvPr>
          <p:cNvSpPr txBox="1"/>
          <p:nvPr/>
        </p:nvSpPr>
        <p:spPr>
          <a:xfrm>
            <a:off x="3619500" y="4521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wall time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5A82B96-9438-F50D-5FAB-962204EE082F}"/>
              </a:ext>
            </a:extLst>
          </p:cNvPr>
          <p:cNvSpPr txBox="1"/>
          <p:nvPr/>
        </p:nvSpPr>
        <p:spPr>
          <a:xfrm>
            <a:off x="4953000" y="45212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训练结果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A57DE8D-D5C8-0138-1CA3-3F790BE3D238}"/>
              </a:ext>
            </a:extLst>
          </p:cNvPr>
          <p:cNvSpPr txBox="1"/>
          <p:nvPr/>
        </p:nvSpPr>
        <p:spPr>
          <a:xfrm>
            <a:off x="6794500" y="4521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说明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6FD8334-C415-6402-81AD-BF3DD9743CCF}"/>
              </a:ext>
            </a:extLst>
          </p:cNvPr>
          <p:cNvSpPr txBox="1"/>
          <p:nvPr/>
        </p:nvSpPr>
        <p:spPr>
          <a:xfrm>
            <a:off x="889000" y="48006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local_bare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2BF7DBD-80E3-5A80-E707-69CFA0F7F7AA}"/>
              </a:ext>
            </a:extLst>
          </p:cNvPr>
          <p:cNvSpPr txBox="1"/>
          <p:nvPr/>
        </p:nvSpPr>
        <p:spPr>
          <a:xfrm>
            <a:off x="2413000" y="48006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8CEEFF-E38B-9A7A-0B34-7E1FBD8EE8C1}"/>
              </a:ext>
            </a:extLst>
          </p:cNvPr>
          <p:cNvSpPr txBox="1"/>
          <p:nvPr/>
        </p:nvSpPr>
        <p:spPr>
          <a:xfrm>
            <a:off x="3619500" y="48006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52.597s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F9DB79B-7247-CD91-5647-140EC17DF2B8}"/>
              </a:ext>
            </a:extLst>
          </p:cNvPr>
          <p:cNvSpPr txBox="1"/>
          <p:nvPr/>
        </p:nvSpPr>
        <p:spPr>
          <a:xfrm>
            <a:off x="4953000" y="48006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42.083s / MSE 1.418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DAA2738-4DE5-3447-88FD-AF7D1760D3D7}"/>
              </a:ext>
            </a:extLst>
          </p:cNvPr>
          <p:cNvSpPr txBox="1"/>
          <p:nvPr/>
        </p:nvSpPr>
        <p:spPr>
          <a:xfrm>
            <a:off x="6794500" y="4800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本地脚本通过，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OpenMP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冲突已用环境变量规避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6C7DA9D-3532-1704-FEBD-F0C3E703A646}"/>
              </a:ext>
            </a:extLst>
          </p:cNvPr>
          <p:cNvSpPr txBox="1"/>
          <p:nvPr/>
        </p:nvSpPr>
        <p:spPr>
          <a:xfrm>
            <a:off x="889000" y="499364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docker_build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233CA3E-B7AE-C74C-DEEA-EB568B58F656}"/>
              </a:ext>
            </a:extLst>
          </p:cNvPr>
          <p:cNvSpPr txBox="1"/>
          <p:nvPr/>
        </p:nvSpPr>
        <p:spPr>
          <a:xfrm>
            <a:off x="2413000" y="499364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36DDA67-EDAF-0A12-C601-995A8B4D791A}"/>
              </a:ext>
            </a:extLst>
          </p:cNvPr>
          <p:cNvSpPr txBox="1"/>
          <p:nvPr/>
        </p:nvSpPr>
        <p:spPr>
          <a:xfrm>
            <a:off x="3619500" y="499364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2.343s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0C0A487-F2BB-2D5B-0B45-7E4E678D086E}"/>
              </a:ext>
            </a:extLst>
          </p:cNvPr>
          <p:cNvSpPr txBox="1"/>
          <p:nvPr/>
        </p:nvSpPr>
        <p:spPr>
          <a:xfrm>
            <a:off x="4953000" y="499364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image 673MB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914612E-C501-4E5E-3843-6F57C4DF559E}"/>
              </a:ext>
            </a:extLst>
          </p:cNvPr>
          <p:cNvSpPr txBox="1"/>
          <p:nvPr/>
        </p:nvSpPr>
        <p:spPr>
          <a:xfrm>
            <a:off x="6794500" y="499364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缓存构建成功，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Dockerfile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语法已修正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656CC3A-854E-C273-6F5B-F016B081C84F}"/>
              </a:ext>
            </a:extLst>
          </p:cNvPr>
          <p:cNvSpPr txBox="1"/>
          <p:nvPr/>
        </p:nvSpPr>
        <p:spPr>
          <a:xfrm>
            <a:off x="889000" y="518668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docker_run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E935D1-5717-5F28-A72F-00F0FBED6B0A}"/>
              </a:ext>
            </a:extLst>
          </p:cNvPr>
          <p:cNvSpPr txBox="1"/>
          <p:nvPr/>
        </p:nvSpPr>
        <p:spPr>
          <a:xfrm>
            <a:off x="2413000" y="518668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CA7461-7808-44E9-6CD4-0B0FE92D9BB0}"/>
              </a:ext>
            </a:extLst>
          </p:cNvPr>
          <p:cNvSpPr txBox="1"/>
          <p:nvPr/>
        </p:nvSpPr>
        <p:spPr>
          <a:xfrm>
            <a:off x="3619500" y="518668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36.903s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7E5AF03-3E59-72CB-F958-3A732A218B2D}"/>
              </a:ext>
            </a:extLst>
          </p:cNvPr>
          <p:cNvSpPr txBox="1"/>
          <p:nvPr/>
        </p:nvSpPr>
        <p:spPr>
          <a:xfrm>
            <a:off x="4953000" y="518668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31.481s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C29BF0-7CC4-B1EB-AF95-1AA80FA47808}"/>
              </a:ext>
            </a:extLst>
          </p:cNvPr>
          <p:cNvSpPr txBox="1"/>
          <p:nvPr/>
        </p:nvSpPr>
        <p:spPr>
          <a:xfrm>
            <a:off x="6794500" y="518668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容器内完成 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训练并写回输出目录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1CC399A-C178-C791-59A0-D2650FBF9B61}"/>
              </a:ext>
            </a:extLst>
          </p:cNvPr>
          <p:cNvSpPr txBox="1"/>
          <p:nvPr/>
        </p:nvSpPr>
        <p:spPr>
          <a:xfrm>
            <a:off x="889000" y="537972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k8s_apply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5CCDF8E-F0EC-26C6-D6F9-CD0238C21DC5}"/>
              </a:ext>
            </a:extLst>
          </p:cNvPr>
          <p:cNvSpPr txBox="1"/>
          <p:nvPr/>
        </p:nvSpPr>
        <p:spPr>
          <a:xfrm>
            <a:off x="2413000" y="537972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5F69765-5DE3-043C-A725-EC0C54C07F47}"/>
              </a:ext>
            </a:extLst>
          </p:cNvPr>
          <p:cNvSpPr txBox="1"/>
          <p:nvPr/>
        </p:nvSpPr>
        <p:spPr>
          <a:xfrm>
            <a:off x="3619500" y="537972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0.113s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A9E8744-B20A-FDD9-F98E-E978B679B6F4}"/>
              </a:ext>
            </a:extLst>
          </p:cNvPr>
          <p:cNvSpPr txBox="1"/>
          <p:nvPr/>
        </p:nvSpPr>
        <p:spPr>
          <a:xfrm>
            <a:off x="4953000" y="537972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job created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B87912E-5D6F-D376-3AD1-DD9A4FCAB8F9}"/>
              </a:ext>
            </a:extLst>
          </p:cNvPr>
          <p:cNvSpPr txBox="1"/>
          <p:nvPr/>
        </p:nvSpPr>
        <p:spPr>
          <a:xfrm>
            <a:off x="6794500" y="537972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deploy/k8s/donkeycar-training-job.kind.yaml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4340450-3B6F-2FC1-D44D-6BF3A7718A3D}"/>
              </a:ext>
            </a:extLst>
          </p:cNvPr>
          <p:cNvSpPr txBox="1"/>
          <p:nvPr/>
        </p:nvSpPr>
        <p:spPr>
          <a:xfrm>
            <a:off x="889000" y="557276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k8s_wait/logs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7AC1CB9-54D8-18BC-B520-C3A42DCC1DB9}"/>
              </a:ext>
            </a:extLst>
          </p:cNvPr>
          <p:cNvSpPr txBox="1"/>
          <p:nvPr/>
        </p:nvSpPr>
        <p:spPr>
          <a:xfrm>
            <a:off x="2413000" y="557276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6427717-CDEA-A0B2-337F-2FC2890FFFF2}"/>
              </a:ext>
            </a:extLst>
          </p:cNvPr>
          <p:cNvSpPr txBox="1"/>
          <p:nvPr/>
        </p:nvSpPr>
        <p:spPr>
          <a:xfrm>
            <a:off x="3619500" y="557276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38.378s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758B8C5-36F6-E049-DA76-280CABD885EF}"/>
              </a:ext>
            </a:extLst>
          </p:cNvPr>
          <p:cNvSpPr txBox="1"/>
          <p:nvPr/>
        </p:nvSpPr>
        <p:spPr>
          <a:xfrm>
            <a:off x="4953000" y="557276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27.610s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6BD44A7-BF43-399E-E3B6-E96F0A7EB57C}"/>
              </a:ext>
            </a:extLst>
          </p:cNvPr>
          <p:cNvSpPr txBox="1"/>
          <p:nvPr/>
        </p:nvSpPr>
        <p:spPr>
          <a:xfrm>
            <a:off x="6794500" y="557276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Job Complete 1/1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kubectl logs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已抓取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9B5CF82-3CED-2C05-C71A-4C79332DB3B5}"/>
              </a:ext>
            </a:extLst>
          </p:cNvPr>
          <p:cNvSpPr/>
          <p:nvPr/>
        </p:nvSpPr>
        <p:spPr>
          <a:xfrm>
            <a:off x="736600" y="5816600"/>
            <a:ext cx="4902200" cy="635000"/>
          </a:xfrm>
          <a:prstGeom prst="rect">
            <a:avLst/>
          </a:prstGeom>
          <a:solidFill>
            <a:srgbClr val="F0FAF5"/>
          </a:solidFill>
          <a:ln w="1397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8EEB4AD-1586-5271-50FE-D5662F072A16}"/>
              </a:ext>
            </a:extLst>
          </p:cNvPr>
          <p:cNvSpPr txBox="1"/>
          <p:nvPr/>
        </p:nvSpPr>
        <p:spPr>
          <a:xfrm>
            <a:off x="965200" y="5943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2B8D5C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4F30042-DFAD-F762-049F-3F7F239D1DCC}"/>
              </a:ext>
            </a:extLst>
          </p:cNvPr>
          <p:cNvSpPr txBox="1"/>
          <p:nvPr/>
        </p:nvSpPr>
        <p:spPr>
          <a:xfrm>
            <a:off x="965200" y="6197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训练任务已完成本地、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容器、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三种部署运行验证。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88F4661-B963-E7DC-96CD-A7DF7E82DDE5}"/>
              </a:ext>
            </a:extLst>
          </p:cNvPr>
          <p:cNvSpPr/>
          <p:nvPr/>
        </p:nvSpPr>
        <p:spPr>
          <a:xfrm>
            <a:off x="6070600" y="5816600"/>
            <a:ext cx="5181600" cy="635000"/>
          </a:xfrm>
          <a:prstGeom prst="rect">
            <a:avLst/>
          </a:prstGeom>
          <a:solidFill>
            <a:srgbClr val="F7F3FF"/>
          </a:solidFill>
          <a:ln w="13970">
            <a:solidFill>
              <a:srgbClr val="6E4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29EA6F5-A1F2-BE50-6D94-4A9A675CB64B}"/>
              </a:ext>
            </a:extLst>
          </p:cNvPr>
          <p:cNvSpPr txBox="1"/>
          <p:nvPr/>
        </p:nvSpPr>
        <p:spPr>
          <a:xfrm>
            <a:off x="6299200" y="5943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6E49D2"/>
                </a:solidFill>
                <a:latin typeface="Microsoft YaHei" panose="020B0503020204020204" pitchFamily="34" charset="-122"/>
              </a:rPr>
              <a:t>已补证据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74B5771-BF10-B3DE-C0E8-A5BB09AB7587}"/>
              </a:ext>
            </a:extLst>
          </p:cNvPr>
          <p:cNvSpPr txBox="1"/>
          <p:nvPr/>
        </p:nvSpPr>
        <p:spPr>
          <a:xfrm>
            <a:off x="6299200" y="61976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已生成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pipeline YAML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、完成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次重复统计，并获得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Kubeflow UI Succeeded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截图；完整训练已由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验证。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A6C849C4-15FA-8FA2-78D1-40160F6C0CD1}"/>
              </a:ext>
            </a:extLst>
          </p:cNvPr>
          <p:cNvCxnSpPr/>
          <p:nvPr/>
        </p:nvCxnSpPr>
        <p:spPr>
          <a:xfrm>
            <a:off x="393700" y="65659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3B79E35B-76B2-6010-5868-3A7D85ACE0F2}"/>
              </a:ext>
            </a:extLst>
          </p:cNvPr>
          <p:cNvSpPr txBox="1"/>
          <p:nvPr/>
        </p:nvSpPr>
        <p:spPr>
          <a:xfrm>
            <a:off x="419100" y="66802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依据：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results/deployment_kubeflow/mytorch_donkeycar_kubeflow_smoke.yaml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results/donkeycar_deployment_benchmark_repeats/deployment_repeats_summary.md</a:t>
            </a:r>
            <a:endParaRPr lang="zh-CN" altLang="en-US" sz="61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3FFC487-4A00-F68E-FAE4-B1B491B683B4}"/>
              </a:ext>
            </a:extLst>
          </p:cNvPr>
          <p:cNvSpPr txBox="1"/>
          <p:nvPr/>
        </p:nvSpPr>
        <p:spPr>
          <a:xfrm>
            <a:off x="10801350" y="66294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MixUp / CutMix 等均未超过 baseline。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</a:t>
            </a: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0D47373A-E432-8938-83DC-F905A0CE5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C3466-32D6-079C-B712-1B185C618EE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682F5-2E32-96D7-C246-28D83080BDE2}"/>
              </a:ext>
            </a:extLst>
          </p:cNvPr>
          <p:cNvSpPr txBox="1"/>
          <p:nvPr/>
        </p:nvSpPr>
        <p:spPr>
          <a:xfrm>
            <a:off x="609600" y="381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C526-5BA6-9B57-A25D-D14B516B3104}"/>
              </a:ext>
            </a:extLst>
          </p:cNvPr>
          <p:cNvSpPr txBox="1"/>
          <p:nvPr/>
        </p:nvSpPr>
        <p:spPr>
          <a:xfrm>
            <a:off x="609600" y="7366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困难二：完整 </a:t>
            </a:r>
            <a:r>
              <a:rPr lang="en-US" altLang="zh-CN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大融合没有比不融合更快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3789B2-E835-7B6F-AE33-40FA1DB90A9A}"/>
              </a:ext>
            </a:extLst>
          </p:cNvPr>
          <p:cNvSpPr txBox="1"/>
          <p:nvPr/>
        </p:nvSpPr>
        <p:spPr>
          <a:xfrm>
            <a:off x="609600" y="1320800"/>
            <a:ext cx="1041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这不是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或图扫描失败，而是融合粒度变大后，底层卷积、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workspace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没有同步升级为 </a:t>
            </a:r>
            <a:r>
              <a:rPr lang="en-US" altLang="zh-CN" sz="105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cuDNN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/CUTLASS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级高性能实现。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3C3C6-B77C-15A8-3E2A-6E42389C1203}"/>
              </a:ext>
            </a:extLst>
          </p:cNvPr>
          <p:cNvSpPr/>
          <p:nvPr/>
        </p:nvSpPr>
        <p:spPr>
          <a:xfrm>
            <a:off x="698500" y="1905000"/>
            <a:ext cx="38100" cy="736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EBADD-A2FC-98A6-4418-CF3182098338}"/>
              </a:ext>
            </a:extLst>
          </p:cNvPr>
          <p:cNvSpPr txBox="1"/>
          <p:nvPr/>
        </p:nvSpPr>
        <p:spPr>
          <a:xfrm>
            <a:off x="8509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13.63x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72999-E939-A857-DFB3-D9785CE73BBE}"/>
              </a:ext>
            </a:extLst>
          </p:cNvPr>
          <p:cNvSpPr txBox="1"/>
          <p:nvPr/>
        </p:nvSpPr>
        <p:spPr>
          <a:xfrm>
            <a:off x="8509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total batch p50 </a:t>
            </a:r>
            <a:r>
              <a:rPr lang="zh-CN" altLang="en-US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慢于 </a:t>
            </a:r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PyTorch</a:t>
            </a:r>
            <a:endParaRPr lang="zh-CN" altLang="en-US" sz="82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BD978-2751-84A1-F4BC-6ECFFEAF4FD6}"/>
              </a:ext>
            </a:extLst>
          </p:cNvPr>
          <p:cNvSpPr/>
          <p:nvPr/>
        </p:nvSpPr>
        <p:spPr>
          <a:xfrm>
            <a:off x="3022600" y="1905000"/>
            <a:ext cx="38100" cy="736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C899FE-58E6-5B9C-4465-A29D031CB05D}"/>
              </a:ext>
            </a:extLst>
          </p:cNvPr>
          <p:cNvSpPr txBox="1"/>
          <p:nvPr/>
        </p:nvSpPr>
        <p:spPr>
          <a:xfrm>
            <a:off x="31750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28.20x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ADC0B9-22F9-9A2D-5B71-577D954D080D}"/>
              </a:ext>
            </a:extLst>
          </p:cNvPr>
          <p:cNvSpPr txBox="1"/>
          <p:nvPr/>
        </p:nvSpPr>
        <p:spPr>
          <a:xfrm>
            <a:off x="31750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backward p50 </a:t>
            </a:r>
            <a:r>
              <a:rPr lang="zh-CN" altLang="en-US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是最大瓶颈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06E175-D584-7A14-8F37-CA602755CCC5}"/>
              </a:ext>
            </a:extLst>
          </p:cNvPr>
          <p:cNvSpPr/>
          <p:nvPr/>
        </p:nvSpPr>
        <p:spPr>
          <a:xfrm>
            <a:off x="5346700" y="1905000"/>
            <a:ext cx="38100" cy="7366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FD707B-2101-FCCB-6818-E1DEDF902BEE}"/>
              </a:ext>
            </a:extLst>
          </p:cNvPr>
          <p:cNvSpPr txBox="1"/>
          <p:nvPr/>
        </p:nvSpPr>
        <p:spPr>
          <a:xfrm>
            <a:off x="54991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0.0047 ms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B17E0-0755-5ADC-22FF-73E4D0BC3210}"/>
              </a:ext>
            </a:extLst>
          </p:cNvPr>
          <p:cNvSpPr txBox="1"/>
          <p:nvPr/>
        </p:nvSpPr>
        <p:spPr>
          <a:xfrm>
            <a:off x="54991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loader fetch p50 </a:t>
            </a:r>
            <a:r>
              <a:rPr lang="zh-CN" altLang="en-US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很低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1D9ADD-6CFA-6A1B-25C6-492E216DF75F}"/>
              </a:ext>
            </a:extLst>
          </p:cNvPr>
          <p:cNvSpPr/>
          <p:nvPr/>
        </p:nvSpPr>
        <p:spPr>
          <a:xfrm>
            <a:off x="8077200" y="1905000"/>
            <a:ext cx="38100" cy="736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B76ED3-90CF-0B7A-3F70-4FF4DBA44374}"/>
              </a:ext>
            </a:extLst>
          </p:cNvPr>
          <p:cNvSpPr txBox="1"/>
          <p:nvPr/>
        </p:nvSpPr>
        <p:spPr>
          <a:xfrm>
            <a:off x="82296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BN-only</a:t>
            </a:r>
            <a:endParaRPr lang="zh-CN" altLang="en-US" sz="2000" b="1" dirty="0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302ADA-F944-5288-8277-C1715298699A}"/>
              </a:ext>
            </a:extLst>
          </p:cNvPr>
          <p:cNvSpPr txBox="1"/>
          <p:nvPr/>
        </p:nvSpPr>
        <p:spPr>
          <a:xfrm>
            <a:off x="82296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当前训练 </a:t>
            </a:r>
            <a:r>
              <a:rPr lang="en-US" altLang="zh-CN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默认策略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7CE944-858F-D31C-C521-21F36D7BD137}"/>
              </a:ext>
            </a:extLst>
          </p:cNvPr>
          <p:cNvSpPr/>
          <p:nvPr/>
        </p:nvSpPr>
        <p:spPr>
          <a:xfrm>
            <a:off x="889000" y="3048000"/>
            <a:ext cx="1651000" cy="55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7C2A84-57DB-C10D-6958-6403CEC65E1B}"/>
              </a:ext>
            </a:extLst>
          </p:cNvPr>
          <p:cNvSpPr txBox="1"/>
          <p:nvPr/>
        </p:nvSpPr>
        <p:spPr>
          <a:xfrm>
            <a:off x="965200" y="3162300"/>
            <a:ext cx="1498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期望：节点更少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359C0A5-6480-AC99-12AB-D7A8C72317A0}"/>
              </a:ext>
            </a:extLst>
          </p:cNvPr>
          <p:cNvCxnSpPr/>
          <p:nvPr/>
        </p:nvCxnSpPr>
        <p:spPr>
          <a:xfrm>
            <a:off x="2641600" y="3327400"/>
            <a:ext cx="69850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C5FCC-FCA6-885D-BC95-B368468EC960}"/>
              </a:ext>
            </a:extLst>
          </p:cNvPr>
          <p:cNvSpPr txBox="1"/>
          <p:nvPr/>
        </p:nvSpPr>
        <p:spPr>
          <a:xfrm>
            <a:off x="32385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0F766E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9D1C0D-42E8-0831-20B0-C9DDC084E40A}"/>
              </a:ext>
            </a:extLst>
          </p:cNvPr>
          <p:cNvSpPr/>
          <p:nvPr/>
        </p:nvSpPr>
        <p:spPr>
          <a:xfrm>
            <a:off x="3454400" y="3048000"/>
            <a:ext cx="2032000" cy="55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584396-8D36-666D-582F-CAAC31A9FA02}"/>
              </a:ext>
            </a:extLst>
          </p:cNvPr>
          <p:cNvSpPr txBox="1"/>
          <p:nvPr/>
        </p:nvSpPr>
        <p:spPr>
          <a:xfrm>
            <a:off x="3530600" y="3162300"/>
            <a:ext cx="1879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379E129-0590-C65F-EE2A-9B23DEC36E0D}"/>
              </a:ext>
            </a:extLst>
          </p:cNvPr>
          <p:cNvCxnSpPr/>
          <p:nvPr/>
        </p:nvCxnSpPr>
        <p:spPr>
          <a:xfrm>
            <a:off x="5588000" y="3327400"/>
            <a:ext cx="698500" cy="0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D20C681-9C7C-CF2E-3BEA-FA5E571AE9E1}"/>
              </a:ext>
            </a:extLst>
          </p:cNvPr>
          <p:cNvSpPr txBox="1"/>
          <p:nvPr/>
        </p:nvSpPr>
        <p:spPr>
          <a:xfrm>
            <a:off x="61849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9731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F973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D978E9-7FE1-3654-EB11-F1A8954B2D8B}"/>
              </a:ext>
            </a:extLst>
          </p:cNvPr>
          <p:cNvSpPr/>
          <p:nvPr/>
        </p:nvSpPr>
        <p:spPr>
          <a:xfrm>
            <a:off x="6400800" y="3048000"/>
            <a:ext cx="1905000" cy="55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2CF7A0-E830-9C75-8E15-E25BDF5755C7}"/>
              </a:ext>
            </a:extLst>
          </p:cNvPr>
          <p:cNvSpPr txBox="1"/>
          <p:nvPr/>
        </p:nvSpPr>
        <p:spPr>
          <a:xfrm>
            <a:off x="6477000" y="3162300"/>
            <a:ext cx="1752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实际：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workspace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变重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3F6EFC-6BE3-C5CA-5969-5F615FCA884B}"/>
              </a:ext>
            </a:extLst>
          </p:cNvPr>
          <p:cNvCxnSpPr/>
          <p:nvPr/>
        </p:nvCxnSpPr>
        <p:spPr>
          <a:xfrm>
            <a:off x="8407400" y="3327400"/>
            <a:ext cx="69850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80DF7-F4A5-D440-2086-EBE5B0852F0B}"/>
              </a:ext>
            </a:extLst>
          </p:cNvPr>
          <p:cNvSpPr txBox="1"/>
          <p:nvPr/>
        </p:nvSpPr>
        <p:spPr>
          <a:xfrm>
            <a:off x="90043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DC262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2D4A99-2540-D587-168E-2508625B607C}"/>
              </a:ext>
            </a:extLst>
          </p:cNvPr>
          <p:cNvSpPr/>
          <p:nvPr/>
        </p:nvSpPr>
        <p:spPr>
          <a:xfrm>
            <a:off x="9220200" y="3048000"/>
            <a:ext cx="2159000" cy="55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BA0243-746C-CFF5-274B-73FBE49F3751}"/>
              </a:ext>
            </a:extLst>
          </p:cNvPr>
          <p:cNvSpPr txBox="1"/>
          <p:nvPr/>
        </p:nvSpPr>
        <p:spPr>
          <a:xfrm>
            <a:off x="9296400" y="3162300"/>
            <a:ext cx="2006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结果：不如 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稳定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E9F9A2-E21A-3566-1E7A-3C19F97DA07A}"/>
              </a:ext>
            </a:extLst>
          </p:cNvPr>
          <p:cNvSpPr/>
          <p:nvPr/>
        </p:nvSpPr>
        <p:spPr>
          <a:xfrm>
            <a:off x="698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1F3D4C-3BF9-4276-AD95-BE3190655FC5}"/>
              </a:ext>
            </a:extLst>
          </p:cNvPr>
          <p:cNvSpPr/>
          <p:nvPr/>
        </p:nvSpPr>
        <p:spPr>
          <a:xfrm>
            <a:off x="698500" y="4064000"/>
            <a:ext cx="50800" cy="1371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50A6F0-17BE-C14F-F6C6-C20F2DE6728D}"/>
              </a:ext>
            </a:extLst>
          </p:cNvPr>
          <p:cNvSpPr txBox="1"/>
          <p:nvPr/>
        </p:nvSpPr>
        <p:spPr>
          <a:xfrm>
            <a:off x="901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：只是图结构融合，不是高性能卷积内核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5BA499-DECA-D567-0EFA-5E426761D91A}"/>
              </a:ext>
            </a:extLst>
          </p:cNvPr>
          <p:cNvSpPr txBox="1"/>
          <p:nvPr/>
        </p:nvSpPr>
        <p:spPr>
          <a:xfrm>
            <a:off x="901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FusedConvBNReLU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内部仍然离不开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im2col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GEMM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BN mean/var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ReLU mask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dCol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col2im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。节点少了，但核心计算路径并没有自动变成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cuDNN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级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477004-CF68-3CAA-DF29-8CF97C82C567}"/>
              </a:ext>
            </a:extLst>
          </p:cNvPr>
          <p:cNvSpPr/>
          <p:nvPr/>
        </p:nvSpPr>
        <p:spPr>
          <a:xfrm>
            <a:off x="4381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8D81D5-4E1A-91EB-950B-AC7EC0B2125B}"/>
              </a:ext>
            </a:extLst>
          </p:cNvPr>
          <p:cNvSpPr/>
          <p:nvPr/>
        </p:nvSpPr>
        <p:spPr>
          <a:xfrm>
            <a:off x="4381500" y="4064000"/>
            <a:ext cx="50800" cy="1371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28DEE-3507-73D2-F965-D8C2FEAB58FC}"/>
              </a:ext>
            </a:extLst>
          </p:cNvPr>
          <p:cNvSpPr txBox="1"/>
          <p:nvPr/>
        </p:nvSpPr>
        <p:spPr>
          <a:xfrm>
            <a:off x="4584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stem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大输入卷积放大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im2col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成本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D772AD-1AD6-692B-7C93-5763DB8731DE}"/>
              </a:ext>
            </a:extLst>
          </p:cNvPr>
          <p:cNvSpPr txBox="1"/>
          <p:nvPr/>
        </p:nvSpPr>
        <p:spPr>
          <a:xfrm>
            <a:off x="4584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第一层输入空间大，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大融合会产生更大的临时展开矩阵和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workspace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中最慢节点集中在这类大输入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 conv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上。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18FD08-4A51-1FA2-B6C1-3B63BEECB9A3}"/>
              </a:ext>
            </a:extLst>
          </p:cNvPr>
          <p:cNvSpPr/>
          <p:nvPr/>
        </p:nvSpPr>
        <p:spPr>
          <a:xfrm>
            <a:off x="8064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591E09-A8B8-D6B8-B5E0-CEAF09E729D9}"/>
              </a:ext>
            </a:extLst>
          </p:cNvPr>
          <p:cNvSpPr/>
          <p:nvPr/>
        </p:nvSpPr>
        <p:spPr>
          <a:xfrm>
            <a:off x="8064500" y="4064000"/>
            <a:ext cx="50800" cy="13716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213E76-411F-43F4-DA58-09BECA27A582}"/>
              </a:ext>
            </a:extLst>
          </p:cNvPr>
          <p:cNvSpPr txBox="1"/>
          <p:nvPr/>
        </p:nvSpPr>
        <p:spPr>
          <a:xfrm>
            <a:off x="8267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：训练看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，不只看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forward</a:t>
            </a:r>
            <a:endParaRPr lang="zh-CN" altLang="en-US" sz="135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1DB9AA-9A79-1D94-628F-ED987F4E4DE9}"/>
              </a:ext>
            </a:extLst>
          </p:cNvPr>
          <p:cNvSpPr txBox="1"/>
          <p:nvPr/>
        </p:nvSpPr>
        <p:spPr>
          <a:xfrm>
            <a:off x="8267700" y="4597400"/>
            <a:ext cx="3073400" cy="578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Conv-BN-Add-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ReLU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要同时处理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gamma/beta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weight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input grad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identity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；当前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比 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PyTorch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慢得多。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C5848E-3C44-2AE9-C578-0AF242603E9F}"/>
              </a:ext>
            </a:extLst>
          </p:cNvPr>
          <p:cNvSpPr/>
          <p:nvPr/>
        </p:nvSpPr>
        <p:spPr>
          <a:xfrm>
            <a:off x="698500" y="5791200"/>
            <a:ext cx="10795000" cy="609600"/>
          </a:xfrm>
          <a:prstGeom prst="rect">
            <a:avLst/>
          </a:prstGeom>
          <a:solidFill>
            <a:srgbClr val="ECFDF5"/>
          </a:solidFill>
          <a:ln w="952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938A955-B692-69E1-7C88-7638735AE5F4}"/>
              </a:ext>
            </a:extLst>
          </p:cNvPr>
          <p:cNvSpPr txBox="1"/>
          <p:nvPr/>
        </p:nvSpPr>
        <p:spPr>
          <a:xfrm>
            <a:off x="2413000" y="5905500"/>
            <a:ext cx="8572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的困难不是“不会融合”，而是融合后算子内部还没有真正高性能化；因此训练默认选择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融合，把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大融合作为实验策略保留。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659ACCA-92A9-227A-25F4-54F43336C189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2680</Words>
  <Application>Microsoft Office PowerPoint</Application>
  <DocSecurity>0</DocSecurity>
  <PresentationFormat>宽屏</PresentationFormat>
  <Paragraphs>452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21</cp:revision>
  <dcterms:created xsi:type="dcterms:W3CDTF">2026-05-19T13:12:39Z</dcterms:created>
  <dcterms:modified xsi:type="dcterms:W3CDTF">2026-05-21T08:04:01Z</dcterms:modified>
</cp:coreProperties>
</file>