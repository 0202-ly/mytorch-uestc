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7" d="100"/>
          <a:sy n="57" d="100"/>
        </p:scale>
        <p:origin x="4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7704-E3C0-FCA4-4CD2-835E40D5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FA64D-C348-9B52-746A-E0D7CC715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EF10A-FD60-E2B6-C715-110555B324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9E8C5-8389-D56A-FC5E-6AC4D74D577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68080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 DonkeyCar 的自动驾驶深度学习框架答辩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4EDE62-436D-48F7-8FFA-C9040FD70919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7429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按“任务 -&gt; 模型 -&gt; 数据 -&gt; 算子 -&gt; 图优化 -&gt; 并行加载 -&gt; 部署 -&gt; 对比 -&gt; 下一步 -&gt; 困难”重构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2476500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50" y="1771650"/>
            <a:ext cx="1714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 -&gt; 转向角</a:t>
            </a: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暂不支持：速度/油门控制</a:t>
            </a: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623F67-5847-4701-B3A5-F359629D32B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答辩主线：DonkeyCar 任务 + 框架能力 + 实验结果 + 待补实验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 DonkeyCar 的图像到转向角自动驾驶实验。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采集道路图像与人工驾驶转向角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image_path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ResNet18 与 PyTorch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对比训练 epoch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B879F95-B45E-41CD-A145-12C898CAB5CC}"/>
              </a:ext>
            </a:extLst>
          </p:cNvPr>
          <p:cNvSpPr>
            <a:spLocks noGrp="1"/>
          </p:cNvSpPr>
          <p:nvPr/>
        </p:nvSpPr>
        <p:spPr>
          <a:xfrm>
            <a:off x="8782050" y="4171950"/>
            <a:ext cx="2381250" cy="131445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F2004DC-3F0F-4E7B-8768-DE4478696D2C}"/>
              </a:ext>
            </a:extLst>
          </p:cNvPr>
          <p:cNvSpPr>
            <a:spLocks noGrp="1"/>
          </p:cNvSpPr>
          <p:nvPr/>
        </p:nvSpPr>
        <p:spPr>
          <a:xfrm>
            <a:off x="8782050" y="41719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77FEB94-CCE1-4721-8AC0-59261FDFE002}"/>
              </a:ext>
            </a:extLst>
          </p:cNvPr>
          <p:cNvSpPr>
            <a:spLocks noGrp="1"/>
          </p:cNvSpPr>
          <p:nvPr/>
        </p:nvSpPr>
        <p:spPr>
          <a:xfrm>
            <a:off x="8953500" y="43624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答辩表述建议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3DD8341-590D-4A6B-B713-EB99D0CE73C4}"/>
              </a:ext>
            </a:extLst>
          </p:cNvPr>
          <p:cNvSpPr>
            <a:spLocks noGrp="1"/>
          </p:cNvSpPr>
          <p:nvPr/>
        </p:nvSpPr>
        <p:spPr>
          <a:xfrm>
            <a:off x="8953500" y="4667250"/>
            <a:ext cx="20383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不要把当前任务说成完整自动驾驶闭环。准确说法是：已完成 DonkeyCar 图像回归方向控制实验，速度控制是下一步目标。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B809262-D378-4A17-82FA-7F4C26BF1BA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配置：results/donkeycar_resnet18_jit_vs_pytorch/20260516_184610/config.json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E9A433D1-9FFE-4376-899B-093521FB2D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432E1C-54A3-4A5B-A023-7BC32229B2A9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AC5DA4-6EE0-4DA9-A369-86EEDEADE92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系统链路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EA00E8-CB60-42A0-99EB-F9CF5634653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系统闭环已经能完成“采集、训练、验证、对比”，控制闭环仍停留在转向角。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FB477E-C68A-47DE-B98A-7BABE71F05CB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这页用于说明整体工程边界和模块流向。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8AC98-7772-4CD1-B87E-4B0E2FEFFBDD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8478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91F1F3-F695-4C1B-AC88-3A4995BB8BA3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18478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F87316-53E2-4A7E-9A9C-14155497C104}"/>
              </a:ext>
            </a:extLst>
          </p:cNvPr>
          <p:cNvSpPr>
            <a:spLocks noGrp="1"/>
          </p:cNvSpPr>
          <p:nvPr/>
        </p:nvSpPr>
        <p:spPr>
          <a:xfrm>
            <a:off x="838200" y="2419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0A2A5A-C2EA-4557-AB2F-0133CA49F4CF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人工驾驶或模拟器生成图像与转向角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751F67-66AC-4CE8-BEF2-F9F62BEE5EFB}"/>
              </a:ext>
            </a:extLst>
          </p:cNvPr>
          <p:cNvSpPr>
            <a:spLocks noGrp="1"/>
          </p:cNvSpPr>
          <p:nvPr/>
        </p:nvSpPr>
        <p:spPr>
          <a:xfrm>
            <a:off x="2914650" y="2209800"/>
            <a:ext cx="18478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ABDEE9-F1A0-474B-8FB2-6E5111B2CCD3}"/>
              </a:ext>
            </a:extLst>
          </p:cNvPr>
          <p:cNvSpPr>
            <a:spLocks noGrp="1"/>
          </p:cNvSpPr>
          <p:nvPr/>
        </p:nvSpPr>
        <p:spPr>
          <a:xfrm>
            <a:off x="2914650" y="2209800"/>
            <a:ext cx="18478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BA59F8B-8070-4198-B1AF-A6A46CA1DF0A}"/>
              </a:ext>
            </a:extLst>
          </p:cNvPr>
          <p:cNvSpPr>
            <a:spLocks noGrp="1"/>
          </p:cNvSpPr>
          <p:nvPr/>
        </p:nvSpPr>
        <p:spPr>
          <a:xfrm>
            <a:off x="3067050" y="2419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58BB05-B8A6-490D-9AF9-72D51CDCE701}"/>
              </a:ext>
            </a:extLst>
          </p:cNvPr>
          <p:cNvSpPr>
            <a:spLocks noGrp="1"/>
          </p:cNvSpPr>
          <p:nvPr/>
        </p:nvSpPr>
        <p:spPr>
          <a:xfrm>
            <a:off x="3067050" y="2743200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resize / normalize / augmentation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BA6C8F-84CC-4F3B-8F4D-BF4C688DC324}"/>
              </a:ext>
            </a:extLst>
          </p:cNvPr>
          <p:cNvSpPr>
            <a:spLocks noGrp="1"/>
          </p:cNvSpPr>
          <p:nvPr/>
        </p:nvSpPr>
        <p:spPr>
          <a:xfrm>
            <a:off x="5143500" y="2209800"/>
            <a:ext cx="18478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D993C30-E079-4026-B982-634C6B098500}"/>
              </a:ext>
            </a:extLst>
          </p:cNvPr>
          <p:cNvSpPr>
            <a:spLocks noGrp="1"/>
          </p:cNvSpPr>
          <p:nvPr/>
        </p:nvSpPr>
        <p:spPr>
          <a:xfrm>
            <a:off x="5143500" y="2209800"/>
            <a:ext cx="18478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840EFDD-3A01-45CA-AE8D-7C652311C9C3}"/>
              </a:ext>
            </a:extLst>
          </p:cNvPr>
          <p:cNvSpPr>
            <a:spLocks noGrp="1"/>
          </p:cNvSpPr>
          <p:nvPr/>
        </p:nvSpPr>
        <p:spPr>
          <a:xfrm>
            <a:off x="5295900" y="2419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951240-F5C4-4349-BBB0-D23041D661FA}"/>
              </a:ext>
            </a:extLst>
          </p:cNvPr>
          <p:cNvSpPr>
            <a:spLocks noGrp="1"/>
          </p:cNvSpPr>
          <p:nvPr/>
        </p:nvSpPr>
        <p:spPr>
          <a:xfrm>
            <a:off x="5295900" y="2743200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ResNet18 / PyTorch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322051-B360-47DA-8AF3-0DC6BCC5B42B}"/>
              </a:ext>
            </a:extLst>
          </p:cNvPr>
          <p:cNvSpPr>
            <a:spLocks noGrp="1"/>
          </p:cNvSpPr>
          <p:nvPr/>
        </p:nvSpPr>
        <p:spPr>
          <a:xfrm>
            <a:off x="7372350" y="2209800"/>
            <a:ext cx="18478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483880C-B742-453F-8337-45F498658EAF}"/>
              </a:ext>
            </a:extLst>
          </p:cNvPr>
          <p:cNvSpPr>
            <a:spLocks noGrp="1"/>
          </p:cNvSpPr>
          <p:nvPr/>
        </p:nvSpPr>
        <p:spPr>
          <a:xfrm>
            <a:off x="7372350" y="2209800"/>
            <a:ext cx="18478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A0FED1-FCD2-4F83-8049-8DD090859C6F}"/>
              </a:ext>
            </a:extLst>
          </p:cNvPr>
          <p:cNvSpPr>
            <a:spLocks noGrp="1"/>
          </p:cNvSpPr>
          <p:nvPr/>
        </p:nvSpPr>
        <p:spPr>
          <a:xfrm>
            <a:off x="7524750" y="2419350"/>
            <a:ext cx="154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评估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BC67D9-1644-4E97-A8A7-47CDA4A55B7E}"/>
              </a:ext>
            </a:extLst>
          </p:cNvPr>
          <p:cNvSpPr>
            <a:spLocks noGrp="1"/>
          </p:cNvSpPr>
          <p:nvPr/>
        </p:nvSpPr>
        <p:spPr>
          <a:xfrm>
            <a:off x="7524750" y="2743200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 / RMSE / MAE / 性能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8A9C3B0-7A73-47F7-89E2-1BD5CB61165C}"/>
              </a:ext>
            </a:extLst>
          </p:cNvPr>
          <p:cNvSpPr>
            <a:spLocks noGrp="1"/>
          </p:cNvSpPr>
          <p:nvPr/>
        </p:nvSpPr>
        <p:spPr>
          <a:xfrm>
            <a:off x="9601200" y="2209800"/>
            <a:ext cx="142875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713FE2F-FA2D-4A48-B561-638BE818D171}"/>
              </a:ext>
            </a:extLst>
          </p:cNvPr>
          <p:cNvSpPr>
            <a:spLocks noGrp="1"/>
          </p:cNvSpPr>
          <p:nvPr/>
        </p:nvSpPr>
        <p:spPr>
          <a:xfrm>
            <a:off x="9601200" y="2209800"/>
            <a:ext cx="142875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F307D2D-3F77-4C13-A9E3-E88EF9BB9EE9}"/>
              </a:ext>
            </a:extLst>
          </p:cNvPr>
          <p:cNvSpPr>
            <a:spLocks noGrp="1"/>
          </p:cNvSpPr>
          <p:nvPr/>
        </p:nvSpPr>
        <p:spPr>
          <a:xfrm>
            <a:off x="9753600" y="2419350"/>
            <a:ext cx="1123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3FDE27-59DC-47C3-97B2-82548EE450DF}"/>
              </a:ext>
            </a:extLst>
          </p:cNvPr>
          <p:cNvSpPr>
            <a:spLocks noGrp="1"/>
          </p:cNvSpPr>
          <p:nvPr/>
        </p:nvSpPr>
        <p:spPr>
          <a:xfrm>
            <a:off x="9753600" y="2743200"/>
            <a:ext cx="1123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steering angle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7383342-9AEB-4141-B958-47099B4CD4AC}"/>
              </a:ext>
            </a:extLst>
          </p:cNvPr>
          <p:cNvSpPr>
            <a:spLocks noGrp="1"/>
          </p:cNvSpPr>
          <p:nvPr/>
        </p:nvSpPr>
        <p:spPr>
          <a:xfrm>
            <a:off x="2552700" y="2657475"/>
            <a:ext cx="323850" cy="762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82EC1C-A657-423E-98F9-99054A5E7A84}"/>
              </a:ext>
            </a:extLst>
          </p:cNvPr>
          <p:cNvSpPr>
            <a:spLocks noGrp="1"/>
          </p:cNvSpPr>
          <p:nvPr/>
        </p:nvSpPr>
        <p:spPr>
          <a:xfrm>
            <a:off x="4781550" y="2657475"/>
            <a:ext cx="323850" cy="762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0EFE75-CBCF-4CAE-BC5C-D497E578A68B}"/>
              </a:ext>
            </a:extLst>
          </p:cNvPr>
          <p:cNvSpPr>
            <a:spLocks noGrp="1"/>
          </p:cNvSpPr>
          <p:nvPr/>
        </p:nvSpPr>
        <p:spPr>
          <a:xfrm>
            <a:off x="7010400" y="2657475"/>
            <a:ext cx="323850" cy="762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06503F-7C6E-45F7-9834-4613C9B7F36A}"/>
              </a:ext>
            </a:extLst>
          </p:cNvPr>
          <p:cNvSpPr>
            <a:spLocks noGrp="1"/>
          </p:cNvSpPr>
          <p:nvPr/>
        </p:nvSpPr>
        <p:spPr>
          <a:xfrm>
            <a:off x="9239250" y="2657475"/>
            <a:ext cx="323850" cy="762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6D92B6-2370-471A-AAB4-2FF79D825B54}"/>
              </a:ext>
            </a:extLst>
          </p:cNvPr>
          <p:cNvSpPr>
            <a:spLocks noGrp="1"/>
          </p:cNvSpPr>
          <p:nvPr/>
        </p:nvSpPr>
        <p:spPr>
          <a:xfrm>
            <a:off x="876300" y="4095750"/>
            <a:ext cx="9620250" cy="1123950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47B1E1-64C0-42D3-8195-7F12FC0CFDFB}"/>
              </a:ext>
            </a:extLst>
          </p:cNvPr>
          <p:cNvSpPr>
            <a:spLocks noGrp="1"/>
          </p:cNvSpPr>
          <p:nvPr/>
        </p:nvSpPr>
        <p:spPr>
          <a:xfrm>
            <a:off x="1200150" y="440055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当前完成闭环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85595D8-237C-4532-95FE-95775307852B}"/>
              </a:ext>
            </a:extLst>
          </p:cNvPr>
          <p:cNvSpPr>
            <a:spLocks noGrp="1"/>
          </p:cNvSpPr>
          <p:nvPr/>
        </p:nvSpPr>
        <p:spPr>
          <a:xfrm>
            <a:off x="2857500" y="4305300"/>
            <a:ext cx="657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数据集采集与划分、ResNet18 训练、MyTorch/PyTorch 对比、卷积池化正确性、增强消融均已有本地结果。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8193629-4380-48A7-AB45-98F9653DB799}"/>
              </a:ext>
            </a:extLst>
          </p:cNvPr>
          <p:cNvSpPr>
            <a:spLocks noGrp="1"/>
          </p:cNvSpPr>
          <p:nvPr/>
        </p:nvSpPr>
        <p:spPr>
          <a:xfrm>
            <a:off x="1200150" y="480060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4A39A"/>
                </a:solidFill>
                <a:latin typeface="Microsoft YaHei"/>
                <a:ea typeface="Microsoft YaHei"/>
                <a:cs typeface="Microsoft YaHei"/>
              </a:rPr>
              <a:t>未完成闭环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CCD102-BF0A-4684-9267-74919434ED0C}"/>
              </a:ext>
            </a:extLst>
          </p:cNvPr>
          <p:cNvSpPr>
            <a:spLocks noGrp="1"/>
          </p:cNvSpPr>
          <p:nvPr/>
        </p:nvSpPr>
        <p:spPr>
          <a:xfrm>
            <a:off x="2857500" y="4724400"/>
            <a:ext cx="6572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速度控制、gRPC 在线推理服务、Docker/K8s/Kubeflow 实测日志、跨框架 VGG 对比仍需补证据。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02E7417-2DB1-4A27-89A3-7CD9D3B1F631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2476500" cy="91440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B3FCA3-E387-4E2E-B77B-D728D69DD44E}"/>
              </a:ext>
            </a:extLst>
          </p:cNvPr>
          <p:cNvSpPr>
            <a:spLocks noGrp="1"/>
          </p:cNvSpPr>
          <p:nvPr/>
        </p:nvSpPr>
        <p:spPr>
          <a:xfrm>
            <a:off x="8020050" y="5295900"/>
            <a:ext cx="2476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0F246E-1F80-45FA-91D2-DB051D29F7AB}"/>
              </a:ext>
            </a:extLst>
          </p:cNvPr>
          <p:cNvSpPr>
            <a:spLocks noGrp="1"/>
          </p:cNvSpPr>
          <p:nvPr/>
        </p:nvSpPr>
        <p:spPr>
          <a:xfrm>
            <a:off x="8191500" y="5486400"/>
            <a:ext cx="2133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实验口径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253858F-AC1E-44B0-8723-30317DE52F1C}"/>
              </a:ext>
            </a:extLst>
          </p:cNvPr>
          <p:cNvSpPr>
            <a:spLocks noGrp="1"/>
          </p:cNvSpPr>
          <p:nvPr/>
        </p:nvSpPr>
        <p:spPr>
          <a:xfrm>
            <a:off x="8191500" y="579120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结果当前是 steering regression；如果老师要求“正确率”，建议新增 acc@阈值。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E5A932-FEDB-4280-8C8F-5CA1A1FECB3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2ABB20A-C1A9-4B5E-98A1-886EA43C5E3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代码链路：train_donkeycar_resnet18_jit_vs_pytorch.py, mytorch/, model/resnet.py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B08FAE9-CA2B-4ED9-955B-DDCD0558786C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482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 ResNet18 做图像到转向角回归；效果指标已有，正确率口径需要补。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模型输出维度为 1，对应连续 steering angle。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ReLU + MaxPool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BasicBlock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GlobalAvgPool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MSELoss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lr=1e-4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ABD7AB-9280-47FE-9635-28D3F6108326}"/>
              </a:ext>
            </a:extLst>
          </p:cNvPr>
          <p:cNvSpPr>
            <a:spLocks noGrp="1"/>
          </p:cNvSpPr>
          <p:nvPr/>
        </p:nvSpPr>
        <p:spPr>
          <a:xfrm>
            <a:off x="8096250" y="2133600"/>
            <a:ext cx="2762250" cy="1600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2DFB879-FA74-46B8-ABAE-0D93BA7EDDAC}"/>
              </a:ext>
            </a:extLst>
          </p:cNvPr>
          <p:cNvSpPr>
            <a:spLocks noGrp="1"/>
          </p:cNvSpPr>
          <p:nvPr/>
        </p:nvSpPr>
        <p:spPr>
          <a:xfrm>
            <a:off x="8267700" y="22860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8AE190C-C9F7-490C-9AED-1386835C9B34}"/>
              </a:ext>
            </a:extLst>
          </p:cNvPr>
          <p:cNvSpPr>
            <a:spLocks noGrp="1"/>
          </p:cNvSpPr>
          <p:nvPr/>
        </p:nvSpPr>
        <p:spPr>
          <a:xfrm>
            <a:off x="8267700" y="25527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正确率实验缺失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44CB85B-27AD-4ED8-81E1-28F9E038CE33}"/>
              </a:ext>
            </a:extLst>
          </p:cNvPr>
          <p:cNvSpPr>
            <a:spLocks noGrp="1"/>
          </p:cNvSpPr>
          <p:nvPr/>
        </p:nvSpPr>
        <p:spPr>
          <a:xfrm>
            <a:off x="8267700" y="287655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当前没有逐样本预测保存，无法直接计算 accuracy。建议新增 acc@0.05 / acc@0.10：当 |预测角-真实角| 小于阈值时计为正确。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A39CDA9-451C-4FE7-8E73-1458C9A25BDB}"/>
              </a:ext>
            </a:extLst>
          </p:cNvPr>
          <p:cNvSpPr>
            <a:spLocks noGrp="1"/>
          </p:cNvSpPr>
          <p:nvPr/>
        </p:nvSpPr>
        <p:spPr>
          <a:xfrm>
            <a:off x="8096250" y="4095750"/>
            <a:ext cx="2762250" cy="112395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1671A7A-2348-4FA9-A0A7-6DD83501AC61}"/>
              </a:ext>
            </a:extLst>
          </p:cNvPr>
          <p:cNvSpPr>
            <a:spLocks noGrp="1"/>
          </p:cNvSpPr>
          <p:nvPr/>
        </p:nvSpPr>
        <p:spPr>
          <a:xfrm>
            <a:off x="8096250" y="4095750"/>
            <a:ext cx="2762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48CA712-CE25-4E80-9A25-B0DDF7EFBA08}"/>
              </a:ext>
            </a:extLst>
          </p:cNvPr>
          <p:cNvSpPr>
            <a:spLocks noGrp="1"/>
          </p:cNvSpPr>
          <p:nvPr/>
        </p:nvSpPr>
        <p:spPr>
          <a:xfrm>
            <a:off x="8267700" y="428625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答辩说法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1158793-DC7C-483A-BFD6-56B328401EAA}"/>
              </a:ext>
            </a:extLst>
          </p:cNvPr>
          <p:cNvSpPr>
            <a:spLocks noGrp="1"/>
          </p:cNvSpPr>
          <p:nvPr/>
        </p:nvSpPr>
        <p:spPr>
          <a:xfrm>
            <a:off x="8267700" y="4591050"/>
            <a:ext cx="2419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“主要关注正确率”可改成“主要关注转向预测是否足够接近真实转向角”；现阶段以 MSE/RMSE/MAE 证明效果。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数据集来自 DonkeyCar 场景图像，标签是人工驾驶产生的转向角。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4CAD21-EA33-4124-9820-C29E3482D51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当前数据用于 steering regression，不含速度标签训练。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6670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163" b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71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 + 转向角标签；文件名中也保留标签，便于追踪。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6191250" y="3238500"/>
            <a:ext cx="9906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模拟器基本道路场景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人工/脚本驾驶生成图像帧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 train.txt / val.txt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9E9AA7-4411-4006-A48E-BC9826D0D132}"/>
              </a:ext>
            </a:extLst>
          </p:cNvPr>
          <p:cNvSpPr>
            <a:spLocks noGrp="1"/>
          </p:cNvSpPr>
          <p:nvPr/>
        </p:nvSpPr>
        <p:spPr>
          <a:xfrm>
            <a:off x="8248650" y="4210050"/>
            <a:ext cx="2095500" cy="7810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B2A5E9-F38D-42E6-A7B5-A840B7E36B20}"/>
              </a:ext>
            </a:extLst>
          </p:cNvPr>
          <p:cNvSpPr>
            <a:spLocks noGrp="1"/>
          </p:cNvSpPr>
          <p:nvPr/>
        </p:nvSpPr>
        <p:spPr>
          <a:xfrm>
            <a:off x="8248650" y="42100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573291-7407-493E-B58B-96653C670D78}"/>
              </a:ext>
            </a:extLst>
          </p:cNvPr>
          <p:cNvSpPr>
            <a:spLocks noGrp="1"/>
          </p:cNvSpPr>
          <p:nvPr/>
        </p:nvSpPr>
        <p:spPr>
          <a:xfrm>
            <a:off x="8420100" y="4400550"/>
            <a:ext cx="1752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待扩展数据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992866-CDFF-4916-9D2A-CBCC7E4C09C0}"/>
              </a:ext>
            </a:extLst>
          </p:cNvPr>
          <p:cNvSpPr>
            <a:spLocks noGrp="1"/>
          </p:cNvSpPr>
          <p:nvPr/>
        </p:nvSpPr>
        <p:spPr>
          <a:xfrm>
            <a:off x="8420100" y="4705350"/>
            <a:ext cx="1752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下一步应继续采集弯道、遮挡、光照变化和速度控制标签。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已实现基础处理和五组增强消融；短训练下增强未提升验证误差。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增强策略包括随机裁剪、旋转、颜色抖动、MixUp 和 CutMix。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C22C54-C925-4083-B1F5-8B69BBC54223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4381500" cy="3543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B4E20A-09E9-4FE8-9C25-3E5367CA2D76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增强消融结果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C31DD2-D3A5-4ADB-BE0B-91B67F3536C8}"/>
              </a:ext>
            </a:extLst>
          </p:cNvPr>
          <p:cNvSpPr>
            <a:spLocks noGrp="1"/>
          </p:cNvSpPr>
          <p:nvPr/>
        </p:nvSpPr>
        <p:spPr>
          <a:xfrm>
            <a:off x="1028700" y="28384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variant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BB57F1-EE78-48C2-A176-7780352CA7E6}"/>
              </a:ext>
            </a:extLst>
          </p:cNvPr>
          <p:cNvSpPr>
            <a:spLocks noGrp="1"/>
          </p:cNvSpPr>
          <p:nvPr/>
        </p:nvSpPr>
        <p:spPr>
          <a:xfrm>
            <a:off x="2914650" y="2838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3779E0-65BD-456B-801E-C777D2BF7FD1}"/>
              </a:ext>
            </a:extLst>
          </p:cNvPr>
          <p:cNvSpPr>
            <a:spLocks noGrp="1"/>
          </p:cNvSpPr>
          <p:nvPr/>
        </p:nvSpPr>
        <p:spPr>
          <a:xfrm>
            <a:off x="3714750" y="2838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FE8C4B-E76E-427E-BEB0-73F0894F4BA2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133814-4BFB-4992-8798-06D6BF80BFA3}"/>
              </a:ext>
            </a:extLst>
          </p:cNvPr>
          <p:cNvSpPr>
            <a:spLocks noGrp="1"/>
          </p:cNvSpPr>
          <p:nvPr/>
        </p:nvSpPr>
        <p:spPr>
          <a:xfrm>
            <a:off x="2914650" y="31623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0.02982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94DB51-2377-4C1B-9426-9A1D2234CCBA}"/>
              </a:ext>
            </a:extLst>
          </p:cNvPr>
          <p:cNvSpPr>
            <a:spLocks noGrp="1"/>
          </p:cNvSpPr>
          <p:nvPr/>
        </p:nvSpPr>
        <p:spPr>
          <a:xfrm>
            <a:off x="3714750" y="31623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0.17270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097E244-24EE-43B7-AF0D-A53BDA027947}"/>
              </a:ext>
            </a:extLst>
          </p:cNvPr>
          <p:cNvSpPr>
            <a:spLocks noGrp="1"/>
          </p:cNvSpPr>
          <p:nvPr/>
        </p:nvSpPr>
        <p:spPr>
          <a:xfrm>
            <a:off x="1028700" y="35242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Crop/Rotate/Jitter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44A276-B1DA-40BB-92EE-DA8C2DFE146D}"/>
              </a:ext>
            </a:extLst>
          </p:cNvPr>
          <p:cNvSpPr>
            <a:spLocks noGrp="1"/>
          </p:cNvSpPr>
          <p:nvPr/>
        </p:nvSpPr>
        <p:spPr>
          <a:xfrm>
            <a:off x="2914650" y="35242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0.04164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9F25F44-4D8C-4EB5-8429-79B0A8F8A13D}"/>
              </a:ext>
            </a:extLst>
          </p:cNvPr>
          <p:cNvSpPr>
            <a:spLocks noGrp="1"/>
          </p:cNvSpPr>
          <p:nvPr/>
        </p:nvSpPr>
        <p:spPr>
          <a:xfrm>
            <a:off x="3714750" y="35242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0.20406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A1E3CC0-C206-4066-874B-E746EAF05BE3}"/>
              </a:ext>
            </a:extLst>
          </p:cNvPr>
          <p:cNvSpPr>
            <a:spLocks noGrp="1"/>
          </p:cNvSpPr>
          <p:nvPr/>
        </p:nvSpPr>
        <p:spPr>
          <a:xfrm>
            <a:off x="1028700" y="38862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22E5C80-AE3C-4668-96E7-4E896B694C2F}"/>
              </a:ext>
            </a:extLst>
          </p:cNvPr>
          <p:cNvSpPr>
            <a:spLocks noGrp="1"/>
          </p:cNvSpPr>
          <p:nvPr/>
        </p:nvSpPr>
        <p:spPr>
          <a:xfrm>
            <a:off x="2914650" y="38862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0.04730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A58C57B-BDDC-46C7-A52C-A23AE3B72757}"/>
              </a:ext>
            </a:extLst>
          </p:cNvPr>
          <p:cNvSpPr>
            <a:spLocks noGrp="1"/>
          </p:cNvSpPr>
          <p:nvPr/>
        </p:nvSpPr>
        <p:spPr>
          <a:xfrm>
            <a:off x="3714750" y="38862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0.21750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48CD9BB-3303-4E1E-801D-603CA3A42D83}"/>
              </a:ext>
            </a:extLst>
          </p:cNvPr>
          <p:cNvSpPr>
            <a:spLocks noGrp="1"/>
          </p:cNvSpPr>
          <p:nvPr/>
        </p:nvSpPr>
        <p:spPr>
          <a:xfrm>
            <a:off x="1028700" y="4248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0F4FD6-4DCA-442B-AEF1-C8A402481AD3}"/>
              </a:ext>
            </a:extLst>
          </p:cNvPr>
          <p:cNvSpPr>
            <a:spLocks noGrp="1"/>
          </p:cNvSpPr>
          <p:nvPr/>
        </p:nvSpPr>
        <p:spPr>
          <a:xfrm>
            <a:off x="2914650" y="42481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0.05445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627FBC-40B4-4CFF-9BB5-D59E4692ADCA}"/>
              </a:ext>
            </a:extLst>
          </p:cNvPr>
          <p:cNvSpPr>
            <a:spLocks noGrp="1"/>
          </p:cNvSpPr>
          <p:nvPr/>
        </p:nvSpPr>
        <p:spPr>
          <a:xfrm>
            <a:off x="3714750" y="424815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0.23335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935B2E7-281F-4D90-9EF9-3BCFCABD6209}"/>
              </a:ext>
            </a:extLst>
          </p:cNvPr>
          <p:cNvSpPr>
            <a:spLocks noGrp="1"/>
          </p:cNvSpPr>
          <p:nvPr/>
        </p:nvSpPr>
        <p:spPr>
          <a:xfrm>
            <a:off x="1028700" y="46101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基础增强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50F3F43-2C63-42E4-AC73-E51B3FEDE9D6}"/>
              </a:ext>
            </a:extLst>
          </p:cNvPr>
          <p:cNvSpPr>
            <a:spLocks noGrp="1"/>
          </p:cNvSpPr>
          <p:nvPr/>
        </p:nvSpPr>
        <p:spPr>
          <a:xfrm>
            <a:off x="2914650" y="46101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0.05967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F4892F2-4EB6-4220-9E77-1C662B556992}"/>
              </a:ext>
            </a:extLst>
          </p:cNvPr>
          <p:cNvSpPr>
            <a:spLocks noGrp="1"/>
          </p:cNvSpPr>
          <p:nvPr/>
        </p:nvSpPr>
        <p:spPr>
          <a:xfrm>
            <a:off x="3714750" y="46101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0.24427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8F2B4E-BDB8-4DD7-B06B-E48522A4AB23}"/>
              </a:ext>
            </a:extLst>
          </p:cNvPr>
          <p:cNvSpPr>
            <a:spLocks noGrp="1"/>
          </p:cNvSpPr>
          <p:nvPr/>
        </p:nvSpPr>
        <p:spPr>
          <a:xfrm>
            <a:off x="1028700" y="49911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48A2E56-A904-4AE4-B716-D5AD2A97A890}"/>
              </a:ext>
            </a:extLst>
          </p:cNvPr>
          <p:cNvSpPr>
            <a:spLocks noGrp="1"/>
          </p:cNvSpPr>
          <p:nvPr/>
        </p:nvSpPr>
        <p:spPr>
          <a:xfrm>
            <a:off x="2609850" y="5086350"/>
            <a:ext cx="1238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6007322-0339-41F2-8B0E-E8C53BD52D64}"/>
              </a:ext>
            </a:extLst>
          </p:cNvPr>
          <p:cNvSpPr>
            <a:spLocks noGrp="1"/>
          </p:cNvSpPr>
          <p:nvPr/>
        </p:nvSpPr>
        <p:spPr>
          <a:xfrm>
            <a:off x="2609850" y="5086350"/>
            <a:ext cx="61541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DC0C6D-8977-46A9-8652-1DAB8C5F06E0}"/>
              </a:ext>
            </a:extLst>
          </p:cNvPr>
          <p:cNvSpPr>
            <a:spLocks noGrp="1"/>
          </p:cNvSpPr>
          <p:nvPr/>
        </p:nvSpPr>
        <p:spPr>
          <a:xfrm>
            <a:off x="3943350" y="49911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0.0298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EE71C3D-F1EA-4B13-B44B-88B44F752E04}"/>
              </a:ext>
            </a:extLst>
          </p:cNvPr>
          <p:cNvSpPr>
            <a:spLocks noGrp="1"/>
          </p:cNvSpPr>
          <p:nvPr/>
        </p:nvSpPr>
        <p:spPr>
          <a:xfrm>
            <a:off x="1028700" y="5257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basic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5A6D7EA-F231-45AA-A7E3-50BDF3EB6FD3}"/>
              </a:ext>
            </a:extLst>
          </p:cNvPr>
          <p:cNvSpPr>
            <a:spLocks noGrp="1"/>
          </p:cNvSpPr>
          <p:nvPr/>
        </p:nvSpPr>
        <p:spPr>
          <a:xfrm>
            <a:off x="2609850" y="5353050"/>
            <a:ext cx="1238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724C76D-50E9-44F7-B45B-3E12989A3C08}"/>
              </a:ext>
            </a:extLst>
          </p:cNvPr>
          <p:cNvSpPr>
            <a:spLocks noGrp="1"/>
          </p:cNvSpPr>
          <p:nvPr/>
        </p:nvSpPr>
        <p:spPr>
          <a:xfrm>
            <a:off x="2609850" y="5353050"/>
            <a:ext cx="123144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344AD25-9026-4A64-989F-3E881641967C}"/>
              </a:ext>
            </a:extLst>
          </p:cNvPr>
          <p:cNvSpPr>
            <a:spLocks noGrp="1"/>
          </p:cNvSpPr>
          <p:nvPr/>
        </p:nvSpPr>
        <p:spPr>
          <a:xfrm>
            <a:off x="3943350" y="5257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0.0597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5467350" y="2133600"/>
            <a:ext cx="5334000" cy="3238500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07651" y="2552700"/>
            <a:ext cx="3053398" cy="2247900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EF041029-26AE-41CB-82D2-82AF676C3B1F}"/>
              </a:ext>
            </a:extLst>
          </p:cNvPr>
          <p:cNvSpPr>
            <a:spLocks noGrp="1"/>
          </p:cNvSpPr>
          <p:nvPr/>
        </p:nvSpPr>
        <p:spPr>
          <a:xfrm>
            <a:off x="5886450" y="4914900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结论：增强实现已覆盖要求，但当前 3 epoch / 3000 样本实验显示增强强度偏大或训练不足。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0DA1167-688E-480C-B332-2680F1492F8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结果：results/augmentation_ablation/20260519_163259/summary.md 与 augmentation_samples.png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 im2col + GEMM，池化复用窗口展开并实现反向传播。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 stride、padding、dilation、groups，并兼容 CPU/GPU 后端。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 保存 argmax；AvgPool 均匀分配梯度；均用窗口展开验证。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D38D56E-FFD3-4460-A152-DFC4D820D5CE}"/>
              </a:ext>
            </a:extLst>
          </p:cNvPr>
          <p:cNvSpPr>
            <a:spLocks noGrp="1"/>
          </p:cNvSpPr>
          <p:nvPr/>
        </p:nvSpPr>
        <p:spPr>
          <a:xfrm>
            <a:off x="7829550" y="5314950"/>
            <a:ext cx="2933700" cy="7429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929BBD9-79E6-4512-90BE-07E99972E150}"/>
              </a:ext>
            </a:extLst>
          </p:cNvPr>
          <p:cNvSpPr>
            <a:spLocks noGrp="1"/>
          </p:cNvSpPr>
          <p:nvPr/>
        </p:nvSpPr>
        <p:spPr>
          <a:xfrm>
            <a:off x="8001000" y="55054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实现位置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6D96FA-921D-4156-94F3-541561797FF2}"/>
              </a:ext>
            </a:extLst>
          </p:cNvPr>
          <p:cNvSpPr>
            <a:spLocks noGrp="1"/>
          </p:cNvSpPr>
          <p:nvPr/>
        </p:nvSpPr>
        <p:spPr>
          <a:xfrm>
            <a:off x="8001000" y="57721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function.py: Conv2dOp / ConvTranspose2dOp / PoolOps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A68BF8D-6DCD-43BA-97EA-4BC65C7D506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代码：mytorch/function.py；准确度结果见下一页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278B9A5E-0AAE-4BC4-8A9D-1C8C22C1FAB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DB5BC1-FAF1-4149-9AB2-0118A4945A4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B5C2AB-5A1C-4A39-A5E1-D97BDFD23CD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卷积类型与应用情况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165EB0-EE1E-4E6A-8214-3066C91BB50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基础算子支持多种卷积形态；DonkeyCar ResNet18 当前主要使用普通卷积。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298D754-2C1F-4302-BFB4-505AA4F75697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不同 kernel size 和特殊卷积对模型效果的影响仍缺少系统消融。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075FDB-9242-41C9-859B-A2C14E325178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10287000" cy="23622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42EA2A-2C03-4D2E-984B-F82DC9709754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89C22D-6178-498A-AD6C-9B8A1481D1DD}"/>
              </a:ext>
            </a:extLst>
          </p:cNvPr>
          <p:cNvSpPr>
            <a:spLocks noGrp="1"/>
          </p:cNvSpPr>
          <p:nvPr/>
        </p:nvSpPr>
        <p:spPr>
          <a:xfrm>
            <a:off x="2686050" y="23812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当前应用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1DB4DE-807C-4FF8-B87B-A76E3D8428A2}"/>
              </a:ext>
            </a:extLst>
          </p:cNvPr>
          <p:cNvSpPr>
            <a:spLocks noGrp="1"/>
          </p:cNvSpPr>
          <p:nvPr/>
        </p:nvSpPr>
        <p:spPr>
          <a:xfrm>
            <a:off x="4629150" y="23812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00128A-25E0-40B1-8D59-288FA6117792}"/>
              </a:ext>
            </a:extLst>
          </p:cNvPr>
          <p:cNvSpPr>
            <a:spLocks noGrp="1"/>
          </p:cNvSpPr>
          <p:nvPr/>
        </p:nvSpPr>
        <p:spPr>
          <a:xfrm>
            <a:off x="7239000" y="23812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3E529B3-2944-4EC4-B8B7-41764A0876C1}"/>
              </a:ext>
            </a:extLst>
          </p:cNvPr>
          <p:cNvSpPr>
            <a:spLocks noGrp="1"/>
          </p:cNvSpPr>
          <p:nvPr/>
        </p:nvSpPr>
        <p:spPr>
          <a:xfrm>
            <a:off x="9639300" y="2381250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E6AB75-827E-4F5C-A37E-487007C4D72F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1/3/5/31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D396BE-40AD-4E8A-AC48-BD983EC0A0D4}"/>
              </a:ext>
            </a:extLst>
          </p:cNvPr>
          <p:cNvSpPr>
            <a:spLocks noGrp="1"/>
          </p:cNvSpPr>
          <p:nvPr/>
        </p:nvSpPr>
        <p:spPr>
          <a:xfrm>
            <a:off x="2686050" y="27813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主用 7/3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415D68-4C6A-4DFB-B6B7-D05EED209F05}"/>
              </a:ext>
            </a:extLst>
          </p:cNvPr>
          <p:cNvSpPr>
            <a:spLocks noGrp="1"/>
          </p:cNvSpPr>
          <p:nvPr/>
        </p:nvSpPr>
        <p:spPr>
          <a:xfrm>
            <a:off x="4629150" y="27813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算子支持任意 KH/KW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3A438AB-2EE3-48EC-976A-C86A748393B1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缺少尺寸消融效果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D7766A-6C86-4A44-A5C5-2FA87A84D060}"/>
              </a:ext>
            </a:extLst>
          </p:cNvPr>
          <p:cNvSpPr>
            <a:spLocks noGrp="1"/>
          </p:cNvSpPr>
          <p:nvPr/>
        </p:nvSpPr>
        <p:spPr>
          <a:xfrm>
            <a:off x="9639300" y="27813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55D23D-2789-45EA-AD81-5DF2535C4135}"/>
              </a:ext>
            </a:extLst>
          </p:cNvPr>
          <p:cNvSpPr>
            <a:spLocks noGrp="1"/>
          </p:cNvSpPr>
          <p:nvPr/>
        </p:nvSpPr>
        <p:spPr>
          <a:xfrm>
            <a:off x="819150" y="31813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深度可分离卷积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DF25F53-C2AE-4AEC-9E96-1C739348AD9F}"/>
              </a:ext>
            </a:extLst>
          </p:cNvPr>
          <p:cNvSpPr>
            <a:spLocks noGrp="1"/>
          </p:cNvSpPr>
          <p:nvPr/>
        </p:nvSpPr>
        <p:spPr>
          <a:xfrm>
            <a:off x="2686050" y="31813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B6E686-4D23-405C-9E57-02988B4E2A5A}"/>
              </a:ext>
            </a:extLst>
          </p:cNvPr>
          <p:cNvSpPr>
            <a:spLocks noGrp="1"/>
          </p:cNvSpPr>
          <p:nvPr/>
        </p:nvSpPr>
        <p:spPr>
          <a:xfrm>
            <a:off x="4629150" y="3181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depthwise correctness PASS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2B8E8FF-412A-4D8D-A8A8-79071369B2BE}"/>
              </a:ext>
            </a:extLst>
          </p:cNvPr>
          <p:cNvSpPr>
            <a:spLocks noGrp="1"/>
          </p:cNvSpPr>
          <p:nvPr/>
        </p:nvSpPr>
        <p:spPr>
          <a:xfrm>
            <a:off x="7239000" y="31813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 DonkeyCar 应用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5543D3-302B-441A-ACC4-7029F244C60A}"/>
              </a:ext>
            </a:extLst>
          </p:cNvPr>
          <p:cNvSpPr>
            <a:spLocks noGrp="1"/>
          </p:cNvSpPr>
          <p:nvPr/>
        </p:nvSpPr>
        <p:spPr>
          <a:xfrm>
            <a:off x="9639300" y="31813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74562F-B128-40CB-A14D-3186044FB9C1}"/>
              </a:ext>
            </a:extLst>
          </p:cNvPr>
          <p:cNvSpPr>
            <a:spLocks noGrp="1"/>
          </p:cNvSpPr>
          <p:nvPr/>
        </p:nvSpPr>
        <p:spPr>
          <a:xfrm>
            <a:off x="819150" y="35814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分组卷积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2DF20B-355E-4C04-9894-11FE6E3F94B2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3024B4D-8A16-49DD-A313-A72D07CE7A8F}"/>
              </a:ext>
            </a:extLst>
          </p:cNvPr>
          <p:cNvSpPr>
            <a:spLocks noGrp="1"/>
          </p:cNvSpPr>
          <p:nvPr/>
        </p:nvSpPr>
        <p:spPr>
          <a:xfrm>
            <a:off x="4629150" y="35814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groups=2 correctness PASS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146232F-1F1E-4204-A522-1A6766D0186B}"/>
              </a:ext>
            </a:extLst>
          </p:cNvPr>
          <p:cNvSpPr>
            <a:spLocks noGrp="1"/>
          </p:cNvSpPr>
          <p:nvPr/>
        </p:nvSpPr>
        <p:spPr>
          <a:xfrm>
            <a:off x="7239000" y="35814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缺少性能/效果消融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D2D52A-B73E-4492-9503-6D88863A8EBA}"/>
              </a:ext>
            </a:extLst>
          </p:cNvPr>
          <p:cNvSpPr>
            <a:spLocks noGrp="1"/>
          </p:cNvSpPr>
          <p:nvPr/>
        </p:nvSpPr>
        <p:spPr>
          <a:xfrm>
            <a:off x="9639300" y="358140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F8A768-9A79-4F78-82E0-0DEF7D155C9E}"/>
              </a:ext>
            </a:extLst>
          </p:cNvPr>
          <p:cNvSpPr>
            <a:spLocks noGrp="1"/>
          </p:cNvSpPr>
          <p:nvPr/>
        </p:nvSpPr>
        <p:spPr>
          <a:xfrm>
            <a:off x="819150" y="39814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扩张卷积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B6632D8-E918-4334-93F6-3EDCC3B9ACA5}"/>
              </a:ext>
            </a:extLst>
          </p:cNvPr>
          <p:cNvSpPr>
            <a:spLocks noGrp="1"/>
          </p:cNvSpPr>
          <p:nvPr/>
        </p:nvSpPr>
        <p:spPr>
          <a:xfrm>
            <a:off x="2686050" y="3981450"/>
            <a:ext cx="1619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未用于 ResNet18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E007BF-6995-4BFC-A7DD-5CD020CFADE9}"/>
              </a:ext>
            </a:extLst>
          </p:cNvPr>
          <p:cNvSpPr>
            <a:spLocks noGrp="1"/>
          </p:cNvSpPr>
          <p:nvPr/>
        </p:nvSpPr>
        <p:spPr>
          <a:xfrm>
            <a:off x="4629150" y="39814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dilation correctness PASS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3B81BB-A608-440A-ACF2-74CD80B10995}"/>
              </a:ext>
            </a:extLst>
          </p:cNvPr>
          <p:cNvSpPr>
            <a:spLocks noGrp="1"/>
          </p:cNvSpPr>
          <p:nvPr/>
        </p:nvSpPr>
        <p:spPr>
          <a:xfrm>
            <a:off x="7239000" y="39814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缺少模型级实验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CC7F5F-64CD-4293-90C2-A452F2B90B2F}"/>
              </a:ext>
            </a:extLst>
          </p:cNvPr>
          <p:cNvSpPr>
            <a:spLocks noGrp="1"/>
          </p:cNvSpPr>
          <p:nvPr/>
        </p:nvSpPr>
        <p:spPr>
          <a:xfrm>
            <a:off x="9639300" y="39814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部分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19319E7-FDAC-4BC5-9D32-B50A60B82E95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E9838FD-F9C6-486B-88F5-D51767F51E1E}"/>
              </a:ext>
            </a:extLst>
          </p:cNvPr>
          <p:cNvSpPr>
            <a:spLocks noGrp="1"/>
          </p:cNvSpPr>
          <p:nvPr/>
        </p:nvSpPr>
        <p:spPr>
          <a:xfrm>
            <a:off x="106680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6EECCB7-AFBE-4438-ABCA-1ABAEF570B0F}"/>
              </a:ext>
            </a:extLst>
          </p:cNvPr>
          <p:cNvSpPr>
            <a:spLocks noGrp="1"/>
          </p:cNvSpPr>
          <p:nvPr/>
        </p:nvSpPr>
        <p:spPr>
          <a:xfrm>
            <a:off x="106680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Kernel 1/3/5/31 缺失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FDD7B2B-ABEC-4878-84C7-D48B0641D96B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 ResNet18，仅替换 kernel size；报告 Val MSE、acc@阈值、FLOPs、latency。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732BA89-215B-48E1-BBA0-EAE1EBDE53EC}"/>
              </a:ext>
            </a:extLst>
          </p:cNvPr>
          <p:cNvSpPr>
            <a:spLocks noGrp="1"/>
          </p:cNvSpPr>
          <p:nvPr/>
        </p:nvSpPr>
        <p:spPr>
          <a:xfrm>
            <a:off x="434340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1DD5277-98D7-4669-B6F4-B6EC8E83DAD8}"/>
              </a:ext>
            </a:extLst>
          </p:cNvPr>
          <p:cNvSpPr>
            <a:spLocks noGrp="1"/>
          </p:cNvSpPr>
          <p:nvPr/>
        </p:nvSpPr>
        <p:spPr>
          <a:xfrm>
            <a:off x="451485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267ED0F-3CB7-49EA-999F-9971A31C8D86}"/>
              </a:ext>
            </a:extLst>
          </p:cNvPr>
          <p:cNvSpPr>
            <a:spLocks noGrp="1"/>
          </p:cNvSpPr>
          <p:nvPr/>
        </p:nvSpPr>
        <p:spPr>
          <a:xfrm>
            <a:off x="451485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转置卷积实验缺失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489D6D-330D-4C69-9CB7-1EC4106C34D0}"/>
              </a:ext>
            </a:extLst>
          </p:cNvPr>
          <p:cNvSpPr>
            <a:spLocks noGrp="1"/>
          </p:cNvSpPr>
          <p:nvPr/>
        </p:nvSpPr>
        <p:spPr>
          <a:xfrm>
            <a:off x="451485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代码存在；正确性表未覆盖转置卷积，需补 fwd/bwd/gradcheck。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ECF41EA-F101-40E2-B602-3F4D152D12D2}"/>
              </a:ext>
            </a:extLst>
          </p:cNvPr>
          <p:cNvSpPr>
            <a:spLocks noGrp="1"/>
          </p:cNvSpPr>
          <p:nvPr/>
        </p:nvSpPr>
        <p:spPr>
          <a:xfrm>
            <a:off x="7791450" y="4686300"/>
            <a:ext cx="3048000" cy="146685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F5A3DDF-6511-4BA5-8F12-51126FB582F1}"/>
              </a:ext>
            </a:extLst>
          </p:cNvPr>
          <p:cNvSpPr>
            <a:spLocks noGrp="1"/>
          </p:cNvSpPr>
          <p:nvPr/>
        </p:nvSpPr>
        <p:spPr>
          <a:xfrm>
            <a:off x="7962900" y="48387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663F4AB-E6C5-4C54-924C-5FD606057A74}"/>
              </a:ext>
            </a:extLst>
          </p:cNvPr>
          <p:cNvSpPr>
            <a:spLocks noGrp="1"/>
          </p:cNvSpPr>
          <p:nvPr/>
        </p:nvSpPr>
        <p:spPr>
          <a:xfrm>
            <a:off x="7962900" y="510540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特殊卷积应用缺失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B7C2AE4-94E7-4F9B-A812-2FAE4C0A25FB}"/>
              </a:ext>
            </a:extLst>
          </p:cNvPr>
          <p:cNvSpPr>
            <a:spLocks noGrp="1"/>
          </p:cNvSpPr>
          <p:nvPr/>
        </p:nvSpPr>
        <p:spPr>
          <a:xfrm>
            <a:off x="7962900" y="5429250"/>
            <a:ext cx="2705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算子级已验证，未接入 DonkeyCar；需补模型效果对比。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8EF4A1E-2398-444A-A8DE-10B2D46BDBD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D55B12A-2DC1-44BD-BBB3-94B107BF781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证据：mytorch/function.py；results/conv_pool_correctness/20260519_155002/summary.md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B22E2C2-F46B-4E11-AEDD-736E6A503366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 11 组组合全部通过 NumPy naive、PyTorch、MyTorch 三方验证。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F7ACBC-32F2-477D-97B9-AAAF4521359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覆盖 stride、padding、dilation、groups、depthwise、MaxPool 与 AvgPool。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1BAC1B0-3153-491F-8E9A-9330B22D2D8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结果：results/conv_pool_correctness/20260519_155002/summary.md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框架已有基于计算图的 JIT 跟踪、图优化和算子融合路径。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 DonkeyCar 对比使用 MyTorch JIT；缺少同配置 eager vs JIT 消融。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 IRGraph / IRNode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 进行融合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 / CUDA RawKernel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 by-op 与慢节点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28625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181100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已实现融合算子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181100" y="4629150"/>
            <a:ext cx="3429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FusedBNReLU、FusedAddReLU、FusedConv2dReLU、FusedConvBNReLU、FusedConvBNAddReLU、FusedMSELoss。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已有实验证据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ResNet18 已完成 20 epoch DonkeyCar 训练，并与 PyTorch 作性能/效果对比。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BC2F408-465E-40DC-93C7-E850D7FC9416}"/>
              </a:ext>
            </a:extLst>
          </p:cNvPr>
          <p:cNvSpPr>
            <a:spLocks noGrp="1"/>
          </p:cNvSpPr>
          <p:nvPr/>
        </p:nvSpPr>
        <p:spPr>
          <a:xfrm>
            <a:off x="8591550" y="4057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3243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 消融缺失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MyTorch eager / JIT / fused：时间、batch p50、显存、Val MSE、节点数。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0F70D22-4116-47BA-99B1-2A5828A7B67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代码：mytorch/jit.py, jit_pass.py, function.py；实验：donkeycar_resnet18_jit_vs_pytorch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已实现生产者-消费者式异步加载，DonkeyCar 训练配置已启用 async loader。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但还缺少 sync vs async 的独立消融。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多个 worker 线程读取、解码、预处理 batch，并写入 Queue。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workers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481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maxsize = workers * prefetch_factor；训练线程从队列消费 batch。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训练循环执行 forward、backward、optimizer step。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loader fetch p50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已有结果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JIT 对比实验中 loader_fetch p50 很小，说明瓶颈不在取 batch，而在 backward 与内存管理。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并行加载消融缺失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固定模型和 batch size，对比 sync / async loader：吞吐、GPU 利用率、队列等待。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7D7A0F5-369E-431B-A31C-24326B5874E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代码：mytorch/async_dataloader.py；配置：mytorch_loader=async, workers=4, prefetch=4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0A3A5F22-447B-467A-AE99-5D13B04598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2DAC11-4DEB-4467-88DF-3A973D8B15B2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C48FB4-EE9D-49E8-83A2-7858D4A4624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第七部分 / DOCKER、KUBERNETES、KUBEFLOW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35077-2450-4589-9294-1EDAD1BC507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已有容器化与调度原型文件，但目前是训练任务模板，不是完整 DonkeyCar 服务化部署。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55F1E4-E29C-4ECD-A8F5-38FC1B0DE8C9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这部分应在答辩中明确为“工程化原型完成，实测部署待补”。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F26346-674F-44F2-A4CD-E26BF027823D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CA1B77-AF02-40DF-96EE-084DA8D79C3E}"/>
              </a:ext>
            </a:extLst>
          </p:cNvPr>
          <p:cNvSpPr>
            <a:spLocks noGrp="1"/>
          </p:cNvSpPr>
          <p:nvPr/>
        </p:nvSpPr>
        <p:spPr>
          <a:xfrm>
            <a:off x="1047750" y="2533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EFE0E1C-8E70-4163-841C-F39FBF0C5AE5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deploy/docker/Dockerfile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docker-compose.yml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可封装训练环境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8F184C-3EA1-4B74-B453-30D9F6EA4CE7}"/>
              </a:ext>
            </a:extLst>
          </p:cNvPr>
          <p:cNvSpPr>
            <a:spLocks noGrp="1"/>
          </p:cNvSpPr>
          <p:nvPr/>
        </p:nvSpPr>
        <p:spPr>
          <a:xfrm>
            <a:off x="42481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D73E1C-4E2A-43E9-AD18-3103CC0ED4BD}"/>
              </a:ext>
            </a:extLst>
          </p:cNvPr>
          <p:cNvSpPr>
            <a:spLocks noGrp="1"/>
          </p:cNvSpPr>
          <p:nvPr/>
        </p:nvSpPr>
        <p:spPr>
          <a:xfrm>
            <a:off x="45529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Kubernetes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97D306-28F1-45F1-A76F-C9CCA5B4025B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764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deploy/k8s/mnist-training-job.yaml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定义 Job、资源请求、数据卷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56E58F-4D91-4D3B-AFCA-6615D00A9602}"/>
              </a:ext>
            </a:extLst>
          </p:cNvPr>
          <p:cNvSpPr>
            <a:spLocks noGrp="1"/>
          </p:cNvSpPr>
          <p:nvPr/>
        </p:nvSpPr>
        <p:spPr>
          <a:xfrm>
            <a:off x="7753350" y="2247900"/>
            <a:ext cx="2857500" cy="18097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53C004-26F7-413B-A5BB-C1EE2D31D8E4}"/>
              </a:ext>
            </a:extLst>
          </p:cNvPr>
          <p:cNvSpPr>
            <a:spLocks noGrp="1"/>
          </p:cNvSpPr>
          <p:nvPr/>
        </p:nvSpPr>
        <p:spPr>
          <a:xfrm>
            <a:off x="8058150" y="25336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Kubeflow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D8CA52-0746-4D62-AA1C-496A09CAD87B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kuflow/kfp_pipeline.py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TaskOperator / pipeline demo</a:t>
            </a:r>
          </a:p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可扩展为训练算子调度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D95E520-DB83-4BED-835E-35D7F10BB5FA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15240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440632-F0F3-47BE-A0AF-4F2A442AFB80}"/>
              </a:ext>
            </a:extLst>
          </p:cNvPr>
          <p:cNvSpPr>
            <a:spLocks noGrp="1"/>
          </p:cNvSpPr>
          <p:nvPr/>
        </p:nvSpPr>
        <p:spPr>
          <a:xfrm>
            <a:off x="1066800" y="4400550"/>
            <a:ext cx="26289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BC1323-CDD5-496A-9B2B-BAB74A984E87}"/>
              </a:ext>
            </a:extLst>
          </p:cNvPr>
          <p:cNvSpPr>
            <a:spLocks noGrp="1"/>
          </p:cNvSpPr>
          <p:nvPr/>
        </p:nvSpPr>
        <p:spPr>
          <a:xfrm>
            <a:off x="1238250" y="45910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完成情况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2D53B3-D735-4287-845B-F53158D2226D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228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已有文件级原型与任务描述，可作为下一阶段工程化基础。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742949C-BBE8-44BB-B8A8-E4843B54A062}"/>
              </a:ext>
            </a:extLst>
          </p:cNvPr>
          <p:cNvSpPr>
            <a:spLocks noGrp="1"/>
          </p:cNvSpPr>
          <p:nvPr/>
        </p:nvSpPr>
        <p:spPr>
          <a:xfrm>
            <a:off x="432435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9BD8B4-3BC8-4042-B78C-8FC277AFCC76}"/>
              </a:ext>
            </a:extLst>
          </p:cNvPr>
          <p:cNvSpPr>
            <a:spLocks noGrp="1"/>
          </p:cNvSpPr>
          <p:nvPr/>
        </p:nvSpPr>
        <p:spPr>
          <a:xfrm>
            <a:off x="449580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03C19C-2C90-41FE-9266-E2CC362DAD34}"/>
              </a:ext>
            </a:extLst>
          </p:cNvPr>
          <p:cNvSpPr>
            <a:spLocks noGrp="1"/>
          </p:cNvSpPr>
          <p:nvPr/>
        </p:nvSpPr>
        <p:spPr>
          <a:xfrm>
            <a:off x="449580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部署实验缺失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B0B9FCE-0A0E-4615-A23D-9B7D37298191}"/>
              </a:ext>
            </a:extLst>
          </p:cNvPr>
          <p:cNvSpPr>
            <a:spLocks noGrp="1"/>
          </p:cNvSpPr>
          <p:nvPr/>
        </p:nvSpPr>
        <p:spPr>
          <a:xfrm>
            <a:off x="449580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 docker build/run、K8s Job、Kubeflow pipeline 日志和资源占用。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93747B-8B6D-4713-8AA5-CB038389C4CB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2857500" cy="1524000"/>
          </a:xfrm>
          <a:prstGeom prst="rect">
            <a:avLst/>
          </a:prstGeom>
          <a:solidFill>
            <a:srgbClr val="F7E8E5"/>
          </a:solidFill>
          <a:ln w="14288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59EAA0-1BEB-4787-9607-B4DC368BB593}"/>
              </a:ext>
            </a:extLst>
          </p:cNvPr>
          <p:cNvSpPr>
            <a:spLocks noGrp="1"/>
          </p:cNvSpPr>
          <p:nvPr/>
        </p:nvSpPr>
        <p:spPr>
          <a:xfrm>
            <a:off x="7905750" y="4552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待补实验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740E3D4-9147-4BCF-AC70-4619F232E146}"/>
              </a:ext>
            </a:extLst>
          </p:cNvPr>
          <p:cNvSpPr>
            <a:spLocks noGrp="1"/>
          </p:cNvSpPr>
          <p:nvPr/>
        </p:nvSpPr>
        <p:spPr>
          <a:xfrm>
            <a:off x="7905750" y="4819650"/>
            <a:ext cx="2514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服务化缺失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0F62CD-DF2E-4F42-973E-7903E0AFE8DB}"/>
              </a:ext>
            </a:extLst>
          </p:cNvPr>
          <p:cNvSpPr>
            <a:spLocks noGrp="1"/>
          </p:cNvSpPr>
          <p:nvPr/>
        </p:nvSpPr>
        <p:spPr>
          <a:xfrm>
            <a:off x="7905750" y="51435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gRPC server/client 与 DonkeyCar 在线推理服务尚未完成。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258AB49-C129-4B90-A65B-8A9B6F0892D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1D64B0-6AFF-4CFF-8B7D-1E99199D5E2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代码：deploy/docker, deploy/k8s, kuflow；当前部署对象主要是训练任务原型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616853-8669-4A25-AE3F-4181D7E7A0C7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可以完成训练，但性能和转向误差仍明显落后 PyTorch。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这页用同一 ResNet18 图、同一数据集、同一训练配置做核心对比。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6745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48600" y="41338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7260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6745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PyTorch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4860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7260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275B8F9-EBA6-4A9D-8924-F039F1D3BF75}"/>
              </a:ext>
            </a:extLst>
          </p:cNvPr>
          <p:cNvSpPr>
            <a:spLocks noGrp="1"/>
          </p:cNvSpPr>
          <p:nvPr/>
        </p:nvSpPr>
        <p:spPr>
          <a:xfrm>
            <a:off x="6267450" y="495300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补充：显存峰值 MyTorch 4206.5MB，PyTorch 2822.5MB。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5E4C48E-6DA1-49EA-ACC5-E3A33D62F941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结果：results/donkeycar_resnet18_jit_vs_pytorch/20260516_184610/comparison.md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 backward 阶段，而不是数据读取。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6F6F185-B280-4DF3-9093-561AD9C8AC1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 中 batch_summary p50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未完成项不回避：全部转成可验收实验目标。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422E3-93B9-44E8-B68A-9621E319333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下一阶段重点是补正确率口径、补消融、补部署实测。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转向正确率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保存预测结果，计算 acc@0.05 / acc@0.10，并画误差分布。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卷积尺寸消融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kernel 1/3/5/31 + depthwise/group/dilation/transposed conv。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消融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eager vs JIT vs fused，比较速度、显存、Val MSE。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异步加载消融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sync loader vs async loader，补 GPU 利用率和等待时间。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跨框架任务对比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362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VGG 分类或转向任务：MyTorch/PyTorch/TF/Paddle 同条件对比。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0734AE6-B9FE-42BF-A75C-B8D92DE214AC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8001000" cy="8001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F012EA-ED87-49C3-AFEC-2DFA6C7DE4EA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80010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115C815-7B63-4096-89E8-91775198756C}"/>
              </a:ext>
            </a:extLst>
          </p:cNvPr>
          <p:cNvSpPr>
            <a:spLocks noGrp="1"/>
          </p:cNvSpPr>
          <p:nvPr/>
        </p:nvSpPr>
        <p:spPr>
          <a:xfrm>
            <a:off x="1581150" y="5600700"/>
            <a:ext cx="7658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交付标准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5D61DC8-4067-48C1-A017-E3F958D77BB1}"/>
              </a:ext>
            </a:extLst>
          </p:cNvPr>
          <p:cNvSpPr>
            <a:spLocks noGrp="1"/>
          </p:cNvSpPr>
          <p:nvPr/>
        </p:nvSpPr>
        <p:spPr>
          <a:xfrm>
            <a:off x="1581150" y="5905500"/>
            <a:ext cx="7658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每个目标至少配：实验脚本、命令、结果表、图、结论；答辩报告只引用可复现结果。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E81B530-D568-4D60-8F2C-1092F93DE8F9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下一阶段目标由当前缺口直接推导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178DC-8040-C13E-62D4-4CE16EE00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5D529E23-F4AF-3F38-4C06-539FBE723E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4F6F39B-8C02-F8CC-C6FC-081FFA658FF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971D18-AF80-7581-0BF4-B09978AC7CE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FE2A8C7-BF1E-AA21-E703-0406FA43CBF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未完成项不回避：全部转成可验收实验目标。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A67D0F-E67A-E9B4-564B-6F5B99882D7E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下一阶段重点是补正确率口径、补消融、补部署实测。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C70F0C-AFF5-9EB9-4ECF-AF5ECD619200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27F0FE-2BC7-997C-D118-DB1B9E171C5E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B386DD-8794-D1BC-2C2D-9598538ACB59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转向正确率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402901E-2CCE-D8BF-1670-412B12B864BF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保存预测结果，计算 acc@0.05 / acc@0.10，并画误差分布。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36BC6D-0EA6-C021-17D4-EE481436C11B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6C8E4E-273C-6072-2F3D-FAB90138AA7B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1E623E-9280-2925-527B-40D48A980EB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卷积尺寸消融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9380DEB-0C89-6932-4081-840185F5082B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kernel 1/3/5/31 + depthwise/group/dilation/transposed conv。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79E2F8F-5CFD-682C-D93A-3726CF078105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EDD8E9-2635-B869-30AB-05157EDF6A71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980DA8-3291-FC47-D84D-7823CCB3DF3E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消融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D50F4D-6C30-C927-604C-D44D025A222F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eager vs JIT vs fused，比较速度、显存、Val MSE。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CE46E5D-5A5F-9BDE-3E13-B99FBA4C641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BF308E1-739A-EC0E-089F-3D9BCB72AFC9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F18D45-0E96-BBC1-8B8E-9E421881D9F1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异步加载消融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39D332-F5B0-53A4-19BE-69F81413C931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sync loader vs async loader，补 GPU 利用率和等待时间。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8E7B009-DFAB-2E12-77D1-5DD15A9293BE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3A78D50-39A7-CFC9-DE79-5D86A9897D0F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36FCAA5-5635-F475-E1B5-EB92C8088405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18DF734-C785-ECD4-DD50-AD6A8EAF0FC3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E226CC-7B8F-E8D7-5F19-19304C4C43C4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5686C3-90E2-956C-A52A-066F2DD9E298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784ECCD-E9C6-7AAE-8122-59089B05D0F9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跨框架任务对比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75D3BF-8E61-86A4-CF12-6A4ACEB0B446}"/>
              </a:ext>
            </a:extLst>
          </p:cNvPr>
          <p:cNvSpPr>
            <a:spLocks noGrp="1"/>
          </p:cNvSpPr>
          <p:nvPr/>
        </p:nvSpPr>
        <p:spPr>
          <a:xfrm>
            <a:off x="8362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VGG 分类或转向任务：MyTorch/PyTorch/TF/Paddle 同条件对比。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2BD4C3D-39D3-8927-9D45-C1FB501A74FE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8001000" cy="8001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6E42227-7B0D-7FDC-8985-47B34A0F67B2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80010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5A05AB1-7AD8-87C4-7F3A-B98FA989ED6C}"/>
              </a:ext>
            </a:extLst>
          </p:cNvPr>
          <p:cNvSpPr>
            <a:spLocks noGrp="1"/>
          </p:cNvSpPr>
          <p:nvPr/>
        </p:nvSpPr>
        <p:spPr>
          <a:xfrm>
            <a:off x="1581150" y="5600700"/>
            <a:ext cx="7658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交付标准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156B000-746B-2B40-F308-A1D2A5B4CA45}"/>
              </a:ext>
            </a:extLst>
          </p:cNvPr>
          <p:cNvSpPr>
            <a:spLocks noGrp="1"/>
          </p:cNvSpPr>
          <p:nvPr/>
        </p:nvSpPr>
        <p:spPr>
          <a:xfrm>
            <a:off x="1581150" y="5905500"/>
            <a:ext cx="7658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每个目标至少配：实验脚本、命令、结果表、图、结论；答辩报告只引用可复现结果。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8CF05CC-81B4-A430-7F51-DD77EF22B77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CF15955-7083-D68B-4133-D378E4CA4666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下一阶段目标由当前缺口直接推导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AACACCD-EE97-9744-42FD-1537D62F859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52435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完成过程中遇到的困难：</a:t>
            </a:r>
          </a:p>
          <a:p>
            <a:pPr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数据增强无效或反向效果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7772CA-EB78-BE13-499F-ED2343F59D6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F2B50D-DBEA-2012-51E9-AA00E6486A75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4062186" cy="51253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初始方案</a:t>
            </a:r>
            <a:r>
              <a:rPr lang="en-US" altLang="zh-CN"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:</a:t>
            </a:r>
            <a:r>
              <a:rPr lang="zh-CN" altLang="en-US"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16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EA35E2-61A0-10AD-2FEE-CA2C0D13B0D1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32AC45-77D0-03C5-19EE-81BE084C90E4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A9E179-6B82-868B-58ED-C3735C37B9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299A68-9007-CCB0-C64A-30EF96C45B88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1B77A8-6F6E-8C32-9C33-ADD7292F4A21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088B96-EBE9-13F1-9A1D-5342CC35B211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5D78C5-8E02-5CB6-952F-7067166F90DF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4D9AD1-0A48-867B-C035-8999689177AD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E98798-02FF-0F76-F861-491A74408726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EBB780-7CE2-54CF-CD90-A7F90456E8D9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991DF5-6CC5-0866-E336-D3300D986C2A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62BD170-31A1-B91C-0B02-3C308346C72B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0FFF8E-D369-8E9B-9784-B132E4E07666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6F203F1-AB8F-6E89-1275-CE9D4811FF84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BC5583-5391-1FE9-7BBF-5606DFA44E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3337A95-A97A-1F5D-CB75-BB8C97743E3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DFF870-C37A-ABC3-C19A-8101C39E365E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6F6C11-4692-F9DC-5773-36242F5FA06B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335D4A-F62F-0918-066C-A6279F8FB06A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5D7109-EE2E-2594-5EF2-E2453151FFAF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9F0F732-1DCE-5D2E-317C-9107F76797EC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5AA9C8-5BD9-7CB3-59F4-5F5C22BEF9E0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120743D-DC20-0C87-9AF9-8D87B80A592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DB73A5B-DDD1-9747-F797-4A35DD2D60D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345DE0C-B61A-B271-286E-3F41CB0CB47A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E908E6F-EB02-714C-9F10-1FDB16E9373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92E57F-E997-E60D-BA32-A75F51852DCE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B340B9C-DF9B-4A0B-A6D7-D96D3669E0FE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E383625-0EFC-4ECC-2BBF-21F93440F28D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945C5C9-C408-28E1-984F-D51797BECC1F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736564F-B983-085F-57B2-94CA43489F1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7269932-EEFD-E5E8-1036-8D04A2869B10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3738626-9211-A0F8-CA7A-92BB9E0A7AE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D5DA992-A929-96D6-A371-71317BC707FC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588A27C-3270-30F2-6782-26A4BCC37F86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21AA52D-7BC4-156F-79DC-EF3E96EBDDA0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38DED6-59F3-8360-4F8C-CDA8635EEBD7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3C7944F-3B3C-85ED-DBAC-192A73BE47A1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CDBA2B3-838D-1772-D75E-3C33A1DC752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18B8BBF-36F6-4C2A-0F61-B953989CB55C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 中 batch_summary p50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0774F2-420F-F146-E872-2F38EE270595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C94BB7A-4E53-4AA1-87CC-35A83FC230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02936"/>
          </a:solidFill>
          <a:ln w="0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78C1E2-4746-43E2-B475-7A99DA475E1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1C82B9-BF3E-457A-9364-3EDB5A1375B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第十部分 / 困难与缺口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9952E3-8054-48E9-B99F-72F3AF85174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主要困难来自任务口径、GPU 环境、反向传播性能和工程化验证。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A5D4D3-390A-4140-8A20-238D3C025438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这页可以作为答辩</a:t>
            </a:r>
            <a:r>
              <a:rPr sz="1238" b="0" dirty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 Q&amp;A </a:t>
            </a:r>
            <a:r>
              <a:rPr sz="1238" b="0" dirty="0" err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的预案</a:t>
            </a:r>
            <a:r>
              <a:rPr sz="1238" b="0" dirty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31209E5-542E-47D2-90BC-93834E6095D3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4572000" cy="3143250"/>
          </a:xfrm>
          <a:prstGeom prst="rect">
            <a:avLst/>
          </a:prstGeom>
          <a:solidFill>
            <a:srgbClr val="2B3542"/>
          </a:solidFill>
          <a:ln w="9525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CAA53A-30FD-4F6A-9EFF-7564EE8DA07A}"/>
              </a:ext>
            </a:extLst>
          </p:cNvPr>
          <p:cNvSpPr>
            <a:spLocks noGrp="1"/>
          </p:cNvSpPr>
          <p:nvPr/>
        </p:nvSpPr>
        <p:spPr>
          <a:xfrm>
            <a:off x="1066800" y="2476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完成过程中的困难</a:t>
            </a:r>
            <a:endParaRPr sz="16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9C3FC5-3732-47D6-980A-37F956F00509}"/>
              </a:ext>
            </a:extLst>
          </p:cNvPr>
          <p:cNvSpPr>
            <a:spLocks noGrp="1"/>
          </p:cNvSpPr>
          <p:nvPr/>
        </p:nvSpPr>
        <p:spPr>
          <a:xfrm>
            <a:off x="1066800" y="30289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数据增强</a:t>
            </a:r>
            <a:endParaRPr sz="1200" b="1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CA55BB-8124-43AD-B28F-4F4E6BD08310}"/>
              </a:ext>
            </a:extLst>
          </p:cNvPr>
          <p:cNvSpPr>
            <a:spLocks noGrp="1"/>
          </p:cNvSpPr>
          <p:nvPr/>
        </p:nvSpPr>
        <p:spPr>
          <a:xfrm>
            <a:off x="2209800" y="302895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 dirty="0" err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990" b="0" dirty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90" b="0" dirty="0" err="1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当前是转向角回归，不能直接套分类</a:t>
            </a:r>
            <a:r>
              <a:rPr sz="990" b="0" dirty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 accuracy。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89FED4-9D09-40E8-8164-09F6D6F7ABBE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环境问题</a:t>
            </a:r>
            <a:endParaRPr sz="1200" b="1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1D5D71-D362-41E8-AFC2-9F6842C3855F}"/>
              </a:ext>
            </a:extLst>
          </p:cNvPr>
          <p:cNvSpPr>
            <a:spLocks noGrp="1"/>
          </p:cNvSpPr>
          <p:nvPr/>
        </p:nvSpPr>
        <p:spPr>
          <a:xfrm>
            <a:off x="2209800" y="356235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CuPy 安装在 donkey-env；使用 base Python 时无法启用 GPU/JIT CUDA 路径。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3C0506-69E2-4D53-973F-6658608B8CDC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性能瓶颈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43911CC-28A2-4D44-B0C2-3D230083FC54}"/>
              </a:ext>
            </a:extLst>
          </p:cNvPr>
          <p:cNvSpPr>
            <a:spLocks noGrp="1"/>
          </p:cNvSpPr>
          <p:nvPr/>
        </p:nvSpPr>
        <p:spPr>
          <a:xfrm>
            <a:off x="2209800" y="409575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MyTorch backward 与显存管理明显落后 PyTorch。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D12A07-0FCA-4821-B6AF-D3E044EF48E8}"/>
              </a:ext>
            </a:extLst>
          </p:cNvPr>
          <p:cNvSpPr>
            <a:spLocks noGrp="1"/>
          </p:cNvSpPr>
          <p:nvPr/>
        </p:nvSpPr>
        <p:spPr>
          <a:xfrm>
            <a:off x="1066800" y="4629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实验成本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B9A76E-B94C-4376-8005-A0ABFB9B7620}"/>
              </a:ext>
            </a:extLst>
          </p:cNvPr>
          <p:cNvSpPr>
            <a:spLocks noGrp="1"/>
          </p:cNvSpPr>
          <p:nvPr/>
        </p:nvSpPr>
        <p:spPr>
          <a:xfrm>
            <a:off x="2209800" y="4629150"/>
            <a:ext cx="2571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B8C4D4"/>
                </a:solidFill>
                <a:latin typeface="Microsoft YaHei"/>
                <a:ea typeface="Microsoft YaHei"/>
                <a:cs typeface="Microsoft YaHei"/>
              </a:rPr>
              <a:t>完整 ResNet18 训练耗时长，部分消融尚未跑完。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01B398-FEB3-4182-954E-A22C86DF8A6C}"/>
              </a:ext>
            </a:extLst>
          </p:cNvPr>
          <p:cNvSpPr>
            <a:spLocks noGrp="1"/>
          </p:cNvSpPr>
          <p:nvPr/>
        </p:nvSpPr>
        <p:spPr>
          <a:xfrm>
            <a:off x="5905500" y="2209800"/>
            <a:ext cx="4762500" cy="3143250"/>
          </a:xfrm>
          <a:prstGeom prst="rect">
            <a:avLst/>
          </a:prstGeom>
          <a:solidFill>
            <a:srgbClr val="2B3542"/>
          </a:solidFill>
          <a:ln w="9525">
            <a:solidFill>
              <a:srgbClr val="2B354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733EF-FCC2-4E99-9F3E-761AFF753B9C}"/>
              </a:ext>
            </a:extLst>
          </p:cNvPr>
          <p:cNvSpPr>
            <a:spLocks noGrp="1"/>
          </p:cNvSpPr>
          <p:nvPr/>
        </p:nvSpPr>
        <p:spPr>
          <a:xfrm>
            <a:off x="6210300" y="24765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缺少实验测试清单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F6E93A-4E68-4A45-BD56-2137A9D442A0}"/>
              </a:ext>
            </a:extLst>
          </p:cNvPr>
          <p:cNvSpPr>
            <a:spLocks noGrp="1"/>
          </p:cNvSpPr>
          <p:nvPr/>
        </p:nvSpPr>
        <p:spPr>
          <a:xfrm>
            <a:off x="6210300" y="297180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转向角 acc@阈值正确率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3E2DDC7-C4D9-47B8-84BE-A437FE15C97C}"/>
              </a:ext>
            </a:extLst>
          </p:cNvPr>
          <p:cNvSpPr>
            <a:spLocks noGrp="1"/>
          </p:cNvSpPr>
          <p:nvPr/>
        </p:nvSpPr>
        <p:spPr>
          <a:xfrm>
            <a:off x="6210300" y="324802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kernel 1/3/5/31 效果与性能消融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293D37-8A9D-484C-A94A-BC416042F3F8}"/>
              </a:ext>
            </a:extLst>
          </p:cNvPr>
          <p:cNvSpPr>
            <a:spLocks noGrp="1"/>
          </p:cNvSpPr>
          <p:nvPr/>
        </p:nvSpPr>
        <p:spPr>
          <a:xfrm>
            <a:off x="6210300" y="352425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转置卷积 forward/backward/gradcheck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7F15C91-7426-43BC-8B8B-ED3C0E1C6D7E}"/>
              </a:ext>
            </a:extLst>
          </p:cNvPr>
          <p:cNvSpPr>
            <a:spLocks noGrp="1"/>
          </p:cNvSpPr>
          <p:nvPr/>
        </p:nvSpPr>
        <p:spPr>
          <a:xfrm>
            <a:off x="6210300" y="380047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depthwise/group/dilation 模型级使用效果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555DF1-1729-4DAB-9E74-3FF53BFA291B}"/>
              </a:ext>
            </a:extLst>
          </p:cNvPr>
          <p:cNvSpPr>
            <a:spLocks noGrp="1"/>
          </p:cNvSpPr>
          <p:nvPr/>
        </p:nvSpPr>
        <p:spPr>
          <a:xfrm>
            <a:off x="6210300" y="407670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MyTorch eager vs JIT/Fusion 消融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E33A509-B976-4FAC-8C3A-0E288B79CB5A}"/>
              </a:ext>
            </a:extLst>
          </p:cNvPr>
          <p:cNvSpPr>
            <a:spLocks noGrp="1"/>
          </p:cNvSpPr>
          <p:nvPr/>
        </p:nvSpPr>
        <p:spPr>
          <a:xfrm>
            <a:off x="6210300" y="435292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sync vs async DataLoader 消融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68E228E-B60F-4C87-94CB-1E26B78BB1E7}"/>
              </a:ext>
            </a:extLst>
          </p:cNvPr>
          <p:cNvSpPr>
            <a:spLocks noGrp="1"/>
          </p:cNvSpPr>
          <p:nvPr/>
        </p:nvSpPr>
        <p:spPr>
          <a:xfrm>
            <a:off x="6210300" y="4629150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Docker/K8s/Kubeflow 实测日志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41929A-3BCB-4941-BFE2-7F5E9594D134}"/>
              </a:ext>
            </a:extLst>
          </p:cNvPr>
          <p:cNvSpPr>
            <a:spLocks noGrp="1"/>
          </p:cNvSpPr>
          <p:nvPr/>
        </p:nvSpPr>
        <p:spPr>
          <a:xfrm>
            <a:off x="6210300" y="4905375"/>
            <a:ext cx="3714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• gRPC + INT8 在线推理实验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954AB1-1F2C-40AF-9130-44E2C004833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435166"/>
          </a:solidFill>
          <a:ln w="0">
            <a:solidFill>
              <a:srgbClr val="4351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3C11E5-690C-4878-98AE-4256B1102C8D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rPr>
              <a:t>总结：已完成核心框架与关键证明；待补项已转化为下一阶段实验计划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E56CEDD-5767-4FD6-9021-EC8DF5B8905C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2A0B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600430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1846</Words>
  <Application>Microsoft Office PowerPoint</Application>
  <DocSecurity>0</DocSecurity>
  <PresentationFormat>宽屏</PresentationFormat>
  <Paragraphs>446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</cp:revision>
  <dcterms:created xsi:type="dcterms:W3CDTF">2026-05-19T13:12:39Z</dcterms:created>
  <dcterms:modified xsi:type="dcterms:W3CDTF">2026-05-20T01:54:55Z</dcterms:modified>
</cp:coreProperties>
</file>