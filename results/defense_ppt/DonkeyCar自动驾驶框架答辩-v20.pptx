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1088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1088" b="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</a:t>
            </a:r>
            <a:r>
              <a:rPr lang="en-US"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899"/>
            <a:ext cx="112183" cy="76201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</a:t>
            </a:r>
            <a:r>
              <a:rPr lang="en-US" altLang="zh-CN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NumPy naive / </a:t>
            </a: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</a:t>
            </a:r>
            <a:r>
              <a:rPr lang="en-US" sz="1073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1073" b="1" dirty="0">
              <a:solidFill>
                <a:srgbClr val="2995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、temporal split、20 epoch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.55%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9.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89.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86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.10%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.30%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.95%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4000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85</a:t>
            </a: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.70%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80328"/>
            <a:ext cx="3200400" cy="1783977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799" y="3976968"/>
            <a:ext cx="3200401" cy="75079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9215" y="4239185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sz="1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792319" y="4597774"/>
            <a:ext cx="3378575" cy="79897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</a:t>
            </a:r>
            <a:r>
              <a:rPr lang="en-US" altLang="zh-CN" sz="12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2776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9235889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9407339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9407339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zh-CN" alt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38746" y="5126773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38746" y="5450623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部署实验：</a:t>
            </a:r>
            <a:r>
              <a:rPr lang="en-US" altLang="zh-CN" sz="2580" b="1" dirty="0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JIT 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batch_size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=8</a:t>
            </a:r>
            <a:r>
              <a:rPr lang="zh-CN" altLang="en-US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max train/</a:t>
            </a:r>
            <a:r>
              <a:rPr lang="en-US" altLang="zh-CN" sz="14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val</a:t>
            </a:r>
            <a:r>
              <a:rPr lang="en-US" altLang="zh-CN" sz="1400" dirty="0">
                <a:solidFill>
                  <a:srgbClr val="526070"/>
                </a:solidFill>
                <a:latin typeface="Microsoft YaHei" panose="020B0503020204020204" pitchFamily="34" charset="-122"/>
              </a:rPr>
              <a:t> batches=20</a:t>
            </a:r>
            <a:endParaRPr lang="zh-CN" altLang="en-US" sz="14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315447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1100" b="1" dirty="0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hostPath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 dirty="0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1100" b="1" dirty="0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YAML 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/ UI</a:t>
            </a:r>
            <a:r>
              <a:rPr lang="zh-CN" altLang="en-US" sz="1100" b="1">
                <a:solidFill>
                  <a:srgbClr val="D68E1D"/>
                </a:solidFill>
                <a:latin typeface="Microsoft YaHei" panose="020B0503020204020204" pitchFamily="34" charset="-122"/>
              </a:rPr>
              <a:t>截图待补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597646" y="3759946"/>
            <a:ext cx="10635129" cy="2031253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26247" y="3937747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26247" y="43060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350247" y="43060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556747" y="43060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120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890247" y="430604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 dirty="0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31747" y="43060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20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26247" y="458544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350247" y="458544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556747" y="458544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890247" y="4585447"/>
            <a:ext cx="18512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31747" y="458544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26247" y="477848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350247" y="477848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556747" y="477848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890247" y="477848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31747" y="477848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26247" y="497152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350247" y="497152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556747" y="4971527"/>
            <a:ext cx="222548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890246" y="4971527"/>
            <a:ext cx="2048435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31747" y="497152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26247" y="516456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350247" y="516456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556747" y="516456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0.113s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890247" y="5164567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31747" y="516456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deploy/k8s/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1100" dirty="0">
                <a:solidFill>
                  <a:srgbClr val="526070"/>
                </a:solidFill>
                <a:latin typeface="Microsoft YaHei" panose="020B0503020204020204" pitchFamily="34" charset="-122"/>
              </a:rPr>
              <a:t>-training-</a:t>
            </a:r>
            <a:r>
              <a:rPr lang="en-US" altLang="zh-CN" sz="1100" dirty="0" err="1">
                <a:solidFill>
                  <a:srgbClr val="526070"/>
                </a:solidFill>
                <a:latin typeface="Microsoft YaHei" panose="020B0503020204020204" pitchFamily="34" charset="-122"/>
              </a:rPr>
              <a:t>job.kind.yaml</a:t>
            </a:r>
            <a:endParaRPr lang="zh-CN" altLang="en-US" sz="1100" dirty="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26247" y="5357607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110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350247" y="5357607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110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556747" y="5357607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890247" y="5357607"/>
            <a:ext cx="2308412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1100" dirty="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31747" y="5357607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10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110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620059" y="5924177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848659" y="6051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0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848659" y="6305177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 dirty="0" err="1">
                <a:solidFill>
                  <a:srgbClr val="1B222B"/>
                </a:solidFill>
                <a:latin typeface="Microsoft YaHei" panose="020B0503020204020204" pitchFamily="34" charset="-122"/>
              </a:rPr>
              <a:t>DonkeyCar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900" dirty="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3006.5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360759" cy="76356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629771" y="1508312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9345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9345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5157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23022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9345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515721" y="2841812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23022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9345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515721" y="3222812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23022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9345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515721" y="3832412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23022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5925671" y="1508312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230471" y="1755962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230471" y="2365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811621" y="2460812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240371" y="2365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230471" y="2746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811621" y="2841812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240371" y="2746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230471" y="31275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811621" y="3222812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240371" y="31275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230471" y="3737162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811621" y="3832412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240371" y="3737162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182221" y="4784912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353671" y="4975412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353671" y="5280212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36494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8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8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4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4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911038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 dirty="0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599" y="5238749"/>
            <a:ext cx="62753" cy="920003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</a:t>
            </a:r>
            <a:r>
              <a:rPr lang="en-US" altLang="zh-CN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steering label </a:t>
            </a: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物理一致；否则增强会制造错误监督。</a:t>
            </a:r>
            <a:endParaRPr lang="zh-CN" altLang="en-US"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4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0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7DD829-5D01-E18B-2E8D-94071DFBA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02239-7B85-BA0D-FEAC-8D4BBFC6422A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33F642-663D-893B-D50C-48E470619F87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B0221-72BB-14DA-1AD3-7C2950F4065A}"/>
              </a:ext>
            </a:extLst>
          </p:cNvPr>
          <p:cNvSpPr txBox="1"/>
          <p:nvPr/>
        </p:nvSpPr>
        <p:spPr>
          <a:xfrm>
            <a:off x="571500" y="736600"/>
            <a:ext cx="111125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未完整实现：完整编译器困难与本项目替代方案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6B0C0D-54E5-0B05-4BEF-12F9FA2E3032}"/>
              </a:ext>
            </a:extLst>
          </p:cNvPr>
          <p:cNvSpPr txBox="1"/>
          <p:nvPr/>
        </p:nvSpPr>
        <p:spPr>
          <a:xfrm>
            <a:off x="596900" y="1371600"/>
            <a:ext cx="10922000" cy="1723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本项目没有实现通用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编译器；最终采用 静态模式融合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图执行器 作为轻量化替代，并用 </a:t>
            </a:r>
            <a:r>
              <a:rPr lang="en-US" altLang="zh-CN" sz="11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内部基线验证收益。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CA4C88-C4C1-AD64-A453-FEEE59509626}"/>
              </a:ext>
            </a:extLst>
          </p:cNvPr>
          <p:cNvSpPr/>
          <p:nvPr/>
        </p:nvSpPr>
        <p:spPr>
          <a:xfrm>
            <a:off x="698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28086F-41AE-DC12-CB80-49F06FBCBDCF}"/>
              </a:ext>
            </a:extLst>
          </p:cNvPr>
          <p:cNvSpPr/>
          <p:nvPr/>
        </p:nvSpPr>
        <p:spPr>
          <a:xfrm>
            <a:off x="698500" y="1905000"/>
            <a:ext cx="3302000" cy="5080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F27868-35EE-37C5-E4E8-33CFF00E9FD7}"/>
              </a:ext>
            </a:extLst>
          </p:cNvPr>
          <p:cNvSpPr txBox="1"/>
          <p:nvPr/>
        </p:nvSpPr>
        <p:spPr>
          <a:xfrm>
            <a:off x="952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的实现困难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2DCCEE-E983-E3EE-2135-E28BB7EF4310}"/>
              </a:ext>
            </a:extLst>
          </p:cNvPr>
          <p:cNvSpPr/>
          <p:nvPr/>
        </p:nvSpPr>
        <p:spPr>
          <a:xfrm>
            <a:off x="952500" y="2552700"/>
            <a:ext cx="1092200" cy="279400"/>
          </a:xfrm>
          <a:prstGeom prst="rect">
            <a:avLst/>
          </a:prstGeom>
          <a:solidFill>
            <a:srgbClr val="FFEEEB"/>
          </a:solidFill>
          <a:ln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077CC4-DBC4-4EFE-635D-87B6DC239380}"/>
              </a:ext>
            </a:extLst>
          </p:cNvPr>
          <p:cNvSpPr txBox="1"/>
          <p:nvPr/>
        </p:nvSpPr>
        <p:spPr>
          <a:xfrm>
            <a:off x="1117600" y="2616200"/>
            <a:ext cx="9144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 dirty="0">
                <a:solidFill>
                  <a:srgbClr val="CD3A2E"/>
                </a:solidFill>
                <a:latin typeface="Microsoft YaHei" panose="020B0503020204020204" pitchFamily="34" charset="-122"/>
              </a:rPr>
              <a:t>本阶段未完成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91C703-4DC6-8365-CE13-0B52BFFA7358}"/>
              </a:ext>
            </a:extLst>
          </p:cNvPr>
          <p:cNvSpPr txBox="1"/>
          <p:nvPr/>
        </p:nvSpPr>
        <p:spPr>
          <a:xfrm>
            <a:off x="952500" y="2997200"/>
            <a:ext cx="2768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动态图捕获与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IR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：需要把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Python/eager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执行转成可分析的计算图，支持控制流、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4E4D2-001C-C73C-99C4-319DFDDE3835}"/>
              </a:ext>
            </a:extLst>
          </p:cNvPr>
          <p:cNvSpPr txBox="1"/>
          <p:nvPr/>
        </p:nvSpPr>
        <p:spPr>
          <a:xfrm>
            <a:off x="952500" y="3657600"/>
            <a:ext cx="2768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编译优化链路：需要优化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Pass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、内存规划、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lower/codegen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，甚至生成或调用新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63F9B6-E07D-EE08-A5BB-FA91C69290DD}"/>
              </a:ext>
            </a:extLst>
          </p:cNvPr>
          <p:cNvSpPr txBox="1"/>
          <p:nvPr/>
        </p:nvSpPr>
        <p:spPr>
          <a:xfrm>
            <a:off x="952500" y="4318000"/>
            <a:ext cx="2768600" cy="2954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训练语义保持：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forward/backward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autograd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、残差分支不能被错误重排。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E0DA21-6667-366B-A7BB-756AC1E72C6E}"/>
              </a:ext>
            </a:extLst>
          </p:cNvPr>
          <p:cNvSpPr/>
          <p:nvPr/>
        </p:nvSpPr>
        <p:spPr>
          <a:xfrm>
            <a:off x="44450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A4640D-C48A-1D99-448D-86224F78ABC2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F46F11-E40F-80D9-735F-B9F6FDD4BE2C}"/>
              </a:ext>
            </a:extLst>
          </p:cNvPr>
          <p:cNvSpPr txBox="1"/>
          <p:nvPr/>
        </p:nvSpPr>
        <p:spPr>
          <a:xfrm>
            <a:off x="46990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融合粒度选择困难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38A7E-526C-05DE-E740-850ABF6E4BD8}"/>
              </a:ext>
            </a:extLst>
          </p:cNvPr>
          <p:cNvSpPr/>
          <p:nvPr/>
        </p:nvSpPr>
        <p:spPr>
          <a:xfrm>
            <a:off x="4699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9A08F0-290E-85FA-42E8-9303CCF58D35}"/>
              </a:ext>
            </a:extLst>
          </p:cNvPr>
          <p:cNvSpPr txBox="1"/>
          <p:nvPr/>
        </p:nvSpPr>
        <p:spPr>
          <a:xfrm>
            <a:off x="4800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458206-14E2-7DF8-14B9-4602D6488ECB}"/>
              </a:ext>
            </a:extLst>
          </p:cNvPr>
          <p:cNvSpPr txBox="1"/>
          <p:nvPr/>
        </p:nvSpPr>
        <p:spPr>
          <a:xfrm>
            <a:off x="4800600" y="3022600"/>
            <a:ext cx="58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272EF2-20EA-B49F-CF98-63E95836F26F}"/>
              </a:ext>
            </a:extLst>
          </p:cNvPr>
          <p:cNvSpPr/>
          <p:nvPr/>
        </p:nvSpPr>
        <p:spPr>
          <a:xfrm>
            <a:off x="5588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42BB0C-EFFD-839B-F30E-9F428DDB299C}"/>
              </a:ext>
            </a:extLst>
          </p:cNvPr>
          <p:cNvSpPr txBox="1"/>
          <p:nvPr/>
        </p:nvSpPr>
        <p:spPr>
          <a:xfrm>
            <a:off x="5689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238F5A"/>
                </a:solidFill>
                <a:latin typeface="Microsoft YaHei" panose="020B0503020204020204" pitchFamily="34" charset="-122"/>
              </a:rPr>
              <a:t>当前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9F29ED-402B-E0FD-595A-CCA1C55D050E}"/>
              </a:ext>
            </a:extLst>
          </p:cNvPr>
          <p:cNvSpPr txBox="1"/>
          <p:nvPr/>
        </p:nvSpPr>
        <p:spPr>
          <a:xfrm>
            <a:off x="5689600" y="3022600"/>
            <a:ext cx="58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46478"/>
                </a:solidFill>
                <a:latin typeface="Microsoft YaHei" panose="020B0503020204020204" pitchFamily="34" charset="-122"/>
              </a:rPr>
              <a:t>局部安全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EE2632-5736-6F68-CD26-C95F6C39F422}"/>
              </a:ext>
            </a:extLst>
          </p:cNvPr>
          <p:cNvSpPr/>
          <p:nvPr/>
        </p:nvSpPr>
        <p:spPr>
          <a:xfrm>
            <a:off x="6477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468F43-558B-8FBE-B61F-C67E97B14AFD}"/>
              </a:ext>
            </a:extLst>
          </p:cNvPr>
          <p:cNvSpPr txBox="1"/>
          <p:nvPr/>
        </p:nvSpPr>
        <p:spPr>
          <a:xfrm>
            <a:off x="6578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94CAF5-78CC-E8E0-EB4C-2A987B6DA02F}"/>
              </a:ext>
            </a:extLst>
          </p:cNvPr>
          <p:cNvSpPr txBox="1"/>
          <p:nvPr/>
        </p:nvSpPr>
        <p:spPr>
          <a:xfrm>
            <a:off x="6578600" y="3022600"/>
            <a:ext cx="5842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00">
                <a:solidFill>
                  <a:srgbClr val="546478"/>
                </a:solidFill>
                <a:latin typeface="Microsoft YaHei" panose="020B0503020204020204" pitchFamily="34" charset="-122"/>
              </a:rPr>
              <a:t>风险高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B7127-87FE-95DF-5580-85AC9A364DE2}"/>
              </a:ext>
            </a:extLst>
          </p:cNvPr>
          <p:cNvSpPr txBox="1"/>
          <p:nvPr/>
        </p:nvSpPr>
        <p:spPr>
          <a:xfrm>
            <a:off x="4699000" y="3454400"/>
            <a:ext cx="2768600" cy="2985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70">
                <a:solidFill>
                  <a:srgbClr val="546478"/>
                </a:solidFill>
                <a:latin typeface="Microsoft YaHei" panose="020B0503020204020204" pitchFamily="34" charset="-122"/>
              </a:rPr>
              <a:t>过细：只减少少量 </a:t>
            </a:r>
            <a:r>
              <a:rPr lang="en-US" altLang="zh-CN" sz="97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97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97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97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FCBA4-2E63-30C4-E913-54B82A7DCAC2}"/>
              </a:ext>
            </a:extLst>
          </p:cNvPr>
          <p:cNvSpPr txBox="1"/>
          <p:nvPr/>
        </p:nvSpPr>
        <p:spPr>
          <a:xfrm>
            <a:off x="4699000" y="3962400"/>
            <a:ext cx="2768600" cy="2985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过粗：训练期 </a:t>
            </a:r>
            <a:r>
              <a:rPr lang="en-US" altLang="zh-CN" sz="97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Conv+BN+ReLU</a:t>
            </a:r>
            <a:r>
              <a:rPr lang="en-US" altLang="zh-CN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会牵涉 </a:t>
            </a:r>
            <a:r>
              <a:rPr lang="en-US" altLang="zh-CN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状态、临时 </a:t>
            </a:r>
            <a:r>
              <a:rPr lang="en-US" altLang="zh-CN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970" dirty="0">
                <a:solidFill>
                  <a:srgbClr val="546478"/>
                </a:solidFill>
                <a:latin typeface="Microsoft YaHei" panose="020B0503020204020204" pitchFamily="34" charset="-122"/>
              </a:rPr>
              <a:t>生命周期和显存峰值。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78B37C-DE98-6CD7-BE17-A514CD21E684}"/>
              </a:ext>
            </a:extLst>
          </p:cNvPr>
          <p:cNvSpPr txBox="1"/>
          <p:nvPr/>
        </p:nvSpPr>
        <p:spPr>
          <a:xfrm>
            <a:off x="4699000" y="4521200"/>
            <a:ext cx="27686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dirty="0">
                <a:solidFill>
                  <a:srgbClr val="DA9116"/>
                </a:solidFill>
                <a:latin typeface="Microsoft YaHei" panose="020B0503020204020204" pitchFamily="34" charset="-122"/>
              </a:rPr>
              <a:t>因此当前只选择语义清晰、可验证的小粒度模式。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F83420-2899-11D9-86FC-CFDD49BC51B2}"/>
              </a:ext>
            </a:extLst>
          </p:cNvPr>
          <p:cNvSpPr/>
          <p:nvPr/>
        </p:nvSpPr>
        <p:spPr>
          <a:xfrm>
            <a:off x="8191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CFCE2-1D16-2184-7116-A2EDB129227D}"/>
              </a:ext>
            </a:extLst>
          </p:cNvPr>
          <p:cNvSpPr/>
          <p:nvPr/>
        </p:nvSpPr>
        <p:spPr>
          <a:xfrm>
            <a:off x="8191500" y="1905000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99A1B4-85A7-54A7-2CCF-8083D5CC5503}"/>
              </a:ext>
            </a:extLst>
          </p:cNvPr>
          <p:cNvSpPr txBox="1"/>
          <p:nvPr/>
        </p:nvSpPr>
        <p:spPr>
          <a:xfrm>
            <a:off x="8445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本项目替代方案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F8552A-0D53-9ABE-2627-617D6A44E394}"/>
              </a:ext>
            </a:extLst>
          </p:cNvPr>
          <p:cNvSpPr/>
          <p:nvPr/>
        </p:nvSpPr>
        <p:spPr>
          <a:xfrm>
            <a:off x="8445500" y="2552700"/>
            <a:ext cx="1841500" cy="279400"/>
          </a:xfrm>
          <a:prstGeom prst="rect">
            <a:avLst/>
          </a:prstGeom>
          <a:solidFill>
            <a:srgbClr val="EEF9F3"/>
          </a:solidFill>
          <a:ln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495135-C03F-B3CB-1362-2ACA363EAA74}"/>
              </a:ext>
            </a:extLst>
          </p:cNvPr>
          <p:cNvSpPr txBox="1"/>
          <p:nvPr/>
        </p:nvSpPr>
        <p:spPr>
          <a:xfrm>
            <a:off x="8610600" y="2616200"/>
            <a:ext cx="1600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静态模式融合 </a:t>
            </a:r>
            <a:r>
              <a:rPr lang="en-US" altLang="zh-CN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图执行器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A1E3CC-8F0C-77C4-BBA1-0A51EC5279C8}"/>
              </a:ext>
            </a:extLst>
          </p:cNvPr>
          <p:cNvSpPr txBox="1"/>
          <p:nvPr/>
        </p:nvSpPr>
        <p:spPr>
          <a:xfrm>
            <a:off x="8445500" y="2997200"/>
            <a:ext cx="2768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不做通用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IR lowering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、不做运行时代码生成、不编译新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；只在固定 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训练图上扫描已知安全模式。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5B535C-000E-BCEC-98B1-17CE056289F8}"/>
              </a:ext>
            </a:extLst>
          </p:cNvPr>
          <p:cNvSpPr txBox="1"/>
          <p:nvPr/>
        </p:nvSpPr>
        <p:spPr>
          <a:xfrm>
            <a:off x="8445500" y="3733800"/>
            <a:ext cx="2768600" cy="4431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已采用模式：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Add+ReLU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46478"/>
                </a:solidFill>
                <a:latin typeface="Microsoft YaHei" panose="020B0503020204020204" pitchFamily="34" charset="-122"/>
              </a:rPr>
              <a:t>Conv </a:t>
            </a:r>
            <a:r>
              <a:rPr lang="zh-CN" altLang="en-US" sz="960">
                <a:solidFill>
                  <a:srgbClr val="546478"/>
                </a:solidFill>
                <a:latin typeface="Microsoft YaHei" panose="020B0503020204020204" pitchFamily="34" charset="-122"/>
              </a:rPr>
              <a:t>保留为基础算子，避免训练期语义风险。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DD8D2F-2098-4993-5458-CB056DDB1A22}"/>
              </a:ext>
            </a:extLst>
          </p:cNvPr>
          <p:cNvSpPr txBox="1"/>
          <p:nvPr/>
        </p:nvSpPr>
        <p:spPr>
          <a:xfrm>
            <a:off x="8445500" y="4368800"/>
            <a:ext cx="2768600" cy="2954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960" dirty="0">
                <a:solidFill>
                  <a:srgbClr val="238F5A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960" dirty="0">
                <a:solidFill>
                  <a:srgbClr val="238F5A"/>
                </a:solidFill>
                <a:latin typeface="Microsoft YaHei" panose="020B0503020204020204" pitchFamily="34" charset="-122"/>
              </a:rPr>
              <a:t>的准确含义：静态融合后的执行计划 </a:t>
            </a:r>
            <a:r>
              <a:rPr lang="en-US" altLang="zh-CN" sz="960" dirty="0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960" dirty="0">
                <a:solidFill>
                  <a:srgbClr val="238F5A"/>
                </a:solidFill>
                <a:latin typeface="Microsoft YaHei" panose="020B0503020204020204" pitchFamily="34" charset="-122"/>
              </a:rPr>
              <a:t>图执行器调度。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A5A8E5-88B3-35F6-9C64-9E261A94EED0}"/>
              </a:ext>
            </a:extLst>
          </p:cNvPr>
          <p:cNvSpPr/>
          <p:nvPr/>
        </p:nvSpPr>
        <p:spPr>
          <a:xfrm>
            <a:off x="717176" y="4978399"/>
            <a:ext cx="10776324" cy="1278965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44D1D53-1ECE-9CF5-4255-27A5521F4F3A}"/>
              </a:ext>
            </a:extLst>
          </p:cNvPr>
          <p:cNvSpPr txBox="1"/>
          <p:nvPr/>
        </p:nvSpPr>
        <p:spPr>
          <a:xfrm>
            <a:off x="952500" y="5143500"/>
            <a:ext cx="863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实验口径：不是完整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对比，而是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内部 无融合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图执行器 消融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6EA7E1-B28B-FF08-E2FA-AA7EAF8CB2BD}"/>
              </a:ext>
            </a:extLst>
          </p:cNvPr>
          <p:cNvSpPr txBox="1"/>
          <p:nvPr/>
        </p:nvSpPr>
        <p:spPr>
          <a:xfrm>
            <a:off x="952500" y="54737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34CF06-96E2-8F0D-15ED-FA2012E5E8AA}"/>
              </a:ext>
            </a:extLst>
          </p:cNvPr>
          <p:cNvSpPr txBox="1"/>
          <p:nvPr/>
        </p:nvSpPr>
        <p:spPr>
          <a:xfrm>
            <a:off x="3048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epoch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85D5A9-9CC2-B4B0-7969-FDAE50F848D7}"/>
              </a:ext>
            </a:extLst>
          </p:cNvPr>
          <p:cNvSpPr txBox="1"/>
          <p:nvPr/>
        </p:nvSpPr>
        <p:spPr>
          <a:xfrm>
            <a:off x="4445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p50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F70CF99-D7AD-E8A5-BA3A-E46D15585B4C}"/>
              </a:ext>
            </a:extLst>
          </p:cNvPr>
          <p:cNvSpPr txBox="1"/>
          <p:nvPr/>
        </p:nvSpPr>
        <p:spPr>
          <a:xfrm>
            <a:off x="5842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GPU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D1893C-91DD-60D4-4C98-E8E448D621FC}"/>
              </a:ext>
            </a:extLst>
          </p:cNvPr>
          <p:cNvSpPr txBox="1"/>
          <p:nvPr/>
        </p:nvSpPr>
        <p:spPr>
          <a:xfrm>
            <a:off x="7175500" y="547370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5C982A-DC36-F7DE-9DCF-0B79361D1C3B}"/>
              </a:ext>
            </a:extLst>
          </p:cNvPr>
          <p:cNvSpPr txBox="1"/>
          <p:nvPr/>
        </p:nvSpPr>
        <p:spPr>
          <a:xfrm>
            <a:off x="8890000" y="5473700"/>
            <a:ext cx="1841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含义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C5297E2-5C4B-0097-A2C4-364DF188302D}"/>
              </a:ext>
            </a:extLst>
          </p:cNvPr>
          <p:cNvSpPr txBox="1"/>
          <p:nvPr/>
        </p:nvSpPr>
        <p:spPr>
          <a:xfrm>
            <a:off x="9525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2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2620544-5BE3-66D6-2CA0-E5B0A90365C7}"/>
              </a:ext>
            </a:extLst>
          </p:cNvPr>
          <p:cNvSpPr txBox="1"/>
          <p:nvPr/>
        </p:nvSpPr>
        <p:spPr>
          <a:xfrm>
            <a:off x="3048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3C5474-EF9A-AB80-F64B-4B5E5AA56B19}"/>
              </a:ext>
            </a:extLst>
          </p:cNvPr>
          <p:cNvSpPr txBox="1"/>
          <p:nvPr/>
        </p:nvSpPr>
        <p:spPr>
          <a:xfrm>
            <a:off x="4445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B3E9773-28D0-9BC6-8DD6-3B357E08495D}"/>
              </a:ext>
            </a:extLst>
          </p:cNvPr>
          <p:cNvSpPr txBox="1"/>
          <p:nvPr/>
        </p:nvSpPr>
        <p:spPr>
          <a:xfrm>
            <a:off x="5842000" y="570230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3266.5MB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0BF980B-3387-50BB-0553-0271F1CD15D3}"/>
              </a:ext>
            </a:extLst>
          </p:cNvPr>
          <p:cNvSpPr txBox="1"/>
          <p:nvPr/>
        </p:nvSpPr>
        <p:spPr>
          <a:xfrm>
            <a:off x="7175500" y="570230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AB3377F-EB33-56DF-2F47-7D6848F7F5EE}"/>
              </a:ext>
            </a:extLst>
          </p:cNvPr>
          <p:cNvSpPr txBox="1"/>
          <p:nvPr/>
        </p:nvSpPr>
        <p:spPr>
          <a:xfrm>
            <a:off x="88900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C2430"/>
                </a:solidFill>
                <a:latin typeface="Microsoft YaHei" panose="020B0503020204020204" pitchFamily="34" charset="-122"/>
              </a:rPr>
              <a:t>无融合基线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DA8A862-9E74-494E-1244-29E82FB62130}"/>
              </a:ext>
            </a:extLst>
          </p:cNvPr>
          <p:cNvSpPr txBox="1"/>
          <p:nvPr/>
        </p:nvSpPr>
        <p:spPr>
          <a:xfrm>
            <a:off x="9525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A9116"/>
                </a:solidFill>
                <a:latin typeface="Microsoft YaHei" panose="020B0503020204020204" pitchFamily="34" charset="-122"/>
              </a:rPr>
              <a:t>Static Pattern Fusion</a:t>
            </a:r>
            <a:endParaRPr lang="zh-CN" altLang="en-US" sz="82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F953B35-40BA-ADFF-3484-710C7829221B}"/>
              </a:ext>
            </a:extLst>
          </p:cNvPr>
          <p:cNvSpPr txBox="1"/>
          <p:nvPr/>
        </p:nvSpPr>
        <p:spPr>
          <a:xfrm>
            <a:off x="3048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3FA1609-8892-F5DE-F8E9-48F21AC7F918}"/>
              </a:ext>
            </a:extLst>
          </p:cNvPr>
          <p:cNvSpPr txBox="1"/>
          <p:nvPr/>
        </p:nvSpPr>
        <p:spPr>
          <a:xfrm>
            <a:off x="4445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AB682AC-AE26-9325-5885-D5B7E0D23F77}"/>
              </a:ext>
            </a:extLst>
          </p:cNvPr>
          <p:cNvSpPr txBox="1"/>
          <p:nvPr/>
        </p:nvSpPr>
        <p:spPr>
          <a:xfrm>
            <a:off x="5842000" y="586994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3300.5MB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A8D100E-1B76-7F0F-AA02-A137304D0DCB}"/>
              </a:ext>
            </a:extLst>
          </p:cNvPr>
          <p:cNvSpPr txBox="1"/>
          <p:nvPr/>
        </p:nvSpPr>
        <p:spPr>
          <a:xfrm>
            <a:off x="7175500" y="586994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2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2F6C237-FF28-C14C-09B3-BBECAB4422B2}"/>
              </a:ext>
            </a:extLst>
          </p:cNvPr>
          <p:cNvSpPr txBox="1"/>
          <p:nvPr/>
        </p:nvSpPr>
        <p:spPr>
          <a:xfrm>
            <a:off x="88900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DA9116"/>
                </a:solidFill>
                <a:latin typeface="Microsoft YaHei" panose="020B0503020204020204" pitchFamily="34" charset="-122"/>
              </a:rPr>
              <a:t>静态模式融合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C208D20B-8920-726D-3E18-CE9F802D2D14}"/>
              </a:ext>
            </a:extLst>
          </p:cNvPr>
          <p:cNvSpPr txBox="1"/>
          <p:nvPr/>
        </p:nvSpPr>
        <p:spPr>
          <a:xfrm>
            <a:off x="9525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238F5A"/>
                </a:solidFill>
                <a:latin typeface="Microsoft YaHei" panose="020B0503020204020204" pitchFamily="34" charset="-122"/>
              </a:rPr>
              <a:t>Static Fusion + Executor</a:t>
            </a:r>
            <a:endParaRPr lang="zh-CN" altLang="en-US" sz="82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7AE8202-A078-66A9-803A-39A69D2471DC}"/>
              </a:ext>
            </a:extLst>
          </p:cNvPr>
          <p:cNvSpPr txBox="1"/>
          <p:nvPr/>
        </p:nvSpPr>
        <p:spPr>
          <a:xfrm>
            <a:off x="3048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244D777-D4E1-607B-22E1-C2F9B36F8AC1}"/>
              </a:ext>
            </a:extLst>
          </p:cNvPr>
          <p:cNvSpPr txBox="1"/>
          <p:nvPr/>
        </p:nvSpPr>
        <p:spPr>
          <a:xfrm>
            <a:off x="4445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F179573-EBA3-B86E-D1A7-3BAD52B0891F}"/>
              </a:ext>
            </a:extLst>
          </p:cNvPr>
          <p:cNvSpPr txBox="1"/>
          <p:nvPr/>
        </p:nvSpPr>
        <p:spPr>
          <a:xfrm>
            <a:off x="5842000" y="603758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2980.6MB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549D7DF-B9B2-8A13-636F-48287A075C7D}"/>
              </a:ext>
            </a:extLst>
          </p:cNvPr>
          <p:cNvSpPr txBox="1"/>
          <p:nvPr/>
        </p:nvSpPr>
        <p:spPr>
          <a:xfrm>
            <a:off x="7175500" y="603758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2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5E9657C-467D-2A9F-A3DD-35516679B4EE}"/>
              </a:ext>
            </a:extLst>
          </p:cNvPr>
          <p:cNvSpPr txBox="1"/>
          <p:nvPr/>
        </p:nvSpPr>
        <p:spPr>
          <a:xfrm>
            <a:off x="88900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替代 </a:t>
            </a:r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方案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434AEEC-3A58-5344-7F79-47659B9560BC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3AABD54-DD25-D2C2-FA6D-7335DF77A43C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200" dirty="0"/>
              <a:t>JSON+NPZ </a:t>
            </a:r>
            <a:r>
              <a:rPr lang="zh-CN" altLang="en-US" sz="1200" dirty="0"/>
              <a:t>方式，可以拓展 </a:t>
            </a:r>
            <a:r>
              <a:rPr lang="en-US" altLang="zh-CN" sz="1200" dirty="0"/>
              <a:t>ONNX </a:t>
            </a:r>
            <a:r>
              <a:rPr lang="zh-CN" altLang="en-US" sz="1200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0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4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2552</Words>
  <Application>Microsoft Office PowerPoint</Application>
  <DocSecurity>0</DocSecurity>
  <PresentationFormat>宽屏</PresentationFormat>
  <Paragraphs>478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26</cp:revision>
  <dcterms:created xsi:type="dcterms:W3CDTF">2026-05-19T13:12:39Z</dcterms:created>
  <dcterms:modified xsi:type="dcterms:W3CDTF">2026-05-21T09:15:05Z</dcterms:modified>
</cp:coreProperties>
</file>