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34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088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</a:t>
            </a:r>
            <a:r>
              <a:rPr 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899"/>
            <a:ext cx="112183" cy="76201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</a:t>
            </a:r>
            <a:r>
              <a:rPr lang="en-US" altLang="zh-CN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NumPy naive /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、temporal split、20 epoch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.55%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89.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86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.95%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85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.70%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80328"/>
            <a:ext cx="3200400" cy="1783977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799" y="3976968"/>
            <a:ext cx="3200401" cy="75079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9215" y="4239185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sz="1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792319" y="4597774"/>
            <a:ext cx="3378575" cy="7989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</a:t>
            </a:r>
            <a:r>
              <a:rPr lang="en-US" altLang="zh-CN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2776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9235889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9407339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9407339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zh-CN" alt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38746" y="5126773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38746" y="5450623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部署实验：</a:t>
            </a:r>
            <a:r>
              <a:rPr lang="en-US" altLang="zh-CN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JIT 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batch_size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=8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max train/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val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batches=20</a:t>
            </a:r>
            <a:endParaRPr lang="zh-CN" altLang="en-US" sz="14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315447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1100" b="1" dirty="0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hostPath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1100" b="1" dirty="0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YAML 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/ UI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截图待补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597646" y="3759946"/>
            <a:ext cx="10635129" cy="2031253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26247" y="3937747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26247" y="43060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350247" y="43060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556747" y="43060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890247" y="430604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31747" y="43060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26247" y="45854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350247" y="45854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556747" y="45854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890247" y="4585447"/>
            <a:ext cx="18512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31747" y="45854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26247" y="477848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350247" y="477848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556747" y="477848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890247" y="477848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31747" y="477848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26247" y="497152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350247" y="497152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556747" y="4971527"/>
            <a:ext cx="222548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890246" y="4971527"/>
            <a:ext cx="2048435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31747" y="497152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26247" y="516456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350247" y="516456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556747" y="516456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0.113s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890247" y="516456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31747" y="516456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deploy/k8s/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-training-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job.kind.yaml</a:t>
            </a:r>
            <a:endParaRPr lang="zh-CN" altLang="en-US" sz="11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26247" y="535760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350247" y="535760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556747" y="535760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890247" y="5357607"/>
            <a:ext cx="23084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31747" y="535760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620059" y="5924177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848659" y="6051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848659" y="6305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dirty="0" err="1">
                <a:solidFill>
                  <a:srgbClr val="1B222B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3006.5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360759" cy="76356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629771" y="1508312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9345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9345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23022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9345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23022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9345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23022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9345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23022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5925671" y="1508312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2304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2304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24037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2304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24037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2304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24037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2304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24037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353671" y="4975412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353671" y="5280212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36494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8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8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911038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 dirty="0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599" y="5238749"/>
            <a:ext cx="62753" cy="920003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</a:t>
            </a:r>
            <a:r>
              <a:rPr lang="en-US" altLang="zh-CN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steering label </a:t>
            </a: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物理一致；否则增强会制造错误监督。</a:t>
            </a:r>
            <a:endParaRPr lang="zh-CN" altLang="en-US"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4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0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F5CA2B-2AC5-EC02-A8C6-7E12222F9F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A3E667D-0015-3D96-015F-D1B6952ABBF9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AC045B0-F8D4-4DD9-8A01-A081CAFEF934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DCA5DC0-9D69-6B00-9BD6-5C106A7A8CD1}"/>
              </a:ext>
            </a:extLst>
          </p:cNvPr>
          <p:cNvSpPr txBox="1"/>
          <p:nvPr/>
        </p:nvSpPr>
        <p:spPr>
          <a:xfrm>
            <a:off x="571500" y="736600"/>
            <a:ext cx="11049000" cy="430887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编译器实现困难：图捕获、缓存与融合粒度选择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8E78AB-89A3-1DD2-826F-E2860E69A4C1}"/>
              </a:ext>
            </a:extLst>
          </p:cNvPr>
          <p:cNvSpPr/>
          <p:nvPr/>
        </p:nvSpPr>
        <p:spPr>
          <a:xfrm>
            <a:off x="5550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D64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73257F-E4BD-698B-7BF2-C2B4834F10AF}"/>
              </a:ext>
            </a:extLst>
          </p:cNvPr>
          <p:cNvSpPr/>
          <p:nvPr/>
        </p:nvSpPr>
        <p:spPr>
          <a:xfrm>
            <a:off x="555064" y="1331259"/>
            <a:ext cx="3302000" cy="50800"/>
          </a:xfrm>
          <a:prstGeom prst="rect">
            <a:avLst/>
          </a:prstGeom>
          <a:solidFill>
            <a:srgbClr val="2D64F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5E6F4BA-0AB4-0C3B-8D09-EA63B56DF1C1}"/>
              </a:ext>
            </a:extLst>
          </p:cNvPr>
          <p:cNvSpPr txBox="1"/>
          <p:nvPr/>
        </p:nvSpPr>
        <p:spPr>
          <a:xfrm>
            <a:off x="809064" y="1585259"/>
            <a:ext cx="302783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编译器完整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实现较为复杂</a:t>
            </a:r>
            <a:endParaRPr lang="zh-CN" altLang="en-US" sz="1400" b="1" dirty="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C6E5CA5-5302-F014-7140-D732FE9B5D1A}"/>
              </a:ext>
            </a:extLst>
          </p:cNvPr>
          <p:cNvSpPr txBox="1"/>
          <p:nvPr/>
        </p:nvSpPr>
        <p:spPr>
          <a:xfrm>
            <a:off x="809064" y="21440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图捕获：从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eager Module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调用中记录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Tensor op DAG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，保留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Conv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、残差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Add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的拓扑关系。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CCF86F9-0F44-C60F-C439-38F0F21BA108}"/>
              </a:ext>
            </a:extLst>
          </p:cNvPr>
          <p:cNvSpPr txBox="1"/>
          <p:nvPr/>
        </p:nvSpPr>
        <p:spPr>
          <a:xfrm>
            <a:off x="809064" y="28044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缓存专门化：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graph cache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需要绑定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shape /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dtype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/ device / training mode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；最后一个小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batch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会触发新的编译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key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CE411C3-54D6-F305-A36B-8C11B6981330}"/>
              </a:ext>
            </a:extLst>
          </p:cNvPr>
          <p:cNvSpPr txBox="1"/>
          <p:nvPr/>
        </p:nvSpPr>
        <p:spPr>
          <a:xfrm>
            <a:off x="809064" y="35664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执行器：要处理拓扑排序、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fallback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节点、训练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评估切换，同时不能破坏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autograd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统计。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2CE852-F2CB-F366-9178-8E1DACA7CA98}"/>
              </a:ext>
            </a:extLst>
          </p:cNvPr>
          <p:cNvSpPr/>
          <p:nvPr/>
        </p:nvSpPr>
        <p:spPr>
          <a:xfrm>
            <a:off x="43015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EFF311-0F29-BD6F-AD2A-BBCA0880E732}"/>
              </a:ext>
            </a:extLst>
          </p:cNvPr>
          <p:cNvSpPr/>
          <p:nvPr/>
        </p:nvSpPr>
        <p:spPr>
          <a:xfrm>
            <a:off x="4301564" y="1331259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E4DE3B0-111C-BC4D-F7DC-89B377640FFD}"/>
              </a:ext>
            </a:extLst>
          </p:cNvPr>
          <p:cNvSpPr txBox="1"/>
          <p:nvPr/>
        </p:nvSpPr>
        <p:spPr>
          <a:xfrm>
            <a:off x="4555564" y="1585259"/>
            <a:ext cx="285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：算子融合粒度不能越大越好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26D8954-33E8-6F93-624D-BCD190D8FFD2}"/>
              </a:ext>
            </a:extLst>
          </p:cNvPr>
          <p:cNvSpPr/>
          <p:nvPr/>
        </p:nvSpPr>
        <p:spPr>
          <a:xfrm>
            <a:off x="45555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D686FE-0DF7-77EF-93C5-5DAE9F4014EE}"/>
              </a:ext>
            </a:extLst>
          </p:cNvPr>
          <p:cNvSpPr txBox="1"/>
          <p:nvPr/>
        </p:nvSpPr>
        <p:spPr>
          <a:xfrm>
            <a:off x="46571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DC32A1-EE97-C5EA-A1EB-09F792BE4189}"/>
              </a:ext>
            </a:extLst>
          </p:cNvPr>
          <p:cNvSpPr txBox="1"/>
          <p:nvPr/>
        </p:nvSpPr>
        <p:spPr>
          <a:xfrm>
            <a:off x="46571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148E19C-9EAC-C78E-8355-8D05C97244C0}"/>
              </a:ext>
            </a:extLst>
          </p:cNvPr>
          <p:cNvSpPr/>
          <p:nvPr/>
        </p:nvSpPr>
        <p:spPr>
          <a:xfrm>
            <a:off x="54699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C4E3D18-2DA4-0242-7AE6-C152758C8A20}"/>
              </a:ext>
            </a:extLst>
          </p:cNvPr>
          <p:cNvSpPr txBox="1"/>
          <p:nvPr/>
        </p:nvSpPr>
        <p:spPr>
          <a:xfrm>
            <a:off x="55715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238F5A"/>
                </a:solidFill>
                <a:latin typeface="Microsoft YaHei" panose="020B0503020204020204" pitchFamily="34" charset="-122"/>
              </a:rPr>
              <a:t>合适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20E3E48-CE54-DFA7-CAAC-3DF48501363B}"/>
              </a:ext>
            </a:extLst>
          </p:cNvPr>
          <p:cNvSpPr txBox="1"/>
          <p:nvPr/>
        </p:nvSpPr>
        <p:spPr>
          <a:xfrm>
            <a:off x="55715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20B9052-FADA-3646-8B57-D7A370D41B35}"/>
              </a:ext>
            </a:extLst>
          </p:cNvPr>
          <p:cNvSpPr/>
          <p:nvPr/>
        </p:nvSpPr>
        <p:spPr>
          <a:xfrm>
            <a:off x="63843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B17075A-2ACE-A22F-D83D-DC0490836BF0}"/>
              </a:ext>
            </a:extLst>
          </p:cNvPr>
          <p:cNvSpPr txBox="1"/>
          <p:nvPr/>
        </p:nvSpPr>
        <p:spPr>
          <a:xfrm>
            <a:off x="64859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B80ACFA-2ABD-341B-7C7D-879C1A805F7C}"/>
              </a:ext>
            </a:extLst>
          </p:cNvPr>
          <p:cNvSpPr txBox="1"/>
          <p:nvPr/>
        </p:nvSpPr>
        <p:spPr>
          <a:xfrm>
            <a:off x="64859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训练风险高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FF9B8F6-D6F2-7AC9-1838-E6EC370AB865}"/>
              </a:ext>
            </a:extLst>
          </p:cNvPr>
          <p:cNvSpPr txBox="1"/>
          <p:nvPr/>
        </p:nvSpPr>
        <p:spPr>
          <a:xfrm>
            <a:off x="4555564" y="2893359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太细：只减少少量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748B44F-37E2-FBAC-63EF-C4FEB5B1A2CA}"/>
              </a:ext>
            </a:extLst>
          </p:cNvPr>
          <p:cNvSpPr txBox="1"/>
          <p:nvPr/>
        </p:nvSpPr>
        <p:spPr>
          <a:xfrm>
            <a:off x="4555564" y="33759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太粗：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在训练期牵涉反向、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、临时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生命周期，可能导致显存和正确性回退。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36C8BB7-EED4-14C6-82A3-DF02156BD9D2}"/>
              </a:ext>
            </a:extLst>
          </p:cNvPr>
          <p:cNvSpPr/>
          <p:nvPr/>
        </p:nvSpPr>
        <p:spPr>
          <a:xfrm>
            <a:off x="80480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6818EFD-2657-1EFC-5C81-C9E137E6F1F2}"/>
              </a:ext>
            </a:extLst>
          </p:cNvPr>
          <p:cNvSpPr/>
          <p:nvPr/>
        </p:nvSpPr>
        <p:spPr>
          <a:xfrm>
            <a:off x="8048064" y="1331259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EE9EFFC-9D16-8BA7-7D92-DCF685263DA4}"/>
              </a:ext>
            </a:extLst>
          </p:cNvPr>
          <p:cNvSpPr txBox="1"/>
          <p:nvPr/>
        </p:nvSpPr>
        <p:spPr>
          <a:xfrm>
            <a:off x="8302064" y="1585259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最终策略：保守静态融合 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图执行器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18E15D8-2831-42B4-0625-2A6B26F274CC}"/>
              </a:ext>
            </a:extLst>
          </p:cNvPr>
          <p:cNvSpPr txBox="1"/>
          <p:nvPr/>
        </p:nvSpPr>
        <p:spPr>
          <a:xfrm>
            <a:off x="8302064" y="2105959"/>
            <a:ext cx="2768600" cy="14542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训练期不做完整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JIT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编译，不进行通用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IR lowering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、运行时代码生成和新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kernel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编译。</a:t>
            </a:r>
            <a:b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当前做法是在固定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ResNet18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训练图上扫描已知安全模式：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BN+ReLU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BN+Add+ReLU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Add+ReLU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；</a:t>
            </a:r>
            <a:endParaRPr lang="en-US" altLang="zh-CN" sz="105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静态融合模块生成融合后的执行计划，图执行器按该计划调度运行；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Dynamic Fused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作为同粒度基线，用于验证图执行调度是否带来额外收益。</a:t>
            </a:r>
            <a:endParaRPr lang="zh-CN" altLang="en-US" sz="1050" dirty="0">
              <a:solidFill>
                <a:schemeClr val="bg2">
                  <a:lumMod val="50000"/>
                </a:schemeClr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67D69AA-AE03-9D49-0654-B00BF23D96EE}"/>
              </a:ext>
            </a:extLst>
          </p:cNvPr>
          <p:cNvSpPr txBox="1"/>
          <p:nvPr/>
        </p:nvSpPr>
        <p:spPr>
          <a:xfrm>
            <a:off x="8302064" y="3604559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下一步再扩大到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Conv+BN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训练期融合时，必须补齐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状态和显存生命周期验证。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7752160-390E-5742-8860-9C33C0066EF2}"/>
              </a:ext>
            </a:extLst>
          </p:cNvPr>
          <p:cNvSpPr/>
          <p:nvPr/>
        </p:nvSpPr>
        <p:spPr>
          <a:xfrm>
            <a:off x="555064" y="4353858"/>
            <a:ext cx="10668747" cy="1284941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3F218FC-B0E1-F125-DA7F-98B4C50EBEB6}"/>
              </a:ext>
            </a:extLst>
          </p:cNvPr>
          <p:cNvSpPr txBox="1"/>
          <p:nvPr/>
        </p:nvSpPr>
        <p:spPr>
          <a:xfrm>
            <a:off x="809064" y="4506259"/>
            <a:ext cx="419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实验闭环：只用 </a:t>
            </a:r>
            <a:r>
              <a:rPr lang="en-US" altLang="zh-CN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内部基线验证融合粒度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77AE177-3433-4EC3-37D8-AA396E9270C1}"/>
              </a:ext>
            </a:extLst>
          </p:cNvPr>
          <p:cNvSpPr txBox="1"/>
          <p:nvPr/>
        </p:nvSpPr>
        <p:spPr>
          <a:xfrm>
            <a:off x="809064" y="48237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AA4C8B6-D56F-468E-B520-0F3E821B5309}"/>
              </a:ext>
            </a:extLst>
          </p:cNvPr>
          <p:cNvSpPr txBox="1"/>
          <p:nvPr/>
        </p:nvSpPr>
        <p:spPr>
          <a:xfrm>
            <a:off x="3095064" y="48237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2E6554C-CEDE-1C87-435B-BF4522F2CC59}"/>
              </a:ext>
            </a:extLst>
          </p:cNvPr>
          <p:cNvSpPr txBox="1"/>
          <p:nvPr/>
        </p:nvSpPr>
        <p:spPr>
          <a:xfrm>
            <a:off x="4619064" y="48237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batch p50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049DD1C-B78B-B20F-9694-6EF1D490C991}"/>
              </a:ext>
            </a:extLst>
          </p:cNvPr>
          <p:cNvSpPr txBox="1"/>
          <p:nvPr/>
        </p:nvSpPr>
        <p:spPr>
          <a:xfrm>
            <a:off x="6206564" y="48237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GPU MB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B9AA871-5473-174C-E4E8-D68A18EC4413}"/>
              </a:ext>
            </a:extLst>
          </p:cNvPr>
          <p:cNvSpPr txBox="1"/>
          <p:nvPr/>
        </p:nvSpPr>
        <p:spPr>
          <a:xfrm>
            <a:off x="7603564" y="48237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F1894D6-010B-914F-638C-662E972D6238}"/>
              </a:ext>
            </a:extLst>
          </p:cNvPr>
          <p:cNvSpPr txBox="1"/>
          <p:nvPr/>
        </p:nvSpPr>
        <p:spPr>
          <a:xfrm>
            <a:off x="9064064" y="4823759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定位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8A0BA6C-2F89-3003-007A-2BD18C9D5F8B}"/>
              </a:ext>
            </a:extLst>
          </p:cNvPr>
          <p:cNvSpPr txBox="1"/>
          <p:nvPr/>
        </p:nvSpPr>
        <p:spPr>
          <a:xfrm>
            <a:off x="809064" y="50650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5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54CD68-963A-EA8A-0357-A98C4BDA7181}"/>
              </a:ext>
            </a:extLst>
          </p:cNvPr>
          <p:cNvSpPr txBox="1"/>
          <p:nvPr/>
        </p:nvSpPr>
        <p:spPr>
          <a:xfrm>
            <a:off x="3095064" y="50650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5A45035-C2B2-48D4-D488-2AC600B0E229}"/>
              </a:ext>
            </a:extLst>
          </p:cNvPr>
          <p:cNvSpPr txBox="1"/>
          <p:nvPr/>
        </p:nvSpPr>
        <p:spPr>
          <a:xfrm>
            <a:off x="4619064" y="50650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4D38BEB-9D21-A083-254E-6663906C6589}"/>
              </a:ext>
            </a:extLst>
          </p:cNvPr>
          <p:cNvSpPr txBox="1"/>
          <p:nvPr/>
        </p:nvSpPr>
        <p:spPr>
          <a:xfrm>
            <a:off x="6206564" y="50650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3266.5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20262B1-D725-7851-47A3-BA2348783965}"/>
              </a:ext>
            </a:extLst>
          </p:cNvPr>
          <p:cNvSpPr txBox="1"/>
          <p:nvPr/>
        </p:nvSpPr>
        <p:spPr>
          <a:xfrm>
            <a:off x="7603564" y="50650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4758647-9D73-AC54-4751-DF81D1FBD120}"/>
              </a:ext>
            </a:extLst>
          </p:cNvPr>
          <p:cNvSpPr txBox="1"/>
          <p:nvPr/>
        </p:nvSpPr>
        <p:spPr>
          <a:xfrm>
            <a:off x="9064064" y="50650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1C2430"/>
                </a:solidFill>
                <a:latin typeface="Microsoft YaHei" panose="020B0503020204020204" pitchFamily="34" charset="-122"/>
              </a:rPr>
              <a:t>正确性基线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9FFD9C8-9217-7F66-A177-D6EAEDB17AEA}"/>
              </a:ext>
            </a:extLst>
          </p:cNvPr>
          <p:cNvSpPr txBox="1"/>
          <p:nvPr/>
        </p:nvSpPr>
        <p:spPr>
          <a:xfrm>
            <a:off x="809064" y="52428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DA9116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85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74E00A1-2857-731E-DC3B-3EBA79325D70}"/>
              </a:ext>
            </a:extLst>
          </p:cNvPr>
          <p:cNvSpPr txBox="1"/>
          <p:nvPr/>
        </p:nvSpPr>
        <p:spPr>
          <a:xfrm>
            <a:off x="3095064" y="52428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91C321D-49A2-CFE8-B562-2FED3EE34633}"/>
              </a:ext>
            </a:extLst>
          </p:cNvPr>
          <p:cNvSpPr txBox="1"/>
          <p:nvPr/>
        </p:nvSpPr>
        <p:spPr>
          <a:xfrm>
            <a:off x="4619064" y="52428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F6650DA-C3BE-2F5C-F76C-761518005CC9}"/>
              </a:ext>
            </a:extLst>
          </p:cNvPr>
          <p:cNvSpPr txBox="1"/>
          <p:nvPr/>
        </p:nvSpPr>
        <p:spPr>
          <a:xfrm>
            <a:off x="6206564" y="52428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3300.5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E4C1927-B2A7-1D4A-D0DD-91C57C425910}"/>
              </a:ext>
            </a:extLst>
          </p:cNvPr>
          <p:cNvSpPr txBox="1"/>
          <p:nvPr/>
        </p:nvSpPr>
        <p:spPr>
          <a:xfrm>
            <a:off x="7603564" y="52428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5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6B46A40-0F17-6CD1-02BA-7205CDB94E34}"/>
              </a:ext>
            </a:extLst>
          </p:cNvPr>
          <p:cNvSpPr txBox="1"/>
          <p:nvPr/>
        </p:nvSpPr>
        <p:spPr>
          <a:xfrm>
            <a:off x="9064064" y="52428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DA9116"/>
                </a:solidFill>
                <a:latin typeface="Microsoft YaHei" panose="020B0503020204020204" pitchFamily="34" charset="-122"/>
              </a:rPr>
              <a:t>同粒度融合基线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005EA10-2C37-F41B-78C3-C275BEA2557A}"/>
              </a:ext>
            </a:extLst>
          </p:cNvPr>
          <p:cNvSpPr txBox="1"/>
          <p:nvPr/>
        </p:nvSpPr>
        <p:spPr>
          <a:xfrm>
            <a:off x="809064" y="54206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238F5A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85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AD2EB0B-02C5-1EB2-9BCD-8280A69A0425}"/>
              </a:ext>
            </a:extLst>
          </p:cNvPr>
          <p:cNvSpPr txBox="1"/>
          <p:nvPr/>
        </p:nvSpPr>
        <p:spPr>
          <a:xfrm>
            <a:off x="3095064" y="54206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2992967-DD10-AE0A-1937-4B5D354E97D9}"/>
              </a:ext>
            </a:extLst>
          </p:cNvPr>
          <p:cNvSpPr txBox="1"/>
          <p:nvPr/>
        </p:nvSpPr>
        <p:spPr>
          <a:xfrm>
            <a:off x="4619064" y="54206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E8537F2-C667-E0D9-9E07-E82813E424FF}"/>
              </a:ext>
            </a:extLst>
          </p:cNvPr>
          <p:cNvSpPr txBox="1"/>
          <p:nvPr/>
        </p:nvSpPr>
        <p:spPr>
          <a:xfrm>
            <a:off x="6206564" y="54206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2980.6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3F64D4F-1A3D-3326-86F8-56FEA14EB5B3}"/>
              </a:ext>
            </a:extLst>
          </p:cNvPr>
          <p:cNvSpPr txBox="1"/>
          <p:nvPr/>
        </p:nvSpPr>
        <p:spPr>
          <a:xfrm>
            <a:off x="7603564" y="54206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5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2BF61C5-D0A0-3173-981A-1AFD877A6B85}"/>
              </a:ext>
            </a:extLst>
          </p:cNvPr>
          <p:cNvSpPr txBox="1"/>
          <p:nvPr/>
        </p:nvSpPr>
        <p:spPr>
          <a:xfrm>
            <a:off x="9064064" y="54206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编译器</a:t>
            </a:r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2FA1705F-42F7-7D65-3D94-EEF6DF2AFE7F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3D57124-C9D7-F232-DBB1-E26F6F837753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200" dirty="0"/>
              <a:t>JSON+NPZ </a:t>
            </a:r>
            <a:r>
              <a:rPr lang="zh-CN" altLang="en-US" sz="1200" dirty="0"/>
              <a:t>方式，可以拓展 </a:t>
            </a:r>
            <a:r>
              <a:rPr lang="en-US" altLang="zh-CN" sz="1200" dirty="0"/>
              <a:t>ONNX </a:t>
            </a:r>
            <a:r>
              <a:rPr lang="zh-CN" altLang="en-US" sz="1200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2529</Words>
  <Application>Microsoft Office PowerPoint</Application>
  <DocSecurity>0</DocSecurity>
  <PresentationFormat>宽屏</PresentationFormat>
  <Paragraphs>474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24</cp:revision>
  <dcterms:created xsi:type="dcterms:W3CDTF">2026-05-19T13:12:39Z</dcterms:created>
  <dcterms:modified xsi:type="dcterms:W3CDTF">2026-05-21T09:00:24Z</dcterms:modified>
</cp:coreProperties>
</file>