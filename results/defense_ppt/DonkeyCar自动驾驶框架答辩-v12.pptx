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298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E28089B-BFB0-478A-8699-F4671B08A17F}"/>
              </a:ext>
            </a:extLst>
          </p:cNvPr>
          <p:cNvSpPr txBox="1"/>
          <p:nvPr/>
        </p:nvSpPr>
        <p:spPr>
          <a:xfrm>
            <a:off x="419100" y="65278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mytorch/jit_pass.py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mytorch/jit_train_rewrite.py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model/resnet.py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EB161C-3909-524A-3B20-8C3141D03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F8193-C298-DC53-A857-C90C0716FA84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D36C3-D7B7-4F85-FE72-23897E0F2845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CCD11B-62B9-1861-CEC0-8F3F9B2A5430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部署实验已跑通：</a:t>
            </a:r>
            <a:r>
              <a:rPr lang="en-US" altLang="zh-CN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Local → Docker → kind/K8s Job</a:t>
            </a:r>
            <a:endParaRPr lang="zh-CN" altLang="en-US" sz="258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A107C9-91F9-84F9-E039-07C0866EF16B}"/>
              </a:ext>
            </a:extLst>
          </p:cNvPr>
          <p:cNvSpPr txBox="1"/>
          <p:nvPr/>
        </p:nvSpPr>
        <p:spPr>
          <a:xfrm>
            <a:off x="596900" y="15113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DonkeyCar MyTorch JIT 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batch_size=8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max train/val batches=20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；结果路径 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A3BDE-E714-F9A8-0ACC-189D0F3604AB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278A8D-C53D-4EE1-401A-0D65126C68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5F1ACD-15A3-17EE-A12B-09ACA71CE415}"/>
              </a:ext>
            </a:extLst>
          </p:cNvPr>
          <p:cNvSpPr txBox="1"/>
          <p:nvPr/>
        </p:nvSpPr>
        <p:spPr>
          <a:xfrm>
            <a:off x="8001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容器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6C29ED-1D19-A825-FC3A-55EB551F7E0A}"/>
              </a:ext>
            </a:extLst>
          </p:cNvPr>
          <p:cNvSpPr txBox="1"/>
          <p:nvPr/>
        </p:nvSpPr>
        <p:spPr>
          <a:xfrm>
            <a:off x="8001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构建成功，镜像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mytorch-donkeycar:latest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；数据和输出通过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volume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5CC9EC-DF78-3C9A-3CA3-E31F754A8C25}"/>
              </a:ext>
            </a:extLst>
          </p:cNvPr>
          <p:cNvSpPr txBox="1"/>
          <p:nvPr/>
        </p:nvSpPr>
        <p:spPr>
          <a:xfrm>
            <a:off x="8001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D65F6"/>
                </a:solidFill>
                <a:latin typeface="Microsoft YaHei" panose="020B0503020204020204" pitchFamily="34" charset="-122"/>
              </a:rPr>
              <a:t>build avg 2.343s / image 673MB</a:t>
            </a:r>
            <a:endParaRPr lang="zh-CN" altLang="en-US" sz="91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034EED-3087-AA7E-3BA7-F03CB37B6567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B55ADC-71FA-C80E-78DD-C4F7F2A346A3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1386CB-A079-9511-85D3-3BA157749BDA}"/>
              </a:ext>
            </a:extLst>
          </p:cNvPr>
          <p:cNvSpPr txBox="1"/>
          <p:nvPr/>
        </p:nvSpPr>
        <p:spPr>
          <a:xfrm>
            <a:off x="44577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EB8A32-C4C4-0269-C82A-21F78C04215A}"/>
              </a:ext>
            </a:extLst>
          </p:cNvPr>
          <p:cNvSpPr txBox="1"/>
          <p:nvPr/>
        </p:nvSpPr>
        <p:spPr>
          <a:xfrm>
            <a:off x="44577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kind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集群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；镜像已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load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到节点，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hostPath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挂载数据与输出目录。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2AC35-2206-2A8E-1D36-654636F050F7}"/>
              </a:ext>
            </a:extLst>
          </p:cNvPr>
          <p:cNvSpPr txBox="1"/>
          <p:nvPr/>
        </p:nvSpPr>
        <p:spPr>
          <a:xfrm>
            <a:off x="44577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B8D5C"/>
                </a:solidFill>
                <a:latin typeface="Microsoft YaHei" panose="020B0503020204020204" pitchFamily="34" charset="-122"/>
              </a:rPr>
              <a:t>Complete 1/1 / duration 37s</a:t>
            </a:r>
            <a:endParaRPr lang="zh-CN" altLang="en-US" sz="91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06141-FD2C-2DE6-A719-CF7CE6A540B2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FD0D4E-925B-BBBE-81AB-11B144385938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C79C62-8BBD-1000-1621-C8B299E63DBB}"/>
              </a:ext>
            </a:extLst>
          </p:cNvPr>
          <p:cNvSpPr txBox="1"/>
          <p:nvPr/>
        </p:nvSpPr>
        <p:spPr>
          <a:xfrm>
            <a:off x="81153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8BBB2E-3F1A-C228-EFAC-E5B10E21D516}"/>
              </a:ext>
            </a:extLst>
          </p:cNvPr>
          <p:cNvSpPr txBox="1"/>
          <p:nvPr/>
        </p:nvSpPr>
        <p:spPr>
          <a:xfrm>
            <a:off x="81153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入口已完成；本轮验证到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1261B0-1B36-5E7C-340F-1A13237DCB44}"/>
              </a:ext>
            </a:extLst>
          </p:cNvPr>
          <p:cNvSpPr txBox="1"/>
          <p:nvPr/>
        </p:nvSpPr>
        <p:spPr>
          <a:xfrm>
            <a:off x="81153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YAML </a:t>
            </a:r>
            <a:r>
              <a:rPr lang="zh-CN" altLang="en-US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已生成 </a:t>
            </a:r>
            <a:r>
              <a:rPr lang="en-US" altLang="zh-CN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/ UI</a:t>
            </a:r>
            <a:r>
              <a:rPr lang="zh-CN" altLang="en-US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截图待补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CC58A0-A28A-D6ED-CE9F-20279CAC6174}"/>
              </a:ext>
            </a:extLst>
          </p:cNvPr>
          <p:cNvSpPr/>
          <p:nvPr/>
        </p:nvSpPr>
        <p:spPr>
          <a:xfrm>
            <a:off x="660400" y="3975100"/>
            <a:ext cx="10604500" cy="1727200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E2E370-737B-DEE8-81F9-12BCB0898589}"/>
              </a:ext>
            </a:extLst>
          </p:cNvPr>
          <p:cNvSpPr txBox="1"/>
          <p:nvPr/>
        </p:nvSpPr>
        <p:spPr>
          <a:xfrm>
            <a:off x="889000" y="4152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E1F2AB-CC24-669B-7882-39C7ED95EB55}"/>
              </a:ext>
            </a:extLst>
          </p:cNvPr>
          <p:cNvSpPr txBox="1"/>
          <p:nvPr/>
        </p:nvSpPr>
        <p:spPr>
          <a:xfrm>
            <a:off x="889000" y="45212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D67CE-7587-A430-D0DC-DE6966C69B6F}"/>
              </a:ext>
            </a:extLst>
          </p:cNvPr>
          <p:cNvSpPr txBox="1"/>
          <p:nvPr/>
        </p:nvSpPr>
        <p:spPr>
          <a:xfrm>
            <a:off x="2413000" y="4521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5CD304-D31F-D44E-8E22-88D53EFA0D4D}"/>
              </a:ext>
            </a:extLst>
          </p:cNvPr>
          <p:cNvSpPr txBox="1"/>
          <p:nvPr/>
        </p:nvSpPr>
        <p:spPr>
          <a:xfrm>
            <a:off x="3619500" y="4521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wall time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5A82B96-9438-F50D-5FAB-962204EE082F}"/>
              </a:ext>
            </a:extLst>
          </p:cNvPr>
          <p:cNvSpPr txBox="1"/>
          <p:nvPr/>
        </p:nvSpPr>
        <p:spPr>
          <a:xfrm>
            <a:off x="4953000" y="4521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训练结果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7DE8D-D5C8-0138-1CA3-3F790BE3D238}"/>
              </a:ext>
            </a:extLst>
          </p:cNvPr>
          <p:cNvSpPr txBox="1"/>
          <p:nvPr/>
        </p:nvSpPr>
        <p:spPr>
          <a:xfrm>
            <a:off x="6794500" y="4521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说明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6FD8334-C415-6402-81AD-BF3DD9743CCF}"/>
              </a:ext>
            </a:extLst>
          </p:cNvPr>
          <p:cNvSpPr txBox="1"/>
          <p:nvPr/>
        </p:nvSpPr>
        <p:spPr>
          <a:xfrm>
            <a:off x="889000" y="48006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2BF7DBD-80E3-5A80-E707-69CFA0F7F7AA}"/>
              </a:ext>
            </a:extLst>
          </p:cNvPr>
          <p:cNvSpPr txBox="1"/>
          <p:nvPr/>
        </p:nvSpPr>
        <p:spPr>
          <a:xfrm>
            <a:off x="2413000" y="4800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8CEEFF-E38B-9A7A-0B34-7E1FBD8EE8C1}"/>
              </a:ext>
            </a:extLst>
          </p:cNvPr>
          <p:cNvSpPr txBox="1"/>
          <p:nvPr/>
        </p:nvSpPr>
        <p:spPr>
          <a:xfrm>
            <a:off x="3619500" y="48006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52.597s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9DB79B-7247-CD91-5647-140EC17DF2B8}"/>
              </a:ext>
            </a:extLst>
          </p:cNvPr>
          <p:cNvSpPr txBox="1"/>
          <p:nvPr/>
        </p:nvSpPr>
        <p:spPr>
          <a:xfrm>
            <a:off x="4953000" y="4800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42.083s / MSE 1.418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DAA2738-4DE5-3447-88FD-AF7D1760D3D7}"/>
              </a:ext>
            </a:extLst>
          </p:cNvPr>
          <p:cNvSpPr txBox="1"/>
          <p:nvPr/>
        </p:nvSpPr>
        <p:spPr>
          <a:xfrm>
            <a:off x="6794500" y="4800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本地脚本通过，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OpenMP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冲突已用环境变量规避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C7DA9D-3532-1704-FEBD-F0C3E703A646}"/>
              </a:ext>
            </a:extLst>
          </p:cNvPr>
          <p:cNvSpPr txBox="1"/>
          <p:nvPr/>
        </p:nvSpPr>
        <p:spPr>
          <a:xfrm>
            <a:off x="889000" y="499364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233CA3E-B7AE-C74C-DEEA-EB568B58F656}"/>
              </a:ext>
            </a:extLst>
          </p:cNvPr>
          <p:cNvSpPr txBox="1"/>
          <p:nvPr/>
        </p:nvSpPr>
        <p:spPr>
          <a:xfrm>
            <a:off x="2413000" y="499364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36DDA67-EDAF-0A12-C601-995A8B4D791A}"/>
              </a:ext>
            </a:extLst>
          </p:cNvPr>
          <p:cNvSpPr txBox="1"/>
          <p:nvPr/>
        </p:nvSpPr>
        <p:spPr>
          <a:xfrm>
            <a:off x="3619500" y="499364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2.343s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C0A487-F2BB-2D5B-0B45-7E4E678D086E}"/>
              </a:ext>
            </a:extLst>
          </p:cNvPr>
          <p:cNvSpPr txBox="1"/>
          <p:nvPr/>
        </p:nvSpPr>
        <p:spPr>
          <a:xfrm>
            <a:off x="4953000" y="499364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image 673MB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914612E-C501-4E5E-3843-6F57C4DF559E}"/>
              </a:ext>
            </a:extLst>
          </p:cNvPr>
          <p:cNvSpPr txBox="1"/>
          <p:nvPr/>
        </p:nvSpPr>
        <p:spPr>
          <a:xfrm>
            <a:off x="6794500" y="499364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缓存构建成功，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Dockerfile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语法已修正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56CC3A-854E-C273-6F5B-F016B081C84F}"/>
              </a:ext>
            </a:extLst>
          </p:cNvPr>
          <p:cNvSpPr txBox="1"/>
          <p:nvPr/>
        </p:nvSpPr>
        <p:spPr>
          <a:xfrm>
            <a:off x="889000" y="518668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E935D1-5717-5F28-A72F-00F0FBED6B0A}"/>
              </a:ext>
            </a:extLst>
          </p:cNvPr>
          <p:cNvSpPr txBox="1"/>
          <p:nvPr/>
        </p:nvSpPr>
        <p:spPr>
          <a:xfrm>
            <a:off x="2413000" y="518668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CA7461-7808-44E9-6CD4-0B0FE92D9BB0}"/>
              </a:ext>
            </a:extLst>
          </p:cNvPr>
          <p:cNvSpPr txBox="1"/>
          <p:nvPr/>
        </p:nvSpPr>
        <p:spPr>
          <a:xfrm>
            <a:off x="3619500" y="518668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36.903s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7E5AF03-3E59-72CB-F958-3A732A218B2D}"/>
              </a:ext>
            </a:extLst>
          </p:cNvPr>
          <p:cNvSpPr txBox="1"/>
          <p:nvPr/>
        </p:nvSpPr>
        <p:spPr>
          <a:xfrm>
            <a:off x="4953000" y="518668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31.481s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C29BF0-7CC4-B1EB-AF95-1AA80FA47808}"/>
              </a:ext>
            </a:extLst>
          </p:cNvPr>
          <p:cNvSpPr txBox="1"/>
          <p:nvPr/>
        </p:nvSpPr>
        <p:spPr>
          <a:xfrm>
            <a:off x="6794500" y="518668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容器内完成 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训练并写回输出目录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C399A-C178-C791-59A0-D2650FBF9B61}"/>
              </a:ext>
            </a:extLst>
          </p:cNvPr>
          <p:cNvSpPr txBox="1"/>
          <p:nvPr/>
        </p:nvSpPr>
        <p:spPr>
          <a:xfrm>
            <a:off x="889000" y="537972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k8s_apply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CCDF8E-F0EC-26C6-D6F9-CD0238C21DC5}"/>
              </a:ext>
            </a:extLst>
          </p:cNvPr>
          <p:cNvSpPr txBox="1"/>
          <p:nvPr/>
        </p:nvSpPr>
        <p:spPr>
          <a:xfrm>
            <a:off x="2413000" y="537972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F69765-5DE3-043C-A725-EC0C54C07F47}"/>
              </a:ext>
            </a:extLst>
          </p:cNvPr>
          <p:cNvSpPr txBox="1"/>
          <p:nvPr/>
        </p:nvSpPr>
        <p:spPr>
          <a:xfrm>
            <a:off x="3619500" y="537972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0.113s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A9E8744-B20A-FDD9-F98E-E978B679B6F4}"/>
              </a:ext>
            </a:extLst>
          </p:cNvPr>
          <p:cNvSpPr txBox="1"/>
          <p:nvPr/>
        </p:nvSpPr>
        <p:spPr>
          <a:xfrm>
            <a:off x="4953000" y="537972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job created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87912E-5D6F-D376-3AD1-DD9A4FCAB8F9}"/>
              </a:ext>
            </a:extLst>
          </p:cNvPr>
          <p:cNvSpPr txBox="1"/>
          <p:nvPr/>
        </p:nvSpPr>
        <p:spPr>
          <a:xfrm>
            <a:off x="6794500" y="537972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deploy/k8s/donkeycar-training-job.kind.yaml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340450-3B6F-2FC1-D44D-6BF3A7718A3D}"/>
              </a:ext>
            </a:extLst>
          </p:cNvPr>
          <p:cNvSpPr txBox="1"/>
          <p:nvPr/>
        </p:nvSpPr>
        <p:spPr>
          <a:xfrm>
            <a:off x="889000" y="557276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k8s_wait/logs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C1CB9-54D8-18BC-B520-C3A42DCC1DB9}"/>
              </a:ext>
            </a:extLst>
          </p:cNvPr>
          <p:cNvSpPr txBox="1"/>
          <p:nvPr/>
        </p:nvSpPr>
        <p:spPr>
          <a:xfrm>
            <a:off x="2413000" y="557276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427717-CDEA-A0B2-337F-2FC2890FFFF2}"/>
              </a:ext>
            </a:extLst>
          </p:cNvPr>
          <p:cNvSpPr txBox="1"/>
          <p:nvPr/>
        </p:nvSpPr>
        <p:spPr>
          <a:xfrm>
            <a:off x="3619500" y="557276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38.378s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758B8C5-36F6-E049-DA76-280CABD885EF}"/>
              </a:ext>
            </a:extLst>
          </p:cNvPr>
          <p:cNvSpPr txBox="1"/>
          <p:nvPr/>
        </p:nvSpPr>
        <p:spPr>
          <a:xfrm>
            <a:off x="4953000" y="557276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27.610s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6BD44A7-BF43-399E-E3B6-E96F0A7EB57C}"/>
              </a:ext>
            </a:extLst>
          </p:cNvPr>
          <p:cNvSpPr txBox="1"/>
          <p:nvPr/>
        </p:nvSpPr>
        <p:spPr>
          <a:xfrm>
            <a:off x="6794500" y="557276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Job Complete 1/1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kubectl logs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已抓取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B5CF82-3CED-2C05-C71A-4C79332DB3B5}"/>
              </a:ext>
            </a:extLst>
          </p:cNvPr>
          <p:cNvSpPr/>
          <p:nvPr/>
        </p:nvSpPr>
        <p:spPr>
          <a:xfrm>
            <a:off x="736600" y="5816600"/>
            <a:ext cx="4902200" cy="6350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8EEB4AD-1586-5271-50FE-D5662F072A16}"/>
              </a:ext>
            </a:extLst>
          </p:cNvPr>
          <p:cNvSpPr txBox="1"/>
          <p:nvPr/>
        </p:nvSpPr>
        <p:spPr>
          <a:xfrm>
            <a:off x="965200" y="5943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2B8D5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F30042-DFAD-F762-049F-3F7F239D1DCC}"/>
              </a:ext>
            </a:extLst>
          </p:cNvPr>
          <p:cNvSpPr txBox="1"/>
          <p:nvPr/>
        </p:nvSpPr>
        <p:spPr>
          <a:xfrm>
            <a:off x="965200" y="6197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训练任务已完成本地、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容器、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三种部署运行验证。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88F4661-B963-E7DC-96CD-A7DF7E82DDE5}"/>
              </a:ext>
            </a:extLst>
          </p:cNvPr>
          <p:cNvSpPr/>
          <p:nvPr/>
        </p:nvSpPr>
        <p:spPr>
          <a:xfrm>
            <a:off x="6070600" y="5816600"/>
            <a:ext cx="5181600" cy="635000"/>
          </a:xfrm>
          <a:prstGeom prst="rect">
            <a:avLst/>
          </a:prstGeom>
          <a:solidFill>
            <a:srgbClr val="F7F3FF"/>
          </a:solidFill>
          <a:ln w="13970">
            <a:solidFill>
              <a:srgbClr val="6E4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29EA6F5-A1F2-BE50-6D94-4A9A675CB64B}"/>
              </a:ext>
            </a:extLst>
          </p:cNvPr>
          <p:cNvSpPr txBox="1"/>
          <p:nvPr/>
        </p:nvSpPr>
        <p:spPr>
          <a:xfrm>
            <a:off x="6299200" y="5943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6E49D2"/>
                </a:solidFill>
                <a:latin typeface="Microsoft YaHei" panose="020B0503020204020204" pitchFamily="34" charset="-122"/>
              </a:rPr>
              <a:t>已补与缺口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74B5771-BF10-B3DE-C0E8-A5BB09AB7587}"/>
              </a:ext>
            </a:extLst>
          </p:cNvPr>
          <p:cNvSpPr txBox="1"/>
          <p:nvPr/>
        </p:nvSpPr>
        <p:spPr>
          <a:xfrm>
            <a:off x="6299200" y="61976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已生成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pipeline YAML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，并完成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次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local/Docker/K8s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重复统计；仍缺生产级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Kubeflow UI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运行截图。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6C849C4-15FA-8FA2-78D1-40160F6C0CD1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3B79E35B-76B2-6010-5868-3A7D85ACE0F2}"/>
              </a:ext>
            </a:extLst>
          </p:cNvPr>
          <p:cNvSpPr txBox="1"/>
          <p:nvPr/>
        </p:nvSpPr>
        <p:spPr>
          <a:xfrm>
            <a:off x="419100" y="66802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results/deployment_kubeflow/mytorch_donkeycar_pipeline.yaml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results/donkeycar_deployment_benchmark_repeats/deployment_repeats_summary.md</a:t>
            </a:r>
            <a:endParaRPr lang="zh-CN" altLang="en-US" sz="61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3FFC487-4A00-F68E-FAE4-B1B491B683B4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或图扫描失败，而是融合粒度变大后，底层卷积、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 dirty="0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659ACCA-92A9-227A-25F4-54F43336C189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2682</Words>
  <Application>Microsoft Office PowerPoint</Application>
  <DocSecurity>0</DocSecurity>
  <PresentationFormat>宽屏</PresentationFormat>
  <Paragraphs>452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20</cp:revision>
  <dcterms:created xsi:type="dcterms:W3CDTF">2026-05-19T13:12:39Z</dcterms:created>
  <dcterms:modified xsi:type="dcterms:W3CDTF">2026-05-21T06:53:37Z</dcterms:modified>
</cp:coreProperties>
</file>