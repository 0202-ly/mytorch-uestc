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已补证据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results/deployment_kubeflow/mytorch_donkeycar_kubeflow_smoke.yaml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7214B3-83F6-1A8F-F370-B6750DD3A9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8AC52E-7616-6C8C-5863-75345608EE52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6E2244-0F96-FE03-108F-DDA69BAB5BDF}"/>
              </a:ext>
            </a:extLst>
          </p:cNvPr>
          <p:cNvSpPr txBox="1"/>
          <p:nvPr/>
        </p:nvSpPr>
        <p:spPr>
          <a:xfrm>
            <a:off x="635000" y="355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D8ADED-C92A-86F1-81FB-2B86C84D4D68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8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380" b="1">
                <a:solidFill>
                  <a:srgbClr val="1B222B"/>
                </a:solidFill>
                <a:latin typeface="Microsoft YaHei" panose="020B0503020204020204" pitchFamily="34" charset="-122"/>
              </a:rPr>
              <a:t>优化困难：在速度、显存与正确率之间做稳定取舍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3DE96-75DE-A195-C164-31191E725070}"/>
              </a:ext>
            </a:extLst>
          </p:cNvPr>
          <p:cNvSpPr txBox="1"/>
          <p:nvPr/>
        </p:nvSpPr>
        <p:spPr>
          <a:xfrm>
            <a:off x="596900" y="1422400"/>
            <a:ext cx="1079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数据源：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results/jit_fusion_ablation_full_bs32/training_fusion_ablation.csv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；对比只使用 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内部无融合、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26070"/>
                </a:solidFill>
                <a:latin typeface="Microsoft YaHei" panose="020B0503020204020204" pitchFamily="34" charset="-122"/>
              </a:rPr>
              <a:t>JIT Fused</a:t>
            </a:r>
            <a:r>
              <a:rPr lang="zh-CN" altLang="en-US" sz="100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FA72DD-21DB-9520-A7E5-00C87BB32805}"/>
              </a:ext>
            </a:extLst>
          </p:cNvPr>
          <p:cNvSpPr/>
          <p:nvPr/>
        </p:nvSpPr>
        <p:spPr>
          <a:xfrm>
            <a:off x="736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1E61BB-5730-B58F-5967-CCDE55094A8F}"/>
              </a:ext>
            </a:extLst>
          </p:cNvPr>
          <p:cNvSpPr txBox="1"/>
          <p:nvPr/>
        </p:nvSpPr>
        <p:spPr>
          <a:xfrm>
            <a:off x="914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B8D5C"/>
                </a:solidFill>
                <a:latin typeface="Microsoft YaHei" panose="020B0503020204020204" pitchFamily="34" charset="-122"/>
              </a:rPr>
              <a:t>+5.2%</a:t>
            </a:r>
            <a:endParaRPr lang="zh-CN" altLang="en-US" sz="1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1C651F-0CFD-110D-9760-E181B754DDC7}"/>
              </a:ext>
            </a:extLst>
          </p:cNvPr>
          <p:cNvSpPr txBox="1"/>
          <p:nvPr/>
        </p:nvSpPr>
        <p:spPr>
          <a:xfrm>
            <a:off x="914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相比无融合训练加速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62E074-36B5-E409-C5E6-747B9C8A36D2}"/>
              </a:ext>
            </a:extLst>
          </p:cNvPr>
          <p:cNvSpPr/>
          <p:nvPr/>
        </p:nvSpPr>
        <p:spPr>
          <a:xfrm>
            <a:off x="3403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A63A77-661D-BB6E-3CAB-1AEEB246664E}"/>
              </a:ext>
            </a:extLst>
          </p:cNvPr>
          <p:cNvSpPr txBox="1"/>
          <p:nvPr/>
        </p:nvSpPr>
        <p:spPr>
          <a:xfrm>
            <a:off x="3581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B8D5C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1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60BC06-FE8A-B424-0644-5462B7D41680}"/>
              </a:ext>
            </a:extLst>
          </p:cNvPr>
          <p:cNvSpPr txBox="1"/>
          <p:nvPr/>
        </p:nvSpPr>
        <p:spPr>
          <a:xfrm>
            <a:off x="3581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batch p50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；无融合 </a:t>
            </a:r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24071B-67C6-3498-234A-CE1DD9AC44CD}"/>
              </a:ext>
            </a:extLst>
          </p:cNvPr>
          <p:cNvSpPr/>
          <p:nvPr/>
        </p:nvSpPr>
        <p:spPr>
          <a:xfrm>
            <a:off x="6070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0DF307-8DBD-BFDA-994B-A30D85E5B20A}"/>
              </a:ext>
            </a:extLst>
          </p:cNvPr>
          <p:cNvSpPr txBox="1"/>
          <p:nvPr/>
        </p:nvSpPr>
        <p:spPr>
          <a:xfrm>
            <a:off x="6248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D65F6"/>
                </a:solidFill>
                <a:latin typeface="Microsoft YaHei" panose="020B0503020204020204" pitchFamily="34" charset="-122"/>
              </a:rPr>
              <a:t>2980.6MB</a:t>
            </a:r>
            <a:endParaRPr lang="zh-CN" altLang="en-US" sz="1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369FAF-6E1F-0505-7D8D-E1D054E43A64}"/>
              </a:ext>
            </a:extLst>
          </p:cNvPr>
          <p:cNvSpPr txBox="1"/>
          <p:nvPr/>
        </p:nvSpPr>
        <p:spPr>
          <a:xfrm>
            <a:off x="6248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峰值显存；无融合 </a:t>
            </a:r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3266.5MB</a:t>
            </a:r>
            <a:endParaRPr lang="zh-CN" altLang="en-US" sz="8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AD7300-79C8-A54F-E09A-9340249D959B}"/>
              </a:ext>
            </a:extLst>
          </p:cNvPr>
          <p:cNvSpPr/>
          <p:nvPr/>
        </p:nvSpPr>
        <p:spPr>
          <a:xfrm>
            <a:off x="8737600" y="1968500"/>
            <a:ext cx="2349500" cy="889000"/>
          </a:xfrm>
          <a:prstGeom prst="rect">
            <a:avLst/>
          </a:prstGeom>
          <a:solidFill>
            <a:srgbClr val="FDFBF7"/>
          </a:solidFill>
          <a:ln w="889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3030D6-C30B-9406-DFB9-7824F924B905}"/>
              </a:ext>
            </a:extLst>
          </p:cNvPr>
          <p:cNvSpPr txBox="1"/>
          <p:nvPr/>
        </p:nvSpPr>
        <p:spPr>
          <a:xfrm>
            <a:off x="8915400" y="21209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850" b="1">
                <a:solidFill>
                  <a:srgbClr val="2B8D5C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1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DCDF28-B3CD-993D-27A7-532938A95CC7}"/>
              </a:ext>
            </a:extLst>
          </p:cNvPr>
          <p:cNvSpPr txBox="1"/>
          <p:nvPr/>
        </p:nvSpPr>
        <p:spPr>
          <a:xfrm>
            <a:off x="8915400" y="25146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40">
                <a:solidFill>
                  <a:srgbClr val="526070"/>
                </a:solidFill>
                <a:latin typeface="Microsoft YaHei" panose="020B0503020204020204" pitchFamily="34" charset="-122"/>
              </a:rPr>
              <a:t>JIT Val MSE</a:t>
            </a:r>
            <a:r>
              <a:rPr lang="zh-CN" altLang="en-US" sz="840">
                <a:solidFill>
                  <a:srgbClr val="526070"/>
                </a:solidFill>
                <a:latin typeface="Microsoft YaHei" panose="020B0503020204020204" pitchFamily="34" charset="-122"/>
              </a:rPr>
              <a:t>；三组最低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49C8EB-C559-5EBA-F976-8C00D80B45E8}"/>
              </a:ext>
            </a:extLst>
          </p:cNvPr>
          <p:cNvSpPr/>
          <p:nvPr/>
        </p:nvSpPr>
        <p:spPr>
          <a:xfrm>
            <a:off x="698500" y="3111500"/>
            <a:ext cx="10541000" cy="1460500"/>
          </a:xfrm>
          <a:prstGeom prst="rect">
            <a:avLst/>
          </a:prstGeom>
          <a:solidFill>
            <a:srgbClr val="FDFBF7"/>
          </a:solidFill>
          <a:ln w="1016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30C1AF-DFDF-5C1B-1460-333631F17624}"/>
              </a:ext>
            </a:extLst>
          </p:cNvPr>
          <p:cNvSpPr txBox="1"/>
          <p:nvPr/>
        </p:nvSpPr>
        <p:spPr>
          <a:xfrm>
            <a:off x="914400" y="3276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 b="1">
                <a:solidFill>
                  <a:srgbClr val="1B222B"/>
                </a:solidFill>
                <a:latin typeface="Microsoft YaHei" panose="020B0503020204020204" pitchFamily="34" charset="-122"/>
              </a:rPr>
              <a:t>正确对比：</a:t>
            </a:r>
            <a:r>
              <a:rPr lang="en-US" altLang="zh-CN" sz="1020" b="1">
                <a:solidFill>
                  <a:srgbClr val="1B222B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020" b="1">
                <a:solidFill>
                  <a:srgbClr val="1B222B"/>
                </a:solidFill>
                <a:latin typeface="Microsoft YaHei" panose="020B0503020204020204" pitchFamily="34" charset="-122"/>
              </a:rPr>
              <a:t>内部融合消融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2C9333-C710-1770-3C6D-BF131EB026A8}"/>
              </a:ext>
            </a:extLst>
          </p:cNvPr>
          <p:cNvSpPr txBox="1"/>
          <p:nvPr/>
        </p:nvSpPr>
        <p:spPr>
          <a:xfrm>
            <a:off x="914400" y="3606800"/>
            <a:ext cx="184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77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04BD3D-2946-A984-D749-0C62F3316090}"/>
              </a:ext>
            </a:extLst>
          </p:cNvPr>
          <p:cNvSpPr txBox="1"/>
          <p:nvPr/>
        </p:nvSpPr>
        <p:spPr>
          <a:xfrm>
            <a:off x="3022600" y="36068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epoch time</a:t>
            </a:r>
            <a:endParaRPr lang="zh-CN" altLang="en-US" sz="77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1070CD-268F-E858-DBA7-FB535F03091D}"/>
              </a:ext>
            </a:extLst>
          </p:cNvPr>
          <p:cNvSpPr txBox="1"/>
          <p:nvPr/>
        </p:nvSpPr>
        <p:spPr>
          <a:xfrm>
            <a:off x="4445000" y="36068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batch p50</a:t>
            </a:r>
            <a:endParaRPr lang="zh-CN" altLang="en-US" sz="77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F7482ED-22D9-2FD8-FEA0-B77F72245987}"/>
              </a:ext>
            </a:extLst>
          </p:cNvPr>
          <p:cNvSpPr txBox="1"/>
          <p:nvPr/>
        </p:nvSpPr>
        <p:spPr>
          <a:xfrm>
            <a:off x="5969000" y="36068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GPU MB</a:t>
            </a:r>
            <a:endParaRPr lang="zh-CN" altLang="en-US" sz="77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8593A3-0CDD-9ABD-42E8-F34D23FBD174}"/>
              </a:ext>
            </a:extLst>
          </p:cNvPr>
          <p:cNvSpPr txBox="1"/>
          <p:nvPr/>
        </p:nvSpPr>
        <p:spPr>
          <a:xfrm>
            <a:off x="7302500" y="3606800"/>
            <a:ext cx="95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77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DAF6EB-F620-3192-C78F-AD266EEE3153}"/>
              </a:ext>
            </a:extLst>
          </p:cNvPr>
          <p:cNvSpPr txBox="1"/>
          <p:nvPr/>
        </p:nvSpPr>
        <p:spPr>
          <a:xfrm>
            <a:off x="8572500" y="3606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acc@0.10</a:t>
            </a:r>
            <a:endParaRPr lang="zh-CN" altLang="en-US" sz="77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B30970-ED96-445D-F11E-7BA40332E83D}"/>
              </a:ext>
            </a:extLst>
          </p:cNvPr>
          <p:cNvSpPr txBox="1"/>
          <p:nvPr/>
        </p:nvSpPr>
        <p:spPr>
          <a:xfrm>
            <a:off x="9931400" y="360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70" b="1">
                <a:solidFill>
                  <a:srgbClr val="526070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1654933-98BD-F14B-80B3-BB0A62B804BC}"/>
              </a:ext>
            </a:extLst>
          </p:cNvPr>
          <p:cNvSpPr txBox="1"/>
          <p:nvPr/>
        </p:nvSpPr>
        <p:spPr>
          <a:xfrm>
            <a:off x="914400" y="3898900"/>
            <a:ext cx="184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 b="1">
                <a:solidFill>
                  <a:srgbClr val="1B222B"/>
                </a:solidFill>
                <a:latin typeface="Microsoft YaHei" panose="020B0503020204020204" pitchFamily="34" charset="-122"/>
              </a:rPr>
              <a:t>MyTorch no fusion</a:t>
            </a:r>
            <a:endParaRPr lang="zh-CN" altLang="en-US" sz="735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B0D625-3B9B-113B-DD6A-7250DB7574AF}"/>
              </a:ext>
            </a:extLst>
          </p:cNvPr>
          <p:cNvSpPr txBox="1"/>
          <p:nvPr/>
        </p:nvSpPr>
        <p:spPr>
          <a:xfrm>
            <a:off x="3022600" y="38989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E85A30D-2DCB-4D99-3DF7-1D6466752C61}"/>
              </a:ext>
            </a:extLst>
          </p:cNvPr>
          <p:cNvSpPr txBox="1"/>
          <p:nvPr/>
        </p:nvSpPr>
        <p:spPr>
          <a:xfrm>
            <a:off x="4445000" y="38989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B8CFFBD-15AC-0CEE-CBA6-D1A44EA61433}"/>
              </a:ext>
            </a:extLst>
          </p:cNvPr>
          <p:cNvSpPr txBox="1"/>
          <p:nvPr/>
        </p:nvSpPr>
        <p:spPr>
          <a:xfrm>
            <a:off x="5969000" y="38989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3266.5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FD9996D-77BE-57F0-E3E1-25817C273694}"/>
              </a:ext>
            </a:extLst>
          </p:cNvPr>
          <p:cNvSpPr txBox="1"/>
          <p:nvPr/>
        </p:nvSpPr>
        <p:spPr>
          <a:xfrm>
            <a:off x="7302500" y="3898900"/>
            <a:ext cx="95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D9C26D-979C-C7B9-E545-7CE25CF34E15}"/>
              </a:ext>
            </a:extLst>
          </p:cNvPr>
          <p:cNvSpPr txBox="1"/>
          <p:nvPr/>
        </p:nvSpPr>
        <p:spPr>
          <a:xfrm>
            <a:off x="8572500" y="38989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67.85%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9501A7-604C-99B4-A580-8CD240D0C448}"/>
              </a:ext>
            </a:extLst>
          </p:cNvPr>
          <p:cNvSpPr txBox="1"/>
          <p:nvPr/>
        </p:nvSpPr>
        <p:spPr>
          <a:xfrm>
            <a:off x="9931400" y="38989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35">
                <a:solidFill>
                  <a:srgbClr val="1B222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9FEAE87-3ADC-D11D-AC2D-1CBB96DD11CA}"/>
              </a:ext>
            </a:extLst>
          </p:cNvPr>
          <p:cNvSpPr txBox="1"/>
          <p:nvPr/>
        </p:nvSpPr>
        <p:spPr>
          <a:xfrm>
            <a:off x="914400" y="4108450"/>
            <a:ext cx="184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 b="1">
                <a:solidFill>
                  <a:srgbClr val="1B222B"/>
                </a:solidFill>
                <a:latin typeface="Microsoft YaHei" panose="020B0503020204020204" pitchFamily="34" charset="-122"/>
              </a:rPr>
              <a:t>Dynamic Fused</a:t>
            </a:r>
            <a:endParaRPr lang="zh-CN" altLang="en-US" sz="735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52F6C58-0D58-6DF7-5FE9-62FF60982C85}"/>
              </a:ext>
            </a:extLst>
          </p:cNvPr>
          <p:cNvSpPr txBox="1"/>
          <p:nvPr/>
        </p:nvSpPr>
        <p:spPr>
          <a:xfrm>
            <a:off x="3022600" y="410845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51BF277-3650-6CFF-9055-E77C91772163}"/>
              </a:ext>
            </a:extLst>
          </p:cNvPr>
          <p:cNvSpPr txBox="1"/>
          <p:nvPr/>
        </p:nvSpPr>
        <p:spPr>
          <a:xfrm>
            <a:off x="4445000" y="410845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F9202FC-8948-D6D8-201C-D5B5F04333B8}"/>
              </a:ext>
            </a:extLst>
          </p:cNvPr>
          <p:cNvSpPr txBox="1"/>
          <p:nvPr/>
        </p:nvSpPr>
        <p:spPr>
          <a:xfrm>
            <a:off x="5969000" y="410845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3300.5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AC820AC-02D0-3E3F-BC40-DB19E1F63547}"/>
              </a:ext>
            </a:extLst>
          </p:cNvPr>
          <p:cNvSpPr txBox="1"/>
          <p:nvPr/>
        </p:nvSpPr>
        <p:spPr>
          <a:xfrm>
            <a:off x="7302500" y="4108450"/>
            <a:ext cx="95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E076E12-97B9-00D9-1F88-92F57F370017}"/>
              </a:ext>
            </a:extLst>
          </p:cNvPr>
          <p:cNvSpPr txBox="1"/>
          <p:nvPr/>
        </p:nvSpPr>
        <p:spPr>
          <a:xfrm>
            <a:off x="8572500" y="410845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68.85%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C29C27E-01B8-7CF4-6351-294A623438E8}"/>
              </a:ext>
            </a:extLst>
          </p:cNvPr>
          <p:cNvSpPr txBox="1"/>
          <p:nvPr/>
        </p:nvSpPr>
        <p:spPr>
          <a:xfrm>
            <a:off x="9931400" y="410845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35">
                <a:solidFill>
                  <a:srgbClr val="D68E1D"/>
                </a:solidFill>
                <a:latin typeface="Microsoft YaHei" panose="020B0503020204020204" pitchFamily="34" charset="-122"/>
              </a:rPr>
              <a:t>最快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AFDEE55-06A5-7B01-9973-A97746B3A5AD}"/>
              </a:ext>
            </a:extLst>
          </p:cNvPr>
          <p:cNvSpPr txBox="1"/>
          <p:nvPr/>
        </p:nvSpPr>
        <p:spPr>
          <a:xfrm>
            <a:off x="914400" y="4318000"/>
            <a:ext cx="184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 b="1">
                <a:solidFill>
                  <a:srgbClr val="1B222B"/>
                </a:solidFill>
                <a:latin typeface="Microsoft YaHei" panose="020B0503020204020204" pitchFamily="34" charset="-122"/>
              </a:rPr>
              <a:t>JIT Fused</a:t>
            </a:r>
            <a:endParaRPr lang="zh-CN" altLang="en-US" sz="735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54F64D-3305-038B-DCF5-603161903F1C}"/>
              </a:ext>
            </a:extLst>
          </p:cNvPr>
          <p:cNvSpPr txBox="1"/>
          <p:nvPr/>
        </p:nvSpPr>
        <p:spPr>
          <a:xfrm>
            <a:off x="3022600" y="43180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7838AE8-FDE5-A341-9B64-E29C95C115DC}"/>
              </a:ext>
            </a:extLst>
          </p:cNvPr>
          <p:cNvSpPr txBox="1"/>
          <p:nvPr/>
        </p:nvSpPr>
        <p:spPr>
          <a:xfrm>
            <a:off x="4445000" y="43180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E731BD9-7A71-6089-2E37-511D1E3B7BC6}"/>
              </a:ext>
            </a:extLst>
          </p:cNvPr>
          <p:cNvSpPr txBox="1"/>
          <p:nvPr/>
        </p:nvSpPr>
        <p:spPr>
          <a:xfrm>
            <a:off x="5969000" y="4318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1B222B"/>
                </a:solidFill>
                <a:latin typeface="Microsoft YaHei" panose="020B0503020204020204" pitchFamily="34" charset="-122"/>
              </a:rPr>
              <a:t>2980.6</a:t>
            </a:r>
            <a:endParaRPr lang="zh-CN" altLang="en-US" sz="735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B8EE100-CCCD-45D3-1D08-62CB7FE53E4D}"/>
              </a:ext>
            </a:extLst>
          </p:cNvPr>
          <p:cNvSpPr txBox="1"/>
          <p:nvPr/>
        </p:nvSpPr>
        <p:spPr>
          <a:xfrm>
            <a:off x="7302500" y="4318000"/>
            <a:ext cx="95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2B8D5C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735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4CAF2F4-6E9C-2030-E6D0-0B46638BB650}"/>
              </a:ext>
            </a:extLst>
          </p:cNvPr>
          <p:cNvSpPr txBox="1"/>
          <p:nvPr/>
        </p:nvSpPr>
        <p:spPr>
          <a:xfrm>
            <a:off x="8572500" y="43180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35">
                <a:solidFill>
                  <a:srgbClr val="2B8D5C"/>
                </a:solidFill>
                <a:latin typeface="Microsoft YaHei" panose="020B0503020204020204" pitchFamily="34" charset="-122"/>
              </a:rPr>
              <a:t>93.35%</a:t>
            </a:r>
            <a:endParaRPr lang="zh-CN" altLang="en-US" sz="735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2078EFD-A59E-BE45-5EC1-141902773053}"/>
              </a:ext>
            </a:extLst>
          </p:cNvPr>
          <p:cNvSpPr txBox="1"/>
          <p:nvPr/>
        </p:nvSpPr>
        <p:spPr>
          <a:xfrm>
            <a:off x="9931400" y="43180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35">
                <a:solidFill>
                  <a:srgbClr val="2B8D5C"/>
                </a:solidFill>
                <a:latin typeface="Microsoft YaHei" panose="020B0503020204020204" pitchFamily="34" charset="-122"/>
              </a:rPr>
              <a:t>综合最好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861B35A-6811-7A26-3323-671DD2C14628}"/>
              </a:ext>
            </a:extLst>
          </p:cNvPr>
          <p:cNvSpPr/>
          <p:nvPr/>
        </p:nvSpPr>
        <p:spPr>
          <a:xfrm>
            <a:off x="787400" y="4724400"/>
            <a:ext cx="3175000" cy="1092200"/>
          </a:xfrm>
          <a:prstGeom prst="rect">
            <a:avLst/>
          </a:prstGeom>
          <a:solidFill>
            <a:srgbClr val="FDFBF7"/>
          </a:solidFill>
          <a:ln w="1524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687892B-0C22-A9AD-E6C0-1978A02213EF}"/>
              </a:ext>
            </a:extLst>
          </p:cNvPr>
          <p:cNvSpPr/>
          <p:nvPr/>
        </p:nvSpPr>
        <p:spPr>
          <a:xfrm>
            <a:off x="787400" y="4724400"/>
            <a:ext cx="3175000" cy="5080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6483EA5-A17E-8B57-A5DE-ABE0FCFE5593}"/>
              </a:ext>
            </a:extLst>
          </p:cNvPr>
          <p:cNvSpPr txBox="1"/>
          <p:nvPr/>
        </p:nvSpPr>
        <p:spPr>
          <a:xfrm>
            <a:off x="952500" y="4940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：不能只看 </a:t>
            </a:r>
            <a:r>
              <a:rPr lang="en-US" altLang="zh-CN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batch latency</a:t>
            </a:r>
            <a:endParaRPr lang="zh-CN" altLang="en-US" sz="122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8FA1B83-1A1A-33F4-59CF-DF36C5BB3DB0}"/>
              </a:ext>
            </a:extLst>
          </p:cNvPr>
          <p:cNvSpPr txBox="1"/>
          <p:nvPr/>
        </p:nvSpPr>
        <p:spPr>
          <a:xfrm>
            <a:off x="952500" y="52959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最短（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220.59s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），但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为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0.03077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稍慢一点（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222.59s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），却拿到最低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MSE 0.02238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和最高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E91CC62-153F-5710-2813-CB61266E3522}"/>
              </a:ext>
            </a:extLst>
          </p:cNvPr>
          <p:cNvSpPr/>
          <p:nvPr/>
        </p:nvSpPr>
        <p:spPr>
          <a:xfrm>
            <a:off x="4343400" y="4724400"/>
            <a:ext cx="3175000" cy="1092200"/>
          </a:xfrm>
          <a:prstGeom prst="rect">
            <a:avLst/>
          </a:prstGeom>
          <a:solidFill>
            <a:srgbClr val="FDFBF7"/>
          </a:solidFill>
          <a:ln w="1524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9F1C5A7-D8E1-92F4-223E-4143A52AFBA7}"/>
              </a:ext>
            </a:extLst>
          </p:cNvPr>
          <p:cNvSpPr/>
          <p:nvPr/>
        </p:nvSpPr>
        <p:spPr>
          <a:xfrm>
            <a:off x="4343400" y="4724400"/>
            <a:ext cx="3175000" cy="5080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2CE28DE7-1765-6C0D-70AE-1D3D3B51C9C7}"/>
              </a:ext>
            </a:extLst>
          </p:cNvPr>
          <p:cNvSpPr txBox="1"/>
          <p:nvPr/>
        </p:nvSpPr>
        <p:spPr>
          <a:xfrm>
            <a:off x="4508500" y="4940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路径需要固定口径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195FD5A-4F4B-9D07-5D47-7A7A5F0B0E84}"/>
              </a:ext>
            </a:extLst>
          </p:cNvPr>
          <p:cNvSpPr txBox="1"/>
          <p:nvPr/>
        </p:nvSpPr>
        <p:spPr>
          <a:xfrm>
            <a:off x="4508500" y="52959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牵涉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trace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shape cache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graph executor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fusion flag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和显存统计。实验必须固定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train/val split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batch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fusion route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，才能避免把路线差异误当成算法收益。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8449D3E-FACD-98A7-F74A-F3FE65752566}"/>
              </a:ext>
            </a:extLst>
          </p:cNvPr>
          <p:cNvSpPr/>
          <p:nvPr/>
        </p:nvSpPr>
        <p:spPr>
          <a:xfrm>
            <a:off x="7899400" y="4724400"/>
            <a:ext cx="3175000" cy="1092200"/>
          </a:xfrm>
          <a:prstGeom prst="rect">
            <a:avLst/>
          </a:prstGeom>
          <a:solidFill>
            <a:srgbClr val="FDFBF7"/>
          </a:solidFill>
          <a:ln w="1524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C4F5CAB-2459-75A0-3430-1C662EB27D2F}"/>
              </a:ext>
            </a:extLst>
          </p:cNvPr>
          <p:cNvSpPr/>
          <p:nvPr/>
        </p:nvSpPr>
        <p:spPr>
          <a:xfrm>
            <a:off x="7899400" y="4724400"/>
            <a:ext cx="3175000" cy="5080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CBCC1B2-DD24-56A6-0B20-591723CB0AAE}"/>
              </a:ext>
            </a:extLst>
          </p:cNvPr>
          <p:cNvSpPr txBox="1"/>
          <p:nvPr/>
        </p:nvSpPr>
        <p:spPr>
          <a:xfrm>
            <a:off x="8064500" y="4940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20" b="1">
                <a:solidFill>
                  <a:srgbClr val="1B222B"/>
                </a:solidFill>
                <a:latin typeface="Microsoft YaHei" panose="020B0503020204020204" pitchFamily="34" charset="-122"/>
              </a:rPr>
              <a:t>解决：用内部基线闭环验证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E02ED771-1623-89D7-9778-32BF22AD7BB1}"/>
              </a:ext>
            </a:extLst>
          </p:cNvPr>
          <p:cNvSpPr txBox="1"/>
          <p:nvPr/>
        </p:nvSpPr>
        <p:spPr>
          <a:xfrm>
            <a:off x="8064500" y="52959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以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no fusion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作为正确性基线，用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作为部分融合基线，再评价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JIT Fused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；同时报告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epoch time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p50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GPU MB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770">
                <a:solidFill>
                  <a:srgbClr val="526070"/>
                </a:solidFill>
                <a:latin typeface="Microsoft YaHei" panose="020B0503020204020204" pitchFamily="34" charset="-122"/>
              </a:rPr>
              <a:t>acc</a:t>
            </a:r>
            <a:r>
              <a:rPr lang="zh-CN" altLang="en-US" sz="770">
                <a:solidFill>
                  <a:srgbClr val="526070"/>
                </a:solidFill>
                <a:latin typeface="Microsoft YaHei" panose="020B0503020204020204" pitchFamily="34" charset="-122"/>
              </a:rPr>
              <a:t>，而不是单一速度指标。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32953A7-8A27-0D2A-A007-24E14727DF04}"/>
              </a:ext>
            </a:extLst>
          </p:cNvPr>
          <p:cNvSpPr/>
          <p:nvPr/>
        </p:nvSpPr>
        <p:spPr>
          <a:xfrm>
            <a:off x="1066800" y="6057900"/>
            <a:ext cx="9715500" cy="4572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EB8D28D-C953-C01E-EAB1-649F7BEF654A}"/>
              </a:ext>
            </a:extLst>
          </p:cNvPr>
          <p:cNvSpPr txBox="1"/>
          <p:nvPr/>
        </p:nvSpPr>
        <p:spPr>
          <a:xfrm>
            <a:off x="1308100" y="61849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1B222B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950">
                <a:solidFill>
                  <a:srgbClr val="1B222B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950">
                <a:solidFill>
                  <a:srgbClr val="1B222B"/>
                </a:solidFill>
                <a:latin typeface="Microsoft YaHei" panose="020B0503020204020204" pitchFamily="34" charset="-122"/>
              </a:rPr>
              <a:t>相比无融合训练加速约 </a:t>
            </a:r>
            <a:r>
              <a:rPr lang="en-US" altLang="zh-CN" sz="950">
                <a:solidFill>
                  <a:srgbClr val="1B222B"/>
                </a:solidFill>
                <a:latin typeface="Microsoft YaHei" panose="020B0503020204020204" pitchFamily="34" charset="-122"/>
              </a:rPr>
              <a:t>5.2%</a:t>
            </a:r>
            <a:r>
              <a:rPr lang="zh-CN" altLang="en-US" sz="950">
                <a:solidFill>
                  <a:srgbClr val="1B222B"/>
                </a:solidFill>
                <a:latin typeface="Microsoft YaHei" panose="020B0503020204020204" pitchFamily="34" charset="-122"/>
              </a:rPr>
              <a:t>，峰值显存下降约 </a:t>
            </a:r>
            <a:r>
              <a:rPr lang="en-US" altLang="zh-CN" sz="950">
                <a:solidFill>
                  <a:srgbClr val="1B222B"/>
                </a:solidFill>
                <a:latin typeface="Microsoft YaHei" panose="020B0503020204020204" pitchFamily="34" charset="-122"/>
              </a:rPr>
              <a:t>8.8%</a:t>
            </a:r>
            <a:r>
              <a:rPr lang="zh-CN" altLang="en-US" sz="950">
                <a:solidFill>
                  <a:srgbClr val="1B222B"/>
                </a:solidFill>
                <a:latin typeface="Microsoft YaHei" panose="020B0503020204020204" pitchFamily="34" charset="-122"/>
              </a:rPr>
              <a:t>，并取得最低 </a:t>
            </a:r>
            <a:r>
              <a:rPr lang="en-US" altLang="zh-CN" sz="950">
                <a:solidFill>
                  <a:srgbClr val="1B222B"/>
                </a:solidFill>
                <a:latin typeface="Microsoft YaHei" panose="020B0503020204020204" pitchFamily="34" charset="-122"/>
              </a:rPr>
              <a:t>Val MSE</a:t>
            </a:r>
            <a:r>
              <a:rPr lang="zh-CN" altLang="en-US" sz="950">
                <a:solidFill>
                  <a:srgbClr val="1B222B"/>
                </a:solidFill>
                <a:latin typeface="Microsoft YaHei" panose="020B0503020204020204" pitchFamily="34" charset="-122"/>
              </a:rPr>
              <a:t>；完成 </a:t>
            </a:r>
            <a:r>
              <a:rPr lang="en-US" altLang="zh-CN" sz="950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950">
                <a:solidFill>
                  <a:srgbClr val="1B222B"/>
                </a:solidFill>
                <a:latin typeface="Microsoft YaHei" panose="020B0503020204020204" pitchFamily="34" charset="-122"/>
              </a:rPr>
              <a:t>的关键困难是让融合收益和训练正确性同时成立。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F10529C7-CA37-C6F2-CB1C-3F3AAD8D4D5C}"/>
              </a:ext>
            </a:extLst>
          </p:cNvPr>
          <p:cNvCxnSpPr/>
          <p:nvPr/>
        </p:nvCxnSpPr>
        <p:spPr>
          <a:xfrm>
            <a:off x="393700" y="65405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7159E4A-67BA-DB82-FC61-9FD2BC41308E}"/>
              </a:ext>
            </a:extLst>
          </p:cNvPr>
          <p:cNvSpPr txBox="1"/>
          <p:nvPr/>
        </p:nvSpPr>
        <p:spPr>
          <a:xfrm>
            <a:off x="419100" y="660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results/jit_fusion_ablation_full_bs32/training_fusion_ablation.csv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5 epoch, cuda, MyTorch internal ablation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05C2886-8061-60E9-B73E-3DBA7388EAA0}"/>
              </a:ext>
            </a:extLst>
          </p:cNvPr>
          <p:cNvSpPr txBox="1"/>
          <p:nvPr/>
        </p:nvSpPr>
        <p:spPr>
          <a:xfrm>
            <a:off x="10801350" y="65532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2757</Words>
  <Application>Microsoft Office PowerPoint</Application>
  <DocSecurity>0</DocSecurity>
  <PresentationFormat>宽屏</PresentationFormat>
  <Paragraphs>475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25</cp:revision>
  <dcterms:created xsi:type="dcterms:W3CDTF">2026-05-19T13:12:39Z</dcterms:created>
  <dcterms:modified xsi:type="dcterms:W3CDTF">2026-05-21T08:19:39Z</dcterms:modified>
</cp:coreProperties>
</file>