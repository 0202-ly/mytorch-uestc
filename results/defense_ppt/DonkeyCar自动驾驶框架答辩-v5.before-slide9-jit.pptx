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 DonkeyCar 的自动驾驶深度学习框架答辩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9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image_path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ResNet18 与 PyTorch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对比训练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ReLU + MaxPool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BasicBlock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GlobalAvgPool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MSELoss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lr=1e-4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ABD7AB-9280-47FE-9635-28D3F6108326}"/>
              </a:ext>
            </a:extLst>
          </p:cNvPr>
          <p:cNvSpPr>
            <a:spLocks noGrp="1"/>
          </p:cNvSpPr>
          <p:nvPr/>
        </p:nvSpPr>
        <p:spPr>
          <a:xfrm>
            <a:off x="8096250" y="2133600"/>
            <a:ext cx="2762250" cy="16002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2DFB879-FA74-46B8-ABAE-0D93BA7EDDAC}"/>
              </a:ext>
            </a:extLst>
          </p:cNvPr>
          <p:cNvSpPr>
            <a:spLocks noGrp="1"/>
          </p:cNvSpPr>
          <p:nvPr/>
        </p:nvSpPr>
        <p:spPr>
          <a:xfrm>
            <a:off x="8267700" y="22860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8AE190C-C9F7-490C-9AED-1386835C9B34}"/>
              </a:ext>
            </a:extLst>
          </p:cNvPr>
          <p:cNvSpPr>
            <a:spLocks noGrp="1"/>
          </p:cNvSpPr>
          <p:nvPr/>
        </p:nvSpPr>
        <p:spPr>
          <a:xfrm>
            <a:off x="8267700" y="25527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正确率实验缺失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44CB85B-27AD-4ED8-81E1-28F9E038CE33}"/>
              </a:ext>
            </a:extLst>
          </p:cNvPr>
          <p:cNvSpPr>
            <a:spLocks noGrp="1"/>
          </p:cNvSpPr>
          <p:nvPr/>
        </p:nvSpPr>
        <p:spPr>
          <a:xfrm>
            <a:off x="8267700" y="2876550"/>
            <a:ext cx="2419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当前没有逐样本预测保存，无法直接计算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accuracy。建议新增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acc@0.05 / acc@0.10：当 |</a:t>
            </a: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预测角-真实角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| </a:t>
            </a: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小于阈值时计为正确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66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71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08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ns2:creationId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ns2:creationId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ns2:creationId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ns2:creationId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ns2:creationId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temporal split；每组只启用一种增强，20 epoch，batch=64。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ns2:creationId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5773271" y="977153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93753" y="1093694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ns2:creationId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ns2:creationId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23900" y="21336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23900" y="21336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93900" y="21986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43900" y="21986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63900" y="21986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判断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93900" y="247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43900" y="247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63900" y="247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65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23900" y="27036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93900" y="2759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43900" y="2759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63900" y="2759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65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93900" y="304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43900" y="304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63900" y="304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23900" y="32736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93900" y="3329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43900" y="3329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63900" y="3329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93900" y="361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43900" y="361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63900" y="361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23900" y="38436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93900" y="3899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43900" y="3899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63900" y="3899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93900" y="418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43900" y="418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63900" y="418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23900" y="44136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93900" y="4469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43900" y="4469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63900" y="4469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93900" y="475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43900" y="475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63900" y="475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23900" y="49836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93900" y="5039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43900" y="5039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63900" y="5039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65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93900" y="532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43900" y="532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63900" y="532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不推荐</a:t>
            </a:r>
            <a:endParaRPr sz="65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23900" y="5543550"/>
            <a:ext cx="4381500" cy="609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23900" y="5543550"/>
            <a:ext cx="57150" cy="609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95350" y="56823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sz="76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164356" y="5425888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dirty="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ns4:creationId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 stride、padding、dilation、groups，并兼容 CPU/GPU 后端。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 保存 argmax；AvgPool 均匀分配梯度；均用窗口展开验证。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ns2:creationId id="{278B9A5E-0AAE-4BC4-8A9D-1C8C22C1FA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ns2:creationId id="{F7DB5BC1-FAF1-4149-9AB2-0118A4945A4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ns2:creationId id="{54B5C2AB-5A1C-4A39-A5E1-D97BDFD23CD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卷积类型与应用情况</a:t>
            </a:r>
          </a:p>
        </p:txBody>
      </p:sp>
      <p:sp>
        <p:nvSpPr>
          <p:cNvPr id="4" name="矩形 3">
            <a:extLst>
              <a:ext uri="{FF2B5EF4-FFF2-40B4-BE49-F238E27FC236}">
                <ns2:creationId id="{BF165EB0-EE1E-4E6A-8214-3066C91BB50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卷积形态消融已完成：groups=2 与转置卷积 Val MSE 最低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ns2:creationId id="{4298D754-2C1F-4302-BFB4-505AA4F75697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2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 DonkeyCar ResNet18-style、base_channels=32、temporal split、20 epoch；报告 Val MSE、acc@0.10、FLOPs 和 latency。</a:t>
            </a:r>
            <a:endParaRPr sz="82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矩形 43">
            <a:extLst>
              <a:ext uri="{FF2B5EF4-FFF2-40B4-BE49-F238E27FC236}">
                <ns2:creationId id="{48EF4A1E-2398-444A-A8DE-10B2D46BDBD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ns2:creationId id="{AB22E2C2-F46B-4E11-AEDD-736E6A503366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00" name="表格底板"/>
          <p:cNvSpPr>
            <a:spLocks noGrp="1"/>
          </p:cNvSpPr>
          <p:nvPr/>
        </p:nvSpPr>
        <p:spPr>
          <a:xfrm>
            <a:off x="666750" y="2133600"/>
            <a:ext cx="7170000" cy="2475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表头底色"/>
          <p:cNvSpPr>
            <a:spLocks noGrp="1"/>
          </p:cNvSpPr>
          <p:nvPr/>
        </p:nvSpPr>
        <p:spPr>
          <a:xfrm>
            <a:off x="666750" y="2133600"/>
            <a:ext cx="7170000" cy="27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表头102"/>
          <p:cNvSpPr>
            <a:spLocks noGrp="1"/>
          </p:cNvSpPr>
          <p:nvPr/>
        </p:nvSpPr>
        <p:spPr>
          <a:xfrm>
            <a:off x="736750" y="2198600"/>
            <a:ext cx="178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变体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3" name="表头103"/>
          <p:cNvSpPr>
            <a:spLocks noGrp="1"/>
          </p:cNvSpPr>
          <p:nvPr/>
        </p:nvSpPr>
        <p:spPr>
          <a:xfrm>
            <a:off x="2636750" y="2198600"/>
            <a:ext cx="123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头104"/>
          <p:cNvSpPr>
            <a:spLocks noGrp="1"/>
          </p:cNvSpPr>
          <p:nvPr/>
        </p:nvSpPr>
        <p:spPr>
          <a:xfrm>
            <a:off x="3986750" y="2198600"/>
            <a:ext cx="114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acc@0.10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头105"/>
          <p:cNvSpPr>
            <a:spLocks noGrp="1"/>
          </p:cNvSpPr>
          <p:nvPr/>
        </p:nvSpPr>
        <p:spPr>
          <a:xfrm>
            <a:off x="5246750" y="2198600"/>
            <a:ext cx="114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GFLOPs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头106"/>
          <p:cNvSpPr>
            <a:spLocks noGrp="1"/>
          </p:cNvSpPr>
          <p:nvPr/>
        </p:nvSpPr>
        <p:spPr>
          <a:xfrm>
            <a:off x="6506750" y="2198600"/>
            <a:ext cx="128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p50 latency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736750" y="246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group2_k3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2636750" y="246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表格文字109"/>
          <p:cNvSpPr>
            <a:spLocks noGrp="1"/>
          </p:cNvSpPr>
          <p:nvPr/>
        </p:nvSpPr>
        <p:spPr>
          <a:xfrm>
            <a:off x="3986750" y="24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95.55%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5246750" y="24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0.215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6506750" y="246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11.36ms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隔行底色112"/>
          <p:cNvSpPr>
            <a:spLocks noGrp="1"/>
          </p:cNvSpPr>
          <p:nvPr/>
        </p:nvSpPr>
        <p:spPr>
          <a:xfrm>
            <a:off x="666750" y="268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36750" y="273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transpose_k3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636750" y="273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0.01884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986750" y="27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95.20%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表格文字116"/>
          <p:cNvSpPr>
            <a:spLocks noGrp="1"/>
          </p:cNvSpPr>
          <p:nvPr/>
        </p:nvSpPr>
        <p:spPr>
          <a:xfrm>
            <a:off x="5246750" y="27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6506750" y="273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13.23ms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736750" y="301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kernel31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2636750" y="301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0.01943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3986750" y="30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94.35%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5246750" y="30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35.40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6506750" y="301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182.83ms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隔行底色123"/>
          <p:cNvSpPr>
            <a:spLocks noGrp="1"/>
          </p:cNvSpPr>
          <p:nvPr/>
        </p:nvSpPr>
        <p:spPr>
          <a:xfrm>
            <a:off x="666750" y="323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表格文字124"/>
          <p:cNvSpPr>
            <a:spLocks noGrp="1"/>
          </p:cNvSpPr>
          <p:nvPr/>
        </p:nvSpPr>
        <p:spPr>
          <a:xfrm>
            <a:off x="736750" y="328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dilation2_k3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5" name="表格文字125"/>
          <p:cNvSpPr>
            <a:spLocks noGrp="1"/>
          </p:cNvSpPr>
          <p:nvPr/>
        </p:nvSpPr>
        <p:spPr>
          <a:xfrm>
            <a:off x="2636750" y="328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0.01997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表格文字126"/>
          <p:cNvSpPr>
            <a:spLocks noGrp="1"/>
          </p:cNvSpPr>
          <p:nvPr/>
        </p:nvSpPr>
        <p:spPr>
          <a:xfrm>
            <a:off x="3986750" y="32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94.10%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7" name="表格文字127"/>
          <p:cNvSpPr>
            <a:spLocks noGrp="1"/>
          </p:cNvSpPr>
          <p:nvPr/>
        </p:nvSpPr>
        <p:spPr>
          <a:xfrm>
            <a:off x="5246750" y="32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8" name="表格文字128"/>
          <p:cNvSpPr>
            <a:spLocks noGrp="1"/>
          </p:cNvSpPr>
          <p:nvPr/>
        </p:nvSpPr>
        <p:spPr>
          <a:xfrm>
            <a:off x="6506750" y="328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11.82ms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9" name="表格文字129"/>
          <p:cNvSpPr>
            <a:spLocks noGrp="1"/>
          </p:cNvSpPr>
          <p:nvPr/>
        </p:nvSpPr>
        <p:spPr>
          <a:xfrm>
            <a:off x="736750" y="356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kernel5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0" name="表格文字130"/>
          <p:cNvSpPr>
            <a:spLocks noGrp="1"/>
          </p:cNvSpPr>
          <p:nvPr/>
        </p:nvSpPr>
        <p:spPr>
          <a:xfrm>
            <a:off x="2636750" y="356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0.02097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1" name="表格文字131"/>
          <p:cNvSpPr>
            <a:spLocks noGrp="1"/>
          </p:cNvSpPr>
          <p:nvPr/>
        </p:nvSpPr>
        <p:spPr>
          <a:xfrm>
            <a:off x="3986750" y="35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91.10%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2" name="表格文字132"/>
          <p:cNvSpPr>
            <a:spLocks noGrp="1"/>
          </p:cNvSpPr>
          <p:nvPr/>
        </p:nvSpPr>
        <p:spPr>
          <a:xfrm>
            <a:off x="5246750" y="35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0.969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" name="表格文字133"/>
          <p:cNvSpPr>
            <a:spLocks noGrp="1"/>
          </p:cNvSpPr>
          <p:nvPr/>
        </p:nvSpPr>
        <p:spPr>
          <a:xfrm>
            <a:off x="6506750" y="356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19.82ms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" name="隔行底色134"/>
          <p:cNvSpPr>
            <a:spLocks noGrp="1"/>
          </p:cNvSpPr>
          <p:nvPr/>
        </p:nvSpPr>
        <p:spPr>
          <a:xfrm>
            <a:off x="666750" y="378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表格文字135"/>
          <p:cNvSpPr>
            <a:spLocks noGrp="1"/>
          </p:cNvSpPr>
          <p:nvPr/>
        </p:nvSpPr>
        <p:spPr>
          <a:xfrm>
            <a:off x="736750" y="383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standard_k3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" name="表格文字136"/>
          <p:cNvSpPr>
            <a:spLocks noGrp="1"/>
          </p:cNvSpPr>
          <p:nvPr/>
        </p:nvSpPr>
        <p:spPr>
          <a:xfrm>
            <a:off x="2636750" y="383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0.02107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7" name="表格文字137"/>
          <p:cNvSpPr>
            <a:spLocks noGrp="1"/>
          </p:cNvSpPr>
          <p:nvPr/>
        </p:nvSpPr>
        <p:spPr>
          <a:xfrm>
            <a:off x="3986750" y="38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96.30%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" name="表格文字138"/>
          <p:cNvSpPr>
            <a:spLocks noGrp="1"/>
          </p:cNvSpPr>
          <p:nvPr/>
        </p:nvSpPr>
        <p:spPr>
          <a:xfrm>
            <a:off x="5246750" y="38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9" name="表格文字139"/>
          <p:cNvSpPr>
            <a:spLocks noGrp="1"/>
          </p:cNvSpPr>
          <p:nvPr/>
        </p:nvSpPr>
        <p:spPr>
          <a:xfrm>
            <a:off x="6506750" y="383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11.83ms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0" name="表格文字140"/>
          <p:cNvSpPr>
            <a:spLocks noGrp="1"/>
          </p:cNvSpPr>
          <p:nvPr/>
        </p:nvSpPr>
        <p:spPr>
          <a:xfrm>
            <a:off x="736750" y="411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depthwise_k3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1" name="表格文字141"/>
          <p:cNvSpPr>
            <a:spLocks noGrp="1"/>
          </p:cNvSpPr>
          <p:nvPr/>
        </p:nvSpPr>
        <p:spPr>
          <a:xfrm>
            <a:off x="2636750" y="411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0.02422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2" name="表格文字142"/>
          <p:cNvSpPr>
            <a:spLocks noGrp="1"/>
          </p:cNvSpPr>
          <p:nvPr/>
        </p:nvSpPr>
        <p:spPr>
          <a:xfrm>
            <a:off x="3986750" y="41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79.95%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3" name="表格文字143"/>
          <p:cNvSpPr>
            <a:spLocks noGrp="1"/>
          </p:cNvSpPr>
          <p:nvPr/>
        </p:nvSpPr>
        <p:spPr>
          <a:xfrm>
            <a:off x="5246750" y="41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0.091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4" name="表格文字144"/>
          <p:cNvSpPr>
            <a:spLocks noGrp="1"/>
          </p:cNvSpPr>
          <p:nvPr/>
        </p:nvSpPr>
        <p:spPr>
          <a:xfrm>
            <a:off x="6506750" y="411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10.70ms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5" name="隔行底色145"/>
          <p:cNvSpPr>
            <a:spLocks noGrp="1"/>
          </p:cNvSpPr>
          <p:nvPr/>
        </p:nvSpPr>
        <p:spPr>
          <a:xfrm>
            <a:off x="666750" y="433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表格文字146"/>
          <p:cNvSpPr>
            <a:spLocks noGrp="1"/>
          </p:cNvSpPr>
          <p:nvPr/>
        </p:nvSpPr>
        <p:spPr>
          <a:xfrm>
            <a:off x="736750" y="438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7" name="表格文字147"/>
          <p:cNvSpPr>
            <a:spLocks noGrp="1"/>
          </p:cNvSpPr>
          <p:nvPr/>
        </p:nvSpPr>
        <p:spPr>
          <a:xfrm>
            <a:off x="2636750" y="438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0.02761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8" name="表格文字148"/>
          <p:cNvSpPr>
            <a:spLocks noGrp="1"/>
          </p:cNvSpPr>
          <p:nvPr/>
        </p:nvSpPr>
        <p:spPr>
          <a:xfrm>
            <a:off x="3986750" y="43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90.70%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9" name="表格文字149"/>
          <p:cNvSpPr>
            <a:spLocks noGrp="1"/>
          </p:cNvSpPr>
          <p:nvPr/>
        </p:nvSpPr>
        <p:spPr>
          <a:xfrm>
            <a:off x="5246750" y="43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0.086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0" name="表格文字150"/>
          <p:cNvSpPr>
            <a:spLocks noGrp="1"/>
          </p:cNvSpPr>
          <p:nvPr/>
        </p:nvSpPr>
        <p:spPr>
          <a:xfrm>
            <a:off x="6506750" y="438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6.75ms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1" name="结论卡151"/>
          <p:cNvSpPr>
            <a:spLocks noGrp="1"/>
          </p:cNvSpPr>
          <p:nvPr/>
        </p:nvSpPr>
        <p:spPr>
          <a:xfrm>
            <a:off x="89535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结论顶线152"/>
          <p:cNvSpPr>
            <a:spLocks noGrp="1"/>
          </p:cNvSpPr>
          <p:nvPr/>
        </p:nvSpPr>
        <p:spPr>
          <a:xfrm>
            <a:off x="89535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结论标题153"/>
          <p:cNvSpPr>
            <a:spLocks noGrp="1"/>
          </p:cNvSpPr>
          <p:nvPr/>
        </p:nvSpPr>
        <p:spPr>
          <a:xfrm>
            <a:off x="106680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2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 尺寸</a:t>
            </a:r>
            <a:endParaRPr sz="9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4" name="结论正文154"/>
          <p:cNvSpPr>
            <a:spLocks noGrp="1"/>
          </p:cNvSpPr>
          <p:nvPr/>
        </p:nvSpPr>
        <p:spPr>
          <a:xfrm>
            <a:off x="106680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4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k1 精度最差；k31 MSE 较好但 FLOPs 达 35.40，约为 standard_k3 的 93 倍。</a:t>
            </a:r>
            <a:endParaRPr sz="64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5" name="结论卡155"/>
          <p:cNvSpPr>
            <a:spLocks noGrp="1"/>
          </p:cNvSpPr>
          <p:nvPr/>
        </p:nvSpPr>
        <p:spPr>
          <a:xfrm>
            <a:off x="434340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6" name="结论顶线156"/>
          <p:cNvSpPr>
            <a:spLocks noGrp="1"/>
          </p:cNvSpPr>
          <p:nvPr/>
        </p:nvSpPr>
        <p:spPr>
          <a:xfrm>
            <a:off x="434340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结论标题157"/>
          <p:cNvSpPr>
            <a:spLocks noGrp="1"/>
          </p:cNvSpPr>
          <p:nvPr/>
        </p:nvSpPr>
        <p:spPr>
          <a:xfrm>
            <a:off x="451485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2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特殊卷积</a:t>
            </a:r>
            <a:endParaRPr sz="9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" name="结论正文158"/>
          <p:cNvSpPr>
            <a:spLocks noGrp="1"/>
          </p:cNvSpPr>
          <p:nvPr/>
        </p:nvSpPr>
        <p:spPr>
          <a:xfrm>
            <a:off x="451485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4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group2_k3 取得最低 Val MSE，同时 FLOPs 降到 0.215，可作为后续候选结构。</a:t>
            </a:r>
            <a:endParaRPr sz="64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9" name="结论卡159"/>
          <p:cNvSpPr>
            <a:spLocks noGrp="1"/>
          </p:cNvSpPr>
          <p:nvPr/>
        </p:nvSpPr>
        <p:spPr>
          <a:xfrm>
            <a:off x="779145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结论顶线160"/>
          <p:cNvSpPr>
            <a:spLocks noGrp="1"/>
          </p:cNvSpPr>
          <p:nvPr/>
        </p:nvSpPr>
        <p:spPr>
          <a:xfrm>
            <a:off x="779145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1" name="结论标题161"/>
          <p:cNvSpPr>
            <a:spLocks noGrp="1"/>
          </p:cNvSpPr>
          <p:nvPr/>
        </p:nvSpPr>
        <p:spPr>
          <a:xfrm>
            <a:off x="796290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2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应用结论</a:t>
            </a:r>
            <a:endParaRPr sz="9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2" name="结论正文162"/>
          <p:cNvSpPr>
            <a:spLocks noGrp="1"/>
          </p:cNvSpPr>
          <p:nvPr/>
        </p:nvSpPr>
        <p:spPr>
          <a:xfrm>
            <a:off x="796290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4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depthwise 参数和 FLOPs 最低，但当前结构下精度下降，需要重新设计通道配置。</a:t>
            </a:r>
            <a:endParaRPr sz="64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ns3:creationId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框架已有基于计算图的 JIT 跟踪、图优化和算子融合路径。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对比使用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JIT；缺少同配置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eager vs JIT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消融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 IRGraph / IRNode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 进行融合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 / CUDA RawKernel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 by-op 与慢节点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28625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181100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已实现融合算子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181100" y="462915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FusedBNReLU、FusedAddReLU、FusedConv2dReLU、FusedConvBNReLU、FusedConvBNAddReLU、FusedMSELoss。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已有实验证据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JIT ResNet18 已完成 20 epoch DonkeyCar 训练，并与 PyTorch 作性能/效果对比。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BC2F408-465E-40DC-93C7-E850D7FC9416}"/>
              </a:ext>
            </a:extLst>
          </p:cNvPr>
          <p:cNvSpPr>
            <a:spLocks noGrp="1"/>
          </p:cNvSpPr>
          <p:nvPr/>
        </p:nvSpPr>
        <p:spPr>
          <a:xfrm>
            <a:off x="8591550" y="4057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3243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 消融缺失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 MyTorch eager / JIT / fused：时间、batch p50、显存、Val MSE、节点数。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0F70D22-4116-47BA-99B1-2A5828A7B67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代码：mytorch/jit.py, jit_pass.py, function.py；实验：donkeycar_resnet18_jit_vs_pytorch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已实现生产者-消费者式异步加载，DonkeyCar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训练配置已启用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async loader。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但还缺少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sync vs async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的独立消融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多个 worker 线程读取、解码、预处理 batch，并写入 Queue。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workers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481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maxsize = workers * prefetch_factor；训练线程从队列消费 batch。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训练循环执行 forward、backward、optimizer step。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loader fetch p50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已有结果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JIT 对比实验中 loader_fetch p50 很小，说明瓶颈不在取 batch，而在 backward 与内存管理。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并行加载消融缺失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固定模型和 batch size，对比 sync / async loader：吞吐、GPU 利用率、队列等待。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7D7A0F5-369E-431B-A31C-24326B5874E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代码：mytorch/async_dataloader.py；配置：mytorch_loader=async, workers=4, prefetch=4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0A3A5F22-447B-467A-AE99-5D13B04598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2DAC11-4DEB-4467-88DF-3A973D8B15B2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C48FB4-EE9D-49E8-83A2-7858D4A4624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第七部分 / DOCKER、KUBERNETES、KUBEFLOW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A35077-2450-4589-9294-1EDAD1BC507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61412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已有容器化与调度原型文件，但目前是训练任务模板，不是完整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F26346-674F-44F2-A4CD-E26BF027823D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CA1B77-AF02-40DF-96EE-084DA8D79C3E}"/>
              </a:ext>
            </a:extLst>
          </p:cNvPr>
          <p:cNvSpPr>
            <a:spLocks noGrp="1"/>
          </p:cNvSpPr>
          <p:nvPr/>
        </p:nvSpPr>
        <p:spPr>
          <a:xfrm>
            <a:off x="1047750" y="2533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Docker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FE0E1C-8E70-4163-841C-F39FBF0C5AE5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00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deploy/docker/Dockerfile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docker-compose.yml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可封装训练环境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8F184C-3EA1-4B74-B453-30D9F6EA4CE7}"/>
              </a:ext>
            </a:extLst>
          </p:cNvPr>
          <p:cNvSpPr>
            <a:spLocks noGrp="1"/>
          </p:cNvSpPr>
          <p:nvPr/>
        </p:nvSpPr>
        <p:spPr>
          <a:xfrm>
            <a:off x="42481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73E1C-4E2A-43E9-AD18-3103CC0ED4BD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Kubernetes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97D306-28F1-45F1-A76F-C9CCA5B4025B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764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deploy/k8s/mnist-training-job.yaml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定义 Job、资源请求、数据卷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56E58F-4D91-4D3B-AFCA-6615D00A9602}"/>
              </a:ext>
            </a:extLst>
          </p:cNvPr>
          <p:cNvSpPr>
            <a:spLocks noGrp="1"/>
          </p:cNvSpPr>
          <p:nvPr/>
        </p:nvSpPr>
        <p:spPr>
          <a:xfrm>
            <a:off x="77533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53C004-26F7-413B-A5BB-C1EE2D31D8E4}"/>
              </a:ext>
            </a:extLst>
          </p:cNvPr>
          <p:cNvSpPr>
            <a:spLocks noGrp="1"/>
          </p:cNvSpPr>
          <p:nvPr/>
        </p:nvSpPr>
        <p:spPr>
          <a:xfrm>
            <a:off x="80581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Kubeflow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D8CA52-0746-4D62-AA1C-496A09CAD87B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kuflow/kfp_pipeline.py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TaskOperator / pipeline demo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可扩展为训练算子调度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95E520-DB83-4BED-835E-35D7F10BB5FA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628900" cy="15240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440632-F0F3-47BE-A0AF-4F2A442AFB80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6289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BC1323-CDD5-496A-9B2B-BAB74A984E87}"/>
              </a:ext>
            </a:extLst>
          </p:cNvPr>
          <p:cNvSpPr>
            <a:spLocks noGrp="1"/>
          </p:cNvSpPr>
          <p:nvPr/>
        </p:nvSpPr>
        <p:spPr>
          <a:xfrm>
            <a:off x="1238250" y="45910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完成情况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2D53B3-D735-4287-845B-F53158D2226D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已有文件级原型与任务描述，可作为下一阶段工程化基础。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42949C-BBE8-44BB-B8A8-E4843B54A062}"/>
              </a:ext>
            </a:extLst>
          </p:cNvPr>
          <p:cNvSpPr>
            <a:spLocks noGrp="1"/>
          </p:cNvSpPr>
          <p:nvPr/>
        </p:nvSpPr>
        <p:spPr>
          <a:xfrm>
            <a:off x="432435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A9BD8B4-3BC8-4042-B78C-8FC277AFCC76}"/>
              </a:ext>
            </a:extLst>
          </p:cNvPr>
          <p:cNvSpPr>
            <a:spLocks noGrp="1"/>
          </p:cNvSpPr>
          <p:nvPr/>
        </p:nvSpPr>
        <p:spPr>
          <a:xfrm>
            <a:off x="449580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03C19C-2C90-41FE-9266-E2CC362DAD34}"/>
              </a:ext>
            </a:extLst>
          </p:cNvPr>
          <p:cNvSpPr>
            <a:spLocks noGrp="1"/>
          </p:cNvSpPr>
          <p:nvPr/>
        </p:nvSpPr>
        <p:spPr>
          <a:xfrm>
            <a:off x="449580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部署实验缺失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0B9FCE-0A0E-4615-A23D-9B7D37298191}"/>
              </a:ext>
            </a:extLst>
          </p:cNvPr>
          <p:cNvSpPr>
            <a:spLocks noGrp="1"/>
          </p:cNvSpPr>
          <p:nvPr/>
        </p:nvSpPr>
        <p:spPr>
          <a:xfrm>
            <a:off x="449580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 docker build/run、K8s Job、Kubeflow pipeline 日志和资源占用。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93747B-8B6D-4713-8AA5-CB038389C4CB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59EAA0-1BEB-4787-9607-B4DC368BB593}"/>
              </a:ext>
            </a:extLst>
          </p:cNvPr>
          <p:cNvSpPr>
            <a:spLocks noGrp="1"/>
          </p:cNvSpPr>
          <p:nvPr/>
        </p:nvSpPr>
        <p:spPr>
          <a:xfrm>
            <a:off x="790575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40E3D4-9147-4BCF-AC70-4619F232E146}"/>
              </a:ext>
            </a:extLst>
          </p:cNvPr>
          <p:cNvSpPr>
            <a:spLocks noGrp="1"/>
          </p:cNvSpPr>
          <p:nvPr/>
        </p:nvSpPr>
        <p:spPr>
          <a:xfrm>
            <a:off x="790575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服务化缺失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0F62CD-DF2E-4F42-973E-7903E0AFE8DB}"/>
              </a:ext>
            </a:extLst>
          </p:cNvPr>
          <p:cNvSpPr>
            <a:spLocks noGrp="1"/>
          </p:cNvSpPr>
          <p:nvPr/>
        </p:nvSpPr>
        <p:spPr>
          <a:xfrm>
            <a:off x="790575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gRPC server/client 与 DonkeyCar 在线推理服务尚未完成。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258AB49-C129-4B90-A65B-8A9B6F0892D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616853-8669-4A25-AE3F-4181D7E7A0C7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6745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4860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48600" y="41338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7260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6745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PyTorch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4860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4860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7260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275B8F9-EBA6-4A9D-8924-F039F1D3BF75}"/>
              </a:ext>
            </a:extLst>
          </p:cNvPr>
          <p:cNvSpPr>
            <a:spLocks noGrp="1"/>
          </p:cNvSpPr>
          <p:nvPr/>
        </p:nvSpPr>
        <p:spPr>
          <a:xfrm>
            <a:off x="6267450" y="49530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补充：显存峰值 MyTorch 4206.5MB，PyTorch 2822.5MB。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donkey_safe / MixUp / CutMix 等均未超过 baseline。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5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85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0D47373A-E432-8938-83DC-F905A0CE5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C3466-32D6-079C-B712-1B185C618EE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682F5-2E32-96D7-C246-28D83080BDE2}"/>
              </a:ext>
            </a:extLst>
          </p:cNvPr>
          <p:cNvSpPr txBox="1"/>
          <p:nvPr/>
        </p:nvSpPr>
        <p:spPr>
          <a:xfrm>
            <a:off x="609600" y="381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C526-5BA6-9B57-A25D-D14B516B3104}"/>
              </a:ext>
            </a:extLst>
          </p:cNvPr>
          <p:cNvSpPr txBox="1"/>
          <p:nvPr/>
        </p:nvSpPr>
        <p:spPr>
          <a:xfrm>
            <a:off x="609600" y="7366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困难二：完整 </a:t>
            </a:r>
            <a:r>
              <a:rPr lang="en-US" altLang="zh-CN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大融合没有比不融合更快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3789B2-E835-7B6F-AE33-40FA1DB90A9A}"/>
              </a:ext>
            </a:extLst>
          </p:cNvPr>
          <p:cNvSpPr txBox="1"/>
          <p:nvPr/>
        </p:nvSpPr>
        <p:spPr>
          <a:xfrm>
            <a:off x="609600" y="1320800"/>
            <a:ext cx="1041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这不是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或图扫描失败，而是“融合粒度变大”后，底层卷积、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workspace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没有同步升级为 </a:t>
            </a:r>
            <a:r>
              <a:rPr lang="en-US" altLang="zh-CN" sz="105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cuDNN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/CUTLASS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级高性能实现。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3C3C6-B77C-15A8-3E2A-6E42389C1203}"/>
              </a:ext>
            </a:extLst>
          </p:cNvPr>
          <p:cNvSpPr/>
          <p:nvPr/>
        </p:nvSpPr>
        <p:spPr>
          <a:xfrm>
            <a:off x="698500" y="1905000"/>
            <a:ext cx="38100" cy="736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EBADD-A2FC-98A6-4418-CF3182098338}"/>
              </a:ext>
            </a:extLst>
          </p:cNvPr>
          <p:cNvSpPr txBox="1"/>
          <p:nvPr/>
        </p:nvSpPr>
        <p:spPr>
          <a:xfrm>
            <a:off x="8509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13.63x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72999-E939-A857-DFB3-D9785CE73BBE}"/>
              </a:ext>
            </a:extLst>
          </p:cNvPr>
          <p:cNvSpPr txBox="1"/>
          <p:nvPr/>
        </p:nvSpPr>
        <p:spPr>
          <a:xfrm>
            <a:off x="8509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total batch p50 </a:t>
            </a:r>
            <a:r>
              <a:rPr lang="zh-CN" altLang="en-US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慢于 </a:t>
            </a:r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PyTorch</a:t>
            </a:r>
            <a:endParaRPr lang="zh-CN" altLang="en-US" sz="82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BD978-2751-84A1-F4BC-6ECFFEAF4FD6}"/>
              </a:ext>
            </a:extLst>
          </p:cNvPr>
          <p:cNvSpPr/>
          <p:nvPr/>
        </p:nvSpPr>
        <p:spPr>
          <a:xfrm>
            <a:off x="3022600" y="1905000"/>
            <a:ext cx="38100" cy="736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C899FE-58E6-5B9C-4465-A29D031CB05D}"/>
              </a:ext>
            </a:extLst>
          </p:cNvPr>
          <p:cNvSpPr txBox="1"/>
          <p:nvPr/>
        </p:nvSpPr>
        <p:spPr>
          <a:xfrm>
            <a:off x="31750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28.20x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ADC0B9-22F9-9A2D-5B71-577D954D080D}"/>
              </a:ext>
            </a:extLst>
          </p:cNvPr>
          <p:cNvSpPr txBox="1"/>
          <p:nvPr/>
        </p:nvSpPr>
        <p:spPr>
          <a:xfrm>
            <a:off x="31750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backward p50 </a:t>
            </a:r>
            <a:r>
              <a:rPr lang="zh-CN" altLang="en-US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是最大瓶颈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06E175-D584-7A14-8F37-CA602755CCC5}"/>
              </a:ext>
            </a:extLst>
          </p:cNvPr>
          <p:cNvSpPr/>
          <p:nvPr/>
        </p:nvSpPr>
        <p:spPr>
          <a:xfrm>
            <a:off x="5346700" y="1905000"/>
            <a:ext cx="38100" cy="7366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FD707B-2101-FCCB-6818-E1DEDF902BEE}"/>
              </a:ext>
            </a:extLst>
          </p:cNvPr>
          <p:cNvSpPr txBox="1"/>
          <p:nvPr/>
        </p:nvSpPr>
        <p:spPr>
          <a:xfrm>
            <a:off x="54991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0.0047 ms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B17E0-0755-5ADC-22FF-73E4D0BC3210}"/>
              </a:ext>
            </a:extLst>
          </p:cNvPr>
          <p:cNvSpPr txBox="1"/>
          <p:nvPr/>
        </p:nvSpPr>
        <p:spPr>
          <a:xfrm>
            <a:off x="54991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loader fetch p50 </a:t>
            </a:r>
            <a:r>
              <a:rPr lang="zh-CN" altLang="en-US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很低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1D9ADD-6CFA-6A1B-25C6-492E216DF75F}"/>
              </a:ext>
            </a:extLst>
          </p:cNvPr>
          <p:cNvSpPr/>
          <p:nvPr/>
        </p:nvSpPr>
        <p:spPr>
          <a:xfrm>
            <a:off x="8077200" y="1905000"/>
            <a:ext cx="38100" cy="736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B76ED3-90CF-0B7A-3F70-4FF4DBA44374}"/>
              </a:ext>
            </a:extLst>
          </p:cNvPr>
          <p:cNvSpPr txBox="1"/>
          <p:nvPr/>
        </p:nvSpPr>
        <p:spPr>
          <a:xfrm>
            <a:off x="82296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302ADA-F944-5288-8277-C1715298699A}"/>
              </a:ext>
            </a:extLst>
          </p:cNvPr>
          <p:cNvSpPr txBox="1"/>
          <p:nvPr/>
        </p:nvSpPr>
        <p:spPr>
          <a:xfrm>
            <a:off x="82296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当前训练 </a:t>
            </a:r>
            <a:r>
              <a:rPr lang="en-US" altLang="zh-CN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默认策略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7CE944-858F-D31C-C521-21F36D7BD137}"/>
              </a:ext>
            </a:extLst>
          </p:cNvPr>
          <p:cNvSpPr/>
          <p:nvPr/>
        </p:nvSpPr>
        <p:spPr>
          <a:xfrm>
            <a:off x="889000" y="3048000"/>
            <a:ext cx="1651000" cy="55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7C2A84-57DB-C10D-6958-6403CEC65E1B}"/>
              </a:ext>
            </a:extLst>
          </p:cNvPr>
          <p:cNvSpPr txBox="1"/>
          <p:nvPr/>
        </p:nvSpPr>
        <p:spPr>
          <a:xfrm>
            <a:off x="965200" y="3162300"/>
            <a:ext cx="1498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期望：节点更少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359C0A5-6480-AC99-12AB-D7A8C72317A0}"/>
              </a:ext>
            </a:extLst>
          </p:cNvPr>
          <p:cNvCxnSpPr/>
          <p:nvPr/>
        </p:nvCxnSpPr>
        <p:spPr>
          <a:xfrm>
            <a:off x="2641600" y="3327400"/>
            <a:ext cx="69850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C5FCC-FCA6-885D-BC95-B368468EC960}"/>
              </a:ext>
            </a:extLst>
          </p:cNvPr>
          <p:cNvSpPr txBox="1"/>
          <p:nvPr/>
        </p:nvSpPr>
        <p:spPr>
          <a:xfrm>
            <a:off x="32385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0F766E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9D1C0D-42E8-0831-20B0-C9DDC084E40A}"/>
              </a:ext>
            </a:extLst>
          </p:cNvPr>
          <p:cNvSpPr/>
          <p:nvPr/>
        </p:nvSpPr>
        <p:spPr>
          <a:xfrm>
            <a:off x="3454400" y="3048000"/>
            <a:ext cx="2032000" cy="55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584396-8D36-666D-582F-CAAC31A9FA02}"/>
              </a:ext>
            </a:extLst>
          </p:cNvPr>
          <p:cNvSpPr txBox="1"/>
          <p:nvPr/>
        </p:nvSpPr>
        <p:spPr>
          <a:xfrm>
            <a:off x="3530600" y="3162300"/>
            <a:ext cx="1879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379E129-0590-C65F-EE2A-9B23DEC36E0D}"/>
              </a:ext>
            </a:extLst>
          </p:cNvPr>
          <p:cNvCxnSpPr/>
          <p:nvPr/>
        </p:nvCxnSpPr>
        <p:spPr>
          <a:xfrm>
            <a:off x="5588000" y="3327400"/>
            <a:ext cx="698500" cy="0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D20C681-9C7C-CF2E-3BEA-FA5E571AE9E1}"/>
              </a:ext>
            </a:extLst>
          </p:cNvPr>
          <p:cNvSpPr txBox="1"/>
          <p:nvPr/>
        </p:nvSpPr>
        <p:spPr>
          <a:xfrm>
            <a:off x="61849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9731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F973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D978E9-7FE1-3654-EB11-F1A8954B2D8B}"/>
              </a:ext>
            </a:extLst>
          </p:cNvPr>
          <p:cNvSpPr/>
          <p:nvPr/>
        </p:nvSpPr>
        <p:spPr>
          <a:xfrm>
            <a:off x="6400800" y="3048000"/>
            <a:ext cx="1905000" cy="55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2CF7A0-E830-9C75-8E15-E25BDF5755C7}"/>
              </a:ext>
            </a:extLst>
          </p:cNvPr>
          <p:cNvSpPr txBox="1"/>
          <p:nvPr/>
        </p:nvSpPr>
        <p:spPr>
          <a:xfrm>
            <a:off x="6477000" y="3162300"/>
            <a:ext cx="1752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实际：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workspace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变重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3F6EFC-6BE3-C5CA-5969-5F615FCA884B}"/>
              </a:ext>
            </a:extLst>
          </p:cNvPr>
          <p:cNvCxnSpPr/>
          <p:nvPr/>
        </p:nvCxnSpPr>
        <p:spPr>
          <a:xfrm>
            <a:off x="8407400" y="3327400"/>
            <a:ext cx="69850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80DF7-F4A5-D440-2086-EBE5B0852F0B}"/>
              </a:ext>
            </a:extLst>
          </p:cNvPr>
          <p:cNvSpPr txBox="1"/>
          <p:nvPr/>
        </p:nvSpPr>
        <p:spPr>
          <a:xfrm>
            <a:off x="90043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DC262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2D4A99-2540-D587-168E-2508625B607C}"/>
              </a:ext>
            </a:extLst>
          </p:cNvPr>
          <p:cNvSpPr/>
          <p:nvPr/>
        </p:nvSpPr>
        <p:spPr>
          <a:xfrm>
            <a:off x="9220200" y="3048000"/>
            <a:ext cx="2159000" cy="55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BA0243-746C-CFF5-274B-73FBE49F3751}"/>
              </a:ext>
            </a:extLst>
          </p:cNvPr>
          <p:cNvSpPr txBox="1"/>
          <p:nvPr/>
        </p:nvSpPr>
        <p:spPr>
          <a:xfrm>
            <a:off x="9296400" y="3162300"/>
            <a:ext cx="2006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结果：不如 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稳定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E9F9A2-E21A-3566-1E7A-3C19F97DA07A}"/>
              </a:ext>
            </a:extLst>
          </p:cNvPr>
          <p:cNvSpPr/>
          <p:nvPr/>
        </p:nvSpPr>
        <p:spPr>
          <a:xfrm>
            <a:off x="698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1F3D4C-3BF9-4276-AD95-BE3190655FC5}"/>
              </a:ext>
            </a:extLst>
          </p:cNvPr>
          <p:cNvSpPr/>
          <p:nvPr/>
        </p:nvSpPr>
        <p:spPr>
          <a:xfrm>
            <a:off x="698500" y="4064000"/>
            <a:ext cx="50800" cy="1371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50A6F0-17BE-C14F-F6C6-C20F2DE6728D}"/>
              </a:ext>
            </a:extLst>
          </p:cNvPr>
          <p:cNvSpPr txBox="1"/>
          <p:nvPr/>
        </p:nvSpPr>
        <p:spPr>
          <a:xfrm>
            <a:off x="901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：只是图结构融合，不是高性能卷积内核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5BA499-DECA-D567-0EFA-5E426761D91A}"/>
              </a:ext>
            </a:extLst>
          </p:cNvPr>
          <p:cNvSpPr txBox="1"/>
          <p:nvPr/>
        </p:nvSpPr>
        <p:spPr>
          <a:xfrm>
            <a:off x="901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FusedConvBNReLU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内部仍然离不开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im2col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GEMM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BN mean/var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ReLU mask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dCol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col2im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。节点少了，但核心计算路径并没有自动变成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cuDNN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级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477004-CF68-3CAA-DF29-8CF97C82C567}"/>
              </a:ext>
            </a:extLst>
          </p:cNvPr>
          <p:cNvSpPr/>
          <p:nvPr/>
        </p:nvSpPr>
        <p:spPr>
          <a:xfrm>
            <a:off x="4381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8D81D5-4E1A-91EB-950B-AC7EC0B2125B}"/>
              </a:ext>
            </a:extLst>
          </p:cNvPr>
          <p:cNvSpPr/>
          <p:nvPr/>
        </p:nvSpPr>
        <p:spPr>
          <a:xfrm>
            <a:off x="4381500" y="4064000"/>
            <a:ext cx="50800" cy="1371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28DEE-3507-73D2-F965-D8C2FEAB58FC}"/>
              </a:ext>
            </a:extLst>
          </p:cNvPr>
          <p:cNvSpPr txBox="1"/>
          <p:nvPr/>
        </p:nvSpPr>
        <p:spPr>
          <a:xfrm>
            <a:off x="4584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stem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大输入卷积放大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im2col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成本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D772AD-1AD6-692B-7C93-5763DB8731DE}"/>
              </a:ext>
            </a:extLst>
          </p:cNvPr>
          <p:cNvSpPr txBox="1"/>
          <p:nvPr/>
        </p:nvSpPr>
        <p:spPr>
          <a:xfrm>
            <a:off x="4584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第一层输入空间大，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大融合会产生更大的临时展开矩阵和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workspace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中最慢节点集中在这类大输入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 conv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上。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18FD08-4A51-1FA2-B6C1-3B63BEECB9A3}"/>
              </a:ext>
            </a:extLst>
          </p:cNvPr>
          <p:cNvSpPr/>
          <p:nvPr/>
        </p:nvSpPr>
        <p:spPr>
          <a:xfrm>
            <a:off x="8064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591E09-A8B8-D6B8-B5E0-CEAF09E729D9}"/>
              </a:ext>
            </a:extLst>
          </p:cNvPr>
          <p:cNvSpPr/>
          <p:nvPr/>
        </p:nvSpPr>
        <p:spPr>
          <a:xfrm>
            <a:off x="8064500" y="4064000"/>
            <a:ext cx="50800" cy="13716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213E76-411F-43F4-DA58-09BECA27A582}"/>
              </a:ext>
            </a:extLst>
          </p:cNvPr>
          <p:cNvSpPr txBox="1"/>
          <p:nvPr/>
        </p:nvSpPr>
        <p:spPr>
          <a:xfrm>
            <a:off x="8267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：训练看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，不只看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forward</a:t>
            </a:r>
            <a:endParaRPr lang="zh-CN" altLang="en-US" sz="135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1DB9AA-9A79-1D94-628F-ED987F4E4DE9}"/>
              </a:ext>
            </a:extLst>
          </p:cNvPr>
          <p:cNvSpPr txBox="1"/>
          <p:nvPr/>
        </p:nvSpPr>
        <p:spPr>
          <a:xfrm>
            <a:off x="8267700" y="4597400"/>
            <a:ext cx="3073400" cy="578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Conv-BN-Add-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ReLU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要同时处理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gamma/beta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weight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input grad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identity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；当前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比 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PyTorch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慢得多。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C5848E-3C44-2AE9-C578-0AF242603E9F}"/>
              </a:ext>
            </a:extLst>
          </p:cNvPr>
          <p:cNvSpPr/>
          <p:nvPr/>
        </p:nvSpPr>
        <p:spPr>
          <a:xfrm>
            <a:off x="698500" y="5791200"/>
            <a:ext cx="10795000" cy="609600"/>
          </a:xfrm>
          <a:prstGeom prst="rect">
            <a:avLst/>
          </a:prstGeom>
          <a:solidFill>
            <a:srgbClr val="ECFDF5"/>
          </a:solidFill>
          <a:ln w="952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43A50ED-FBDE-103D-8E9E-80616AA83EFE}"/>
              </a:ext>
            </a:extLst>
          </p:cNvPr>
          <p:cNvSpPr txBox="1"/>
          <p:nvPr/>
        </p:nvSpPr>
        <p:spPr>
          <a:xfrm>
            <a:off x="952500" y="59436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F766E"/>
                </a:solidFill>
                <a:latin typeface="Microsoft YaHei" panose="020B0503020204020204" pitchFamily="34" charset="-122"/>
              </a:rPr>
              <a:t>答辩表述建议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938A955-B692-69E1-7C88-7638735AE5F4}"/>
              </a:ext>
            </a:extLst>
          </p:cNvPr>
          <p:cNvSpPr txBox="1"/>
          <p:nvPr/>
        </p:nvSpPr>
        <p:spPr>
          <a:xfrm>
            <a:off x="2413000" y="5905500"/>
            <a:ext cx="8572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的困难不是“不会融合”，而是融合后算子内部还没有真正高性能化；因此训练默认选择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融合，把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大融合作为实验策略保留。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8BE3C5F-5EFA-51F1-F4A8-38AAC56FA0E8}"/>
              </a:ext>
            </a:extLst>
          </p:cNvPr>
          <p:cNvSpPr txBox="1"/>
          <p:nvPr/>
        </p:nvSpPr>
        <p:spPr>
          <a:xfrm>
            <a:off x="9398000" y="6527800"/>
            <a:ext cx="2159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50">
                <a:solidFill>
                  <a:srgbClr val="64748B"/>
                </a:solidFill>
                <a:latin typeface="Microsoft YaHei" panose="020B0503020204020204" pitchFamily="34" charset="-122"/>
              </a:rPr>
              <a:t>自动驾驶框架答辩 </a:t>
            </a:r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| 18</a:t>
            </a:r>
            <a:endParaRPr lang="zh-CN" altLang="en-US" sz="75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1754</Words>
  <Application>Microsoft Office PowerPoint</Application>
  <DocSecurity>0</DocSecurity>
  <PresentationFormat>宽屏</PresentationFormat>
  <Paragraphs>369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4</cp:revision>
  <dcterms:created xsi:type="dcterms:W3CDTF">2026-05-19T13:12:39Z</dcterms:created>
  <dcterms:modified xsi:type="dcterms:W3CDTF">2026-05-20T09:02:22Z</dcterms:modified>
</cp:coreProperties>
</file>