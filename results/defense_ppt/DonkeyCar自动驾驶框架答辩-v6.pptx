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1" d="100"/>
          <a:sy n="71" d="100"/>
        </p:scale>
        <p:origin x="15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7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 DonkeyCar 的自动驾驶深度学习框架答辩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1684244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49" y="1771650"/>
            <a:ext cx="1975597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转向角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油门控制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  <a:endParaRPr sz="2250" b="1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的图像到转向角自动驾驶实验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</a:t>
            </a:r>
            <a:r>
              <a:rPr lang="zh-CN" altLang="en-US"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9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驾驶转向角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image_path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ResNet18 与 PyTorch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对比训练 epoch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做图像到转向角回归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ReLU + MaxPool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BasicBlock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GlobalAvgPool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MSELoss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lr=1e-4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47009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4ABD7AB-9280-47FE-9635-28D3F6108326}"/>
              </a:ext>
            </a:extLst>
          </p:cNvPr>
          <p:cNvSpPr>
            <a:spLocks noGrp="1"/>
          </p:cNvSpPr>
          <p:nvPr/>
        </p:nvSpPr>
        <p:spPr>
          <a:xfrm>
            <a:off x="8096250" y="2133600"/>
            <a:ext cx="2762250" cy="16002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2DFB879-FA74-46B8-ABAE-0D93BA7EDDAC}"/>
              </a:ext>
            </a:extLst>
          </p:cNvPr>
          <p:cNvSpPr>
            <a:spLocks noGrp="1"/>
          </p:cNvSpPr>
          <p:nvPr/>
        </p:nvSpPr>
        <p:spPr>
          <a:xfrm>
            <a:off x="8267700" y="22860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8AE190C-C9F7-490C-9AED-1386835C9B34}"/>
              </a:ext>
            </a:extLst>
          </p:cNvPr>
          <p:cNvSpPr>
            <a:spLocks noGrp="1"/>
          </p:cNvSpPr>
          <p:nvPr/>
        </p:nvSpPr>
        <p:spPr>
          <a:xfrm>
            <a:off x="8267700" y="2552700"/>
            <a:ext cx="2419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正确率实验缺失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44CB85B-27AD-4ED8-81E1-28F9E038CE33}"/>
              </a:ext>
            </a:extLst>
          </p:cNvPr>
          <p:cNvSpPr>
            <a:spLocks noGrp="1"/>
          </p:cNvSpPr>
          <p:nvPr/>
        </p:nvSpPr>
        <p:spPr>
          <a:xfrm>
            <a:off x="8267700" y="2876550"/>
            <a:ext cx="2419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当前没有逐样本预测保存，无法直接计算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accuracy。建议新增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acc@0.05 / acc@0.10：当 |</a:t>
            </a: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预测角-真实角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| </a:t>
            </a: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小于阈值时计为正确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CCCAF1-C2D8-44E1-B46E-DE226000EEE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结果：comparison.md, flops_estimate.json；正确率为待补指标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4916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场景图像，标签是</a:t>
            </a:r>
            <a:r>
              <a:rPr lang="en-US" altLang="zh-CN"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驾驶产生的转向角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66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71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</a:t>
            </a:r>
            <a:r>
              <a:rPr sz="108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08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转向角标签；文件名中也保留标签，便于追踪</a:t>
            </a:r>
            <a:r>
              <a:rPr sz="108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5934635" y="3238500"/>
            <a:ext cx="1470212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模拟器基本道路场景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63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脚本驾驶生成图像帧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train.txt / val.txt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79ECA4-FDD4-482A-83EF-3587018DB0F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来源：train.txt, val.txt, config.json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单方法数据增强消融：弱增强仅带来微小收益</a:t>
            </a:r>
            <a:endParaRPr sz="21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temporal split；每组只启用一种增强，20 epoch，batch=64。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5773271" y="977153"/>
            <a:ext cx="5305985" cy="4905935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93753" y="1093694"/>
            <a:ext cx="5259729" cy="426271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0" name="表格底板"/>
          <p:cNvSpPr>
            <a:spLocks noGrp="1"/>
          </p:cNvSpPr>
          <p:nvPr/>
        </p:nvSpPr>
        <p:spPr>
          <a:xfrm>
            <a:off x="723900" y="2133600"/>
            <a:ext cx="3620000" cy="3420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表头底色"/>
          <p:cNvSpPr>
            <a:spLocks noGrp="1"/>
          </p:cNvSpPr>
          <p:nvPr/>
        </p:nvSpPr>
        <p:spPr>
          <a:xfrm>
            <a:off x="723900" y="2133600"/>
            <a:ext cx="3620000" cy="28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表头82"/>
          <p:cNvSpPr>
            <a:spLocks noGrp="1"/>
          </p:cNvSpPr>
          <p:nvPr/>
        </p:nvSpPr>
        <p:spPr>
          <a:xfrm>
            <a:off x="793900" y="2198600"/>
            <a:ext cx="13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65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表头83"/>
          <p:cNvSpPr>
            <a:spLocks noGrp="1"/>
          </p:cNvSpPr>
          <p:nvPr/>
        </p:nvSpPr>
        <p:spPr>
          <a:xfrm>
            <a:off x="2243900" y="2198600"/>
            <a:ext cx="100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65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表头84"/>
          <p:cNvSpPr>
            <a:spLocks noGrp="1"/>
          </p:cNvSpPr>
          <p:nvPr/>
        </p:nvSpPr>
        <p:spPr>
          <a:xfrm>
            <a:off x="3363900" y="2198600"/>
            <a:ext cx="9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判断</a:t>
            </a:r>
            <a:endParaRPr sz="65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表格文字85"/>
          <p:cNvSpPr>
            <a:spLocks noGrp="1"/>
          </p:cNvSpPr>
          <p:nvPr/>
        </p:nvSpPr>
        <p:spPr>
          <a:xfrm>
            <a:off x="793900" y="2474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HSV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表格文字86"/>
          <p:cNvSpPr>
            <a:spLocks noGrp="1"/>
          </p:cNvSpPr>
          <p:nvPr/>
        </p:nvSpPr>
        <p:spPr>
          <a:xfrm>
            <a:off x="2243900" y="2474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0.01882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表格文字87"/>
          <p:cNvSpPr>
            <a:spLocks noGrp="1"/>
          </p:cNvSpPr>
          <p:nvPr/>
        </p:nvSpPr>
        <p:spPr>
          <a:xfrm>
            <a:off x="3363900" y="2474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65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隔行底色88"/>
          <p:cNvSpPr>
            <a:spLocks noGrp="1"/>
          </p:cNvSpPr>
          <p:nvPr/>
        </p:nvSpPr>
        <p:spPr>
          <a:xfrm>
            <a:off x="723900" y="27036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表格文字89"/>
          <p:cNvSpPr>
            <a:spLocks noGrp="1"/>
          </p:cNvSpPr>
          <p:nvPr/>
        </p:nvSpPr>
        <p:spPr>
          <a:xfrm>
            <a:off x="793900" y="2759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高斯噪声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表格文字90"/>
          <p:cNvSpPr>
            <a:spLocks noGrp="1"/>
          </p:cNvSpPr>
          <p:nvPr/>
        </p:nvSpPr>
        <p:spPr>
          <a:xfrm>
            <a:off x="2243900" y="2759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0.01900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表格文字91"/>
          <p:cNvSpPr>
            <a:spLocks noGrp="1"/>
          </p:cNvSpPr>
          <p:nvPr/>
        </p:nvSpPr>
        <p:spPr>
          <a:xfrm>
            <a:off x="3363900" y="2759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65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表格文字92"/>
          <p:cNvSpPr>
            <a:spLocks noGrp="1"/>
          </p:cNvSpPr>
          <p:nvPr/>
        </p:nvSpPr>
        <p:spPr>
          <a:xfrm>
            <a:off x="793900" y="3044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Local MixUp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表格文字93"/>
          <p:cNvSpPr>
            <a:spLocks noGrp="1"/>
          </p:cNvSpPr>
          <p:nvPr/>
        </p:nvSpPr>
        <p:spPr>
          <a:xfrm>
            <a:off x="2243900" y="3044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0.01904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表格文字94"/>
          <p:cNvSpPr>
            <a:spLocks noGrp="1"/>
          </p:cNvSpPr>
          <p:nvPr/>
        </p:nvSpPr>
        <p:spPr>
          <a:xfrm>
            <a:off x="3363900" y="3044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隔行底色95"/>
          <p:cNvSpPr>
            <a:spLocks noGrp="1"/>
          </p:cNvSpPr>
          <p:nvPr/>
        </p:nvSpPr>
        <p:spPr>
          <a:xfrm>
            <a:off x="723900" y="32736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表格文字96"/>
          <p:cNvSpPr>
            <a:spLocks noGrp="1"/>
          </p:cNvSpPr>
          <p:nvPr/>
        </p:nvSpPr>
        <p:spPr>
          <a:xfrm>
            <a:off x="793900" y="3329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Gamma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表格文字97"/>
          <p:cNvSpPr>
            <a:spLocks noGrp="1"/>
          </p:cNvSpPr>
          <p:nvPr/>
        </p:nvSpPr>
        <p:spPr>
          <a:xfrm>
            <a:off x="2243900" y="3329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0.01907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表格文字98"/>
          <p:cNvSpPr>
            <a:spLocks noGrp="1"/>
          </p:cNvSpPr>
          <p:nvPr/>
        </p:nvSpPr>
        <p:spPr>
          <a:xfrm>
            <a:off x="3363900" y="3329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表格文字99"/>
          <p:cNvSpPr>
            <a:spLocks noGrp="1"/>
          </p:cNvSpPr>
          <p:nvPr/>
        </p:nvSpPr>
        <p:spPr>
          <a:xfrm>
            <a:off x="793900" y="3614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表格文字100"/>
          <p:cNvSpPr>
            <a:spLocks noGrp="1"/>
          </p:cNvSpPr>
          <p:nvPr/>
        </p:nvSpPr>
        <p:spPr>
          <a:xfrm>
            <a:off x="2243900" y="3614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0.01908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表格文字101"/>
          <p:cNvSpPr>
            <a:spLocks noGrp="1"/>
          </p:cNvSpPr>
          <p:nvPr/>
        </p:nvSpPr>
        <p:spPr>
          <a:xfrm>
            <a:off x="3363900" y="3614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基线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隔行底色102"/>
          <p:cNvSpPr>
            <a:spLocks noGrp="1"/>
          </p:cNvSpPr>
          <p:nvPr/>
        </p:nvSpPr>
        <p:spPr>
          <a:xfrm>
            <a:off x="723900" y="38436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表格文字103"/>
          <p:cNvSpPr>
            <a:spLocks noGrp="1"/>
          </p:cNvSpPr>
          <p:nvPr/>
        </p:nvSpPr>
        <p:spPr>
          <a:xfrm>
            <a:off x="793900" y="3899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格文字104"/>
          <p:cNvSpPr>
            <a:spLocks noGrp="1"/>
          </p:cNvSpPr>
          <p:nvPr/>
        </p:nvSpPr>
        <p:spPr>
          <a:xfrm>
            <a:off x="2243900" y="3899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0.01923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格文字105"/>
          <p:cNvSpPr>
            <a:spLocks noGrp="1"/>
          </p:cNvSpPr>
          <p:nvPr/>
        </p:nvSpPr>
        <p:spPr>
          <a:xfrm>
            <a:off x="3363900" y="3899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格文字106"/>
          <p:cNvSpPr>
            <a:spLocks noGrp="1"/>
          </p:cNvSpPr>
          <p:nvPr/>
        </p:nvSpPr>
        <p:spPr>
          <a:xfrm>
            <a:off x="793900" y="4184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2243900" y="4184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0.01951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3363900" y="4184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隔行底色109"/>
          <p:cNvSpPr>
            <a:spLocks noGrp="1"/>
          </p:cNvSpPr>
          <p:nvPr/>
        </p:nvSpPr>
        <p:spPr>
          <a:xfrm>
            <a:off x="723900" y="44136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793900" y="4469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对比度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2243900" y="4469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0.01955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表格文字112"/>
          <p:cNvSpPr>
            <a:spLocks noGrp="1"/>
          </p:cNvSpPr>
          <p:nvPr/>
        </p:nvSpPr>
        <p:spPr>
          <a:xfrm>
            <a:off x="3363900" y="4469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93900" y="4754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亮度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243900" y="4754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0.01958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363900" y="4754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隔行底色116"/>
          <p:cNvSpPr>
            <a:spLocks noGrp="1"/>
          </p:cNvSpPr>
          <p:nvPr/>
        </p:nvSpPr>
        <p:spPr>
          <a:xfrm>
            <a:off x="723900" y="49836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793900" y="5039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翻转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2243900" y="5039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0.02008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3363900" y="5039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65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793900" y="53246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中心裁剪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2243900" y="53246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0.02312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3363900" y="53246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不推荐</a:t>
            </a:r>
            <a:endParaRPr sz="65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结论卡片"/>
          <p:cNvSpPr>
            <a:spLocks noGrp="1"/>
          </p:cNvSpPr>
          <p:nvPr/>
        </p:nvSpPr>
        <p:spPr>
          <a:xfrm>
            <a:off x="723900" y="5543550"/>
            <a:ext cx="4381500" cy="609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结论强调线"/>
          <p:cNvSpPr>
            <a:spLocks noGrp="1"/>
          </p:cNvSpPr>
          <p:nvPr/>
        </p:nvSpPr>
        <p:spPr>
          <a:xfrm>
            <a:off x="723900" y="5543550"/>
            <a:ext cx="57150" cy="6096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增强结论"/>
          <p:cNvSpPr>
            <a:spLocks noGrp="1"/>
          </p:cNvSpPr>
          <p:nvPr/>
        </p:nvSpPr>
        <p:spPr>
          <a:xfrm>
            <a:off x="895350" y="5682300"/>
            <a:ext cx="404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结论：增强收益很小，HSV/噪声略优于 none；中心裁剪和翻转会明显拉高误差。</a:t>
            </a:r>
            <a:endParaRPr sz="76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曲线说明"/>
          <p:cNvSpPr>
            <a:spLocks noGrp="1"/>
          </p:cNvSpPr>
          <p:nvPr/>
        </p:nvSpPr>
        <p:spPr>
          <a:xfrm>
            <a:off x="6164356" y="5425888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验证集损失曲线：多数增强与 none 接近，差距集中在 1e-4 量级。</a:t>
            </a:r>
            <a:endParaRPr sz="76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im2col +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GEMM，池化复用窗口展开并实现反向传播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 stride、padding、dilation、groups，并兼容 CPU/GPU 后端。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 保存 argmax；AvgPool 均匀分配梯度；均用窗口展开验证。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278B9A5E-0AAE-4BC4-8A9D-1C8C22C1FA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DB5BC1-FAF1-4149-9AB2-0118A4945A4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B5C2AB-5A1C-4A39-A5E1-D97BDFD23CD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卷积类型与应用情况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165EB0-EE1E-4E6A-8214-3066C91BB50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卷积形态消融已完成：groups=2 与转置卷积 Val MSE 最低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98D754-2C1F-4302-BFB4-505AA4F75697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2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固定 DonkeyCar ResNet18-style、base_channels=32、temporal split、20 epoch；报告 Val MSE、acc@0.10、FLOPs 和 latency。</a:t>
            </a:r>
            <a:endParaRPr sz="82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8EF4A1E-2398-444A-A8DE-10B2D46BDBD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B22E2C2-F46B-4E11-AEDD-736E6A503366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00" name="表格底板"/>
          <p:cNvSpPr>
            <a:spLocks noGrp="1"/>
          </p:cNvSpPr>
          <p:nvPr/>
        </p:nvSpPr>
        <p:spPr>
          <a:xfrm>
            <a:off x="666750" y="2133600"/>
            <a:ext cx="7170000" cy="2475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表头底色"/>
          <p:cNvSpPr>
            <a:spLocks noGrp="1"/>
          </p:cNvSpPr>
          <p:nvPr/>
        </p:nvSpPr>
        <p:spPr>
          <a:xfrm>
            <a:off x="666750" y="2133600"/>
            <a:ext cx="7170000" cy="27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表头102"/>
          <p:cNvSpPr>
            <a:spLocks noGrp="1"/>
          </p:cNvSpPr>
          <p:nvPr/>
        </p:nvSpPr>
        <p:spPr>
          <a:xfrm>
            <a:off x="736750" y="2198600"/>
            <a:ext cx="178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变体</a:t>
            </a:r>
            <a:endParaRPr sz="65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3" name="表头103"/>
          <p:cNvSpPr>
            <a:spLocks noGrp="1"/>
          </p:cNvSpPr>
          <p:nvPr/>
        </p:nvSpPr>
        <p:spPr>
          <a:xfrm>
            <a:off x="2636750" y="2198600"/>
            <a:ext cx="123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65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头104"/>
          <p:cNvSpPr>
            <a:spLocks noGrp="1"/>
          </p:cNvSpPr>
          <p:nvPr/>
        </p:nvSpPr>
        <p:spPr>
          <a:xfrm>
            <a:off x="3986750" y="2198600"/>
            <a:ext cx="114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acc@0.10</a:t>
            </a:r>
            <a:endParaRPr sz="65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头105"/>
          <p:cNvSpPr>
            <a:spLocks noGrp="1"/>
          </p:cNvSpPr>
          <p:nvPr/>
        </p:nvSpPr>
        <p:spPr>
          <a:xfrm>
            <a:off x="5246750" y="2198600"/>
            <a:ext cx="114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GFLOPs</a:t>
            </a:r>
            <a:endParaRPr sz="65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头106"/>
          <p:cNvSpPr>
            <a:spLocks noGrp="1"/>
          </p:cNvSpPr>
          <p:nvPr/>
        </p:nvSpPr>
        <p:spPr>
          <a:xfrm>
            <a:off x="6506750" y="2198600"/>
            <a:ext cx="128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p50 latency</a:t>
            </a:r>
            <a:endParaRPr sz="65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736750" y="246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group2_k3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2636750" y="246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0.01881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表格文字109"/>
          <p:cNvSpPr>
            <a:spLocks noGrp="1"/>
          </p:cNvSpPr>
          <p:nvPr/>
        </p:nvSpPr>
        <p:spPr>
          <a:xfrm>
            <a:off x="3986750" y="24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95.55%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5246750" y="24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0.215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6506750" y="246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11.36ms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隔行底色112"/>
          <p:cNvSpPr>
            <a:spLocks noGrp="1"/>
          </p:cNvSpPr>
          <p:nvPr/>
        </p:nvSpPr>
        <p:spPr>
          <a:xfrm>
            <a:off x="666750" y="268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36750" y="273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transpose_k3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636750" y="273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0.01884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986750" y="27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95.20%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表格文字116"/>
          <p:cNvSpPr>
            <a:spLocks noGrp="1"/>
          </p:cNvSpPr>
          <p:nvPr/>
        </p:nvSpPr>
        <p:spPr>
          <a:xfrm>
            <a:off x="5246750" y="27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0.380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6506750" y="273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13.23ms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736750" y="301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kernel31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2636750" y="301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0.01943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3986750" y="30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94.35%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5246750" y="30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35.40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6506750" y="301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182.83ms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隔行底色123"/>
          <p:cNvSpPr>
            <a:spLocks noGrp="1"/>
          </p:cNvSpPr>
          <p:nvPr/>
        </p:nvSpPr>
        <p:spPr>
          <a:xfrm>
            <a:off x="666750" y="323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表格文字124"/>
          <p:cNvSpPr>
            <a:spLocks noGrp="1"/>
          </p:cNvSpPr>
          <p:nvPr/>
        </p:nvSpPr>
        <p:spPr>
          <a:xfrm>
            <a:off x="736750" y="328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dilation2_k3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5" name="表格文字125"/>
          <p:cNvSpPr>
            <a:spLocks noGrp="1"/>
          </p:cNvSpPr>
          <p:nvPr/>
        </p:nvSpPr>
        <p:spPr>
          <a:xfrm>
            <a:off x="2636750" y="328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0.01997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表格文字126"/>
          <p:cNvSpPr>
            <a:spLocks noGrp="1"/>
          </p:cNvSpPr>
          <p:nvPr/>
        </p:nvSpPr>
        <p:spPr>
          <a:xfrm>
            <a:off x="3986750" y="32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94.10%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7" name="表格文字127"/>
          <p:cNvSpPr>
            <a:spLocks noGrp="1"/>
          </p:cNvSpPr>
          <p:nvPr/>
        </p:nvSpPr>
        <p:spPr>
          <a:xfrm>
            <a:off x="5246750" y="32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0.380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8" name="表格文字128"/>
          <p:cNvSpPr>
            <a:spLocks noGrp="1"/>
          </p:cNvSpPr>
          <p:nvPr/>
        </p:nvSpPr>
        <p:spPr>
          <a:xfrm>
            <a:off x="6506750" y="328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11.82ms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9" name="表格文字129"/>
          <p:cNvSpPr>
            <a:spLocks noGrp="1"/>
          </p:cNvSpPr>
          <p:nvPr/>
        </p:nvSpPr>
        <p:spPr>
          <a:xfrm>
            <a:off x="736750" y="356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kernel5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0" name="表格文字130"/>
          <p:cNvSpPr>
            <a:spLocks noGrp="1"/>
          </p:cNvSpPr>
          <p:nvPr/>
        </p:nvSpPr>
        <p:spPr>
          <a:xfrm>
            <a:off x="2636750" y="356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0.02097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1" name="表格文字131"/>
          <p:cNvSpPr>
            <a:spLocks noGrp="1"/>
          </p:cNvSpPr>
          <p:nvPr/>
        </p:nvSpPr>
        <p:spPr>
          <a:xfrm>
            <a:off x="3986750" y="35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91.10%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2" name="表格文字132"/>
          <p:cNvSpPr>
            <a:spLocks noGrp="1"/>
          </p:cNvSpPr>
          <p:nvPr/>
        </p:nvSpPr>
        <p:spPr>
          <a:xfrm>
            <a:off x="5246750" y="35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0.969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3" name="表格文字133"/>
          <p:cNvSpPr>
            <a:spLocks noGrp="1"/>
          </p:cNvSpPr>
          <p:nvPr/>
        </p:nvSpPr>
        <p:spPr>
          <a:xfrm>
            <a:off x="6506750" y="356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19.82ms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4" name="隔行底色134"/>
          <p:cNvSpPr>
            <a:spLocks noGrp="1"/>
          </p:cNvSpPr>
          <p:nvPr/>
        </p:nvSpPr>
        <p:spPr>
          <a:xfrm>
            <a:off x="666750" y="378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5" name="表格文字135"/>
          <p:cNvSpPr>
            <a:spLocks noGrp="1"/>
          </p:cNvSpPr>
          <p:nvPr/>
        </p:nvSpPr>
        <p:spPr>
          <a:xfrm>
            <a:off x="736750" y="383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standard_k3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6" name="表格文字136"/>
          <p:cNvSpPr>
            <a:spLocks noGrp="1"/>
          </p:cNvSpPr>
          <p:nvPr/>
        </p:nvSpPr>
        <p:spPr>
          <a:xfrm>
            <a:off x="2636750" y="383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0.02107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7" name="表格文字137"/>
          <p:cNvSpPr>
            <a:spLocks noGrp="1"/>
          </p:cNvSpPr>
          <p:nvPr/>
        </p:nvSpPr>
        <p:spPr>
          <a:xfrm>
            <a:off x="3986750" y="38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96.30%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8" name="表格文字138"/>
          <p:cNvSpPr>
            <a:spLocks noGrp="1"/>
          </p:cNvSpPr>
          <p:nvPr/>
        </p:nvSpPr>
        <p:spPr>
          <a:xfrm>
            <a:off x="5246750" y="38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0.380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9" name="表格文字139"/>
          <p:cNvSpPr>
            <a:spLocks noGrp="1"/>
          </p:cNvSpPr>
          <p:nvPr/>
        </p:nvSpPr>
        <p:spPr>
          <a:xfrm>
            <a:off x="6506750" y="383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11.83ms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0" name="表格文字140"/>
          <p:cNvSpPr>
            <a:spLocks noGrp="1"/>
          </p:cNvSpPr>
          <p:nvPr/>
        </p:nvSpPr>
        <p:spPr>
          <a:xfrm>
            <a:off x="736750" y="411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depthwise_k3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1" name="表格文字141"/>
          <p:cNvSpPr>
            <a:spLocks noGrp="1"/>
          </p:cNvSpPr>
          <p:nvPr/>
        </p:nvSpPr>
        <p:spPr>
          <a:xfrm>
            <a:off x="2636750" y="411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0.02422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2" name="表格文字142"/>
          <p:cNvSpPr>
            <a:spLocks noGrp="1"/>
          </p:cNvSpPr>
          <p:nvPr/>
        </p:nvSpPr>
        <p:spPr>
          <a:xfrm>
            <a:off x="3986750" y="41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79.95%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3" name="表格文字143"/>
          <p:cNvSpPr>
            <a:spLocks noGrp="1"/>
          </p:cNvSpPr>
          <p:nvPr/>
        </p:nvSpPr>
        <p:spPr>
          <a:xfrm>
            <a:off x="5246750" y="41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0.091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4" name="表格文字144"/>
          <p:cNvSpPr>
            <a:spLocks noGrp="1"/>
          </p:cNvSpPr>
          <p:nvPr/>
        </p:nvSpPr>
        <p:spPr>
          <a:xfrm>
            <a:off x="6506750" y="411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10.70ms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5" name="隔行底色145"/>
          <p:cNvSpPr>
            <a:spLocks noGrp="1"/>
          </p:cNvSpPr>
          <p:nvPr/>
        </p:nvSpPr>
        <p:spPr>
          <a:xfrm>
            <a:off x="666750" y="433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6" name="表格文字146"/>
          <p:cNvSpPr>
            <a:spLocks noGrp="1"/>
          </p:cNvSpPr>
          <p:nvPr/>
        </p:nvSpPr>
        <p:spPr>
          <a:xfrm>
            <a:off x="736750" y="438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kernel1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7" name="表格文字147"/>
          <p:cNvSpPr>
            <a:spLocks noGrp="1"/>
          </p:cNvSpPr>
          <p:nvPr/>
        </p:nvSpPr>
        <p:spPr>
          <a:xfrm>
            <a:off x="2636750" y="438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0.02761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8" name="表格文字148"/>
          <p:cNvSpPr>
            <a:spLocks noGrp="1"/>
          </p:cNvSpPr>
          <p:nvPr/>
        </p:nvSpPr>
        <p:spPr>
          <a:xfrm>
            <a:off x="3986750" y="43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90.70%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9" name="表格文字149"/>
          <p:cNvSpPr>
            <a:spLocks noGrp="1"/>
          </p:cNvSpPr>
          <p:nvPr/>
        </p:nvSpPr>
        <p:spPr>
          <a:xfrm>
            <a:off x="5246750" y="43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0.086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0" name="表格文字150"/>
          <p:cNvSpPr>
            <a:spLocks noGrp="1"/>
          </p:cNvSpPr>
          <p:nvPr/>
        </p:nvSpPr>
        <p:spPr>
          <a:xfrm>
            <a:off x="6506750" y="438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6.75ms</a:t>
            </a:r>
            <a:endParaRPr sz="6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1" name="结论卡151"/>
          <p:cNvSpPr>
            <a:spLocks noGrp="1"/>
          </p:cNvSpPr>
          <p:nvPr/>
        </p:nvSpPr>
        <p:spPr>
          <a:xfrm>
            <a:off x="895350" y="5010150"/>
            <a:ext cx="3048000" cy="1143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2" name="结论顶线152"/>
          <p:cNvSpPr>
            <a:spLocks noGrp="1"/>
          </p:cNvSpPr>
          <p:nvPr/>
        </p:nvSpPr>
        <p:spPr>
          <a:xfrm>
            <a:off x="895350" y="5010150"/>
            <a:ext cx="3048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" name="结论标题153"/>
          <p:cNvSpPr>
            <a:spLocks noGrp="1"/>
          </p:cNvSpPr>
          <p:nvPr/>
        </p:nvSpPr>
        <p:spPr>
          <a:xfrm>
            <a:off x="1066800" y="5191125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 尺寸</a:t>
            </a:r>
            <a:endParaRPr sz="9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4" name="结论正文154"/>
          <p:cNvSpPr>
            <a:spLocks noGrp="1"/>
          </p:cNvSpPr>
          <p:nvPr/>
        </p:nvSpPr>
        <p:spPr>
          <a:xfrm>
            <a:off x="1066800" y="5505450"/>
            <a:ext cx="2705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4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k1 精度最差；k31 MSE 较好但 FLOPs 达 35.40，约为 standard_k3 的 93 倍。</a:t>
            </a:r>
            <a:endParaRPr sz="64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5" name="结论卡155"/>
          <p:cNvSpPr>
            <a:spLocks noGrp="1"/>
          </p:cNvSpPr>
          <p:nvPr/>
        </p:nvSpPr>
        <p:spPr>
          <a:xfrm>
            <a:off x="4343400" y="5010150"/>
            <a:ext cx="3048000" cy="1143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6" name="结论顶线156"/>
          <p:cNvSpPr>
            <a:spLocks noGrp="1"/>
          </p:cNvSpPr>
          <p:nvPr/>
        </p:nvSpPr>
        <p:spPr>
          <a:xfrm>
            <a:off x="4343400" y="5010150"/>
            <a:ext cx="3048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7" name="结论标题157"/>
          <p:cNvSpPr>
            <a:spLocks noGrp="1"/>
          </p:cNvSpPr>
          <p:nvPr/>
        </p:nvSpPr>
        <p:spPr>
          <a:xfrm>
            <a:off x="4514850" y="5191125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特殊卷积</a:t>
            </a:r>
            <a:endParaRPr sz="9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8" name="结论正文158"/>
          <p:cNvSpPr>
            <a:spLocks noGrp="1"/>
          </p:cNvSpPr>
          <p:nvPr/>
        </p:nvSpPr>
        <p:spPr>
          <a:xfrm>
            <a:off x="4514850" y="5505450"/>
            <a:ext cx="2705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4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group2_k3 取得最低 Val MSE，同时 FLOPs 降到 0.215，可作为后续候选结构。</a:t>
            </a:r>
            <a:endParaRPr sz="64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9" name="结论卡159"/>
          <p:cNvSpPr>
            <a:spLocks noGrp="1"/>
          </p:cNvSpPr>
          <p:nvPr/>
        </p:nvSpPr>
        <p:spPr>
          <a:xfrm>
            <a:off x="7791450" y="5010150"/>
            <a:ext cx="3048000" cy="1143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" name="结论顶线160"/>
          <p:cNvSpPr>
            <a:spLocks noGrp="1"/>
          </p:cNvSpPr>
          <p:nvPr/>
        </p:nvSpPr>
        <p:spPr>
          <a:xfrm>
            <a:off x="7791450" y="5010150"/>
            <a:ext cx="3048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1" name="结论标题161"/>
          <p:cNvSpPr>
            <a:spLocks noGrp="1"/>
          </p:cNvSpPr>
          <p:nvPr/>
        </p:nvSpPr>
        <p:spPr>
          <a:xfrm>
            <a:off x="7962900" y="5191125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应用结论</a:t>
            </a:r>
            <a:endParaRPr sz="9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2" name="结论正文162"/>
          <p:cNvSpPr>
            <a:spLocks noGrp="1"/>
          </p:cNvSpPr>
          <p:nvPr/>
        </p:nvSpPr>
        <p:spPr>
          <a:xfrm>
            <a:off x="7962900" y="5505450"/>
            <a:ext cx="2705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4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depthwise 参数和 FLOPs 最低，但当前结构下精度下降，需要重新设计通道配置。</a:t>
            </a:r>
            <a:endParaRPr sz="64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81317" y="1193427"/>
            <a:ext cx="1069489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11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组组合全部通过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NumPy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naive、PyTorch、MyTorch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三方验证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6.66e-16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1.78e-15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4.01e-11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</a:t>
            </a:r>
            <a:r>
              <a:rPr lang="zh-CN" altLang="en-US" sz="24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融合消融已完成：速度小幅提升，</a:t>
            </a:r>
            <a:r>
              <a:rPr lang="en-US" sz="24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24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验证误差最低。</a:t>
            </a:r>
            <a:endParaRPr sz="24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同配置 </a:t>
            </a:r>
            <a:r>
              <a:rPr lang="en-US" sz="14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 ResNet18Original，temporal split，</a:t>
            </a:r>
            <a:r>
              <a:rPr lang="zh-CN" altLang="en-US" sz="14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4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train/val，5 epoch，batch=8。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 IRGraph / IRNode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 进行融合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 / CUDA RawKernel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 by-op 与慢节点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286250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181100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三组消融结果</a:t>
            </a:r>
            <a:endParaRPr sz="16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1181100" y="4610100"/>
            <a:ext cx="3632200" cy="1041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无融合：</a:t>
            </a:r>
            <a:r>
              <a:rPr lang="en-US" altLang="zh-CN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234.18</a:t>
            </a:r>
            <a:r>
              <a:rPr 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 / epoch，p50 233.44ms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Dynamic Fused：220.59s，p50 220.39ms，+6.2%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Fused：222.59s，p50 223.17ms，+5.2%</a:t>
            </a:r>
            <a:endParaRPr sz="11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198120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  <a:endParaRPr sz="16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20383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MSE：0.0274 / 1.2277 / 0.0224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acc@0.10：67.85% / 0.85% / 93.35%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3266 / 3300 / 5842 </a:t>
            </a:r>
            <a:r>
              <a:rPr 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11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2381250" cy="19812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BC2F408-465E-40DC-93C7-E850D7FC9416}"/>
              </a:ext>
            </a:extLst>
          </p:cNvPr>
          <p:cNvSpPr>
            <a:spLocks noGrp="1"/>
          </p:cNvSpPr>
          <p:nvPr/>
        </p:nvSpPr>
        <p:spPr>
          <a:xfrm>
            <a:off x="8591550" y="4057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>
                <a:solidFill>
                  <a:srgbClr val="0E8F5A"/>
                </a:solidFill>
                <a:latin typeface="Microsoft YaHei"/>
                <a:ea typeface="Microsoft YaHei"/>
                <a:cs typeface="Microsoft YaHei"/>
              </a:rPr>
              <a:t>已完成实验</a:t>
            </a:r>
            <a:endParaRPr sz="1000" b="1">
              <a:solidFill>
                <a:srgbClr val="0E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8591550" y="432435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5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5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综合最好</a:t>
            </a:r>
            <a:endParaRPr sz="15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8591550" y="4648200"/>
            <a:ext cx="2038350" cy="1117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在完整验证集上 </a:t>
            </a:r>
            <a:r>
              <a:rPr 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最低，并保持约 </a:t>
            </a:r>
            <a:r>
              <a:rPr lang="en-US" altLang="zh-CN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5.2% </a:t>
            </a:r>
            <a:r>
              <a:rPr lang="zh-CN" alt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训练加速。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Dynamic Fused </a:t>
            </a:r>
            <a:r>
              <a:rPr lang="zh-CN" alt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虽更快，但 </a:t>
            </a:r>
            <a:r>
              <a:rPr 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异常，下一步需排查 </a:t>
            </a:r>
            <a:r>
              <a:rPr 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BN/</a:t>
            </a:r>
            <a:r>
              <a:rPr lang="zh-CN" altLang="en-US" sz="11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残差融合一致性。</a:t>
            </a:r>
            <a:endParaRPr sz="11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0F70D22-4116-47BA-99B1-2A5828A7B679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代码：</a:t>
            </a:r>
            <a:r>
              <a:rPr lang="en-US" sz="8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mytorch/jit.py, jit_pass.py, jit_train_rewrite.py；</a:t>
            </a:r>
            <a:r>
              <a:rPr lang="zh-CN" altLang="en-US" sz="8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实验：</a:t>
            </a:r>
            <a:r>
              <a:rPr lang="en-US" sz="8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results/jit_fusion_ablation_full_bs32/training_fusion_ablation.md</a:t>
            </a:r>
            <a:endParaRPr sz="8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并行加载消融已完成：</a:t>
            </a:r>
            <a:r>
              <a:rPr lang="en-US" sz="24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async loader </a:t>
            </a:r>
            <a:r>
              <a:rPr lang="zh-CN" altLang="en-US" sz="24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明显降低取 </a:t>
            </a:r>
            <a:r>
              <a:rPr lang="en-US" sz="24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24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等待。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固定 </a:t>
            </a:r>
            <a:r>
              <a:rPr lang="en-US" sz="13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 ResNet18 JIT、temporal split、</a:t>
            </a:r>
            <a:r>
              <a:rPr lang="zh-CN" altLang="en-US" sz="13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3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train/val，5 epoch，batch=8；async </a:t>
            </a:r>
            <a:r>
              <a:rPr lang="zh-CN" altLang="en-US" sz="13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配置 </a:t>
            </a:r>
            <a:r>
              <a:rPr lang="en-US" sz="13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workers=4、prefetch=4。</a:t>
            </a:r>
            <a:endParaRPr sz="13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4 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个 </a:t>
            </a:r>
            <a:r>
              <a:rPr lang="en-US" altLang="zh-CN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 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线程读取、解码、预处理 </a:t>
            </a:r>
            <a:r>
              <a:rPr lang="en-US" altLang="zh-CN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，并提前写入 </a:t>
            </a:r>
            <a:r>
              <a:rPr lang="en-US" altLang="zh-CN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workers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481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maxsize = workers × prefetch_factor = 16；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训练线程按顺序消费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batch。</a:t>
            </a:r>
            <a:endParaRPr sz="12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训练循环执行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forward、backward、optimizer step；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仅在取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时等待。</a:t>
            </a:r>
            <a:endParaRPr sz="12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00" b="1">
                <a:solidFill>
                  <a:srgbClr val="D78E16"/>
                </a:solidFill>
                <a:latin typeface="Microsoft YaHei"/>
                <a:ea typeface="Microsoft YaHei"/>
                <a:cs typeface="Microsoft YaHei"/>
              </a:rPr>
              <a:t>0.0051ms</a:t>
            </a:r>
            <a:endParaRPr sz="2000" b="1">
              <a:solidFill>
                <a:srgbClr val="D78E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loader fetch p50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sync vs async </a:t>
            </a: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消融结果</a:t>
            </a:r>
            <a:endParaRPr sz="16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sync：245.1s/epoch，32.07 samples/s，fetch p50 2.85ms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async：153.4s/epoch，51.22 samples/s，fetch p50 0.005ms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p50：270.1ms → 154.6ms；</a:t>
            </a:r>
            <a:r>
              <a:rPr lang="zh-CN" altLang="en-US" sz="10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0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3662</a:t>
            </a:r>
            <a:r>
              <a:rPr lang="en-US" sz="10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 → 3349MB</a:t>
            </a:r>
            <a:endParaRPr sz="10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A2FA4F-3761-4A54-86C7-CF93793021C5}"/>
              </a:ext>
            </a:extLst>
          </p:cNvPr>
          <p:cNvSpPr>
            <a:spLocks noGrp="1"/>
          </p:cNvSpPr>
          <p:nvPr/>
        </p:nvSpPr>
        <p:spPr>
          <a:xfrm>
            <a:off x="6172200" y="51054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>
                <a:solidFill>
                  <a:srgbClr val="0E8F5A"/>
                </a:solidFill>
                <a:latin typeface="Microsoft YaHei"/>
                <a:ea typeface="Microsoft YaHei"/>
                <a:cs typeface="Microsoft YaHei"/>
              </a:rPr>
              <a:t>已完成实验</a:t>
            </a:r>
            <a:endParaRPr sz="1000" b="1">
              <a:solidFill>
                <a:srgbClr val="0E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72200" y="537210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异步预取有效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72200" y="5695950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fetch p50 </a:t>
            </a:r>
            <a:r>
              <a:rPr lang="zh-CN" altLang="en-US" sz="10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降低约 </a:t>
            </a:r>
            <a:r>
              <a:rPr lang="en-US" altLang="zh-CN" sz="10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99.8%</a:t>
            </a:r>
            <a:r>
              <a:rPr lang="zh-CN" altLang="en-US" sz="10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，端到端吞吐提升约 </a:t>
            </a:r>
            <a:r>
              <a:rPr lang="en-US" altLang="zh-CN" sz="10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1.60×</a:t>
            </a:r>
            <a:r>
              <a:rPr lang="zh-CN" altLang="en-US" sz="10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0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两组一致，说明 </a:t>
            </a:r>
            <a:r>
              <a:rPr lang="en-US" altLang="zh-CN" sz="10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</a:t>
            </a:r>
            <a:r>
              <a:rPr lang="zh-CN" altLang="en-US" sz="10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改动未改变训练目标；后续继续优化 </a:t>
            </a:r>
            <a:r>
              <a:rPr lang="en-US" altLang="zh-CN" sz="10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backward </a:t>
            </a:r>
            <a:r>
              <a:rPr lang="zh-CN" altLang="en-US" sz="10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与显存管理。</a:t>
            </a:r>
            <a:endParaRPr sz="10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7D7A0F5-369E-431B-A31C-24326B5874E9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代码：</a:t>
            </a:r>
            <a:r>
              <a:rPr lang="en-US" sz="8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experiments/loader_ablation.py；</a:t>
            </a:r>
            <a:r>
              <a:rPr lang="zh-CN" altLang="en-US" sz="8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结果：</a:t>
            </a:r>
            <a:r>
              <a:rPr lang="en-US" sz="8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results/loader_ablation_full/20260520_232918/summary.md</a:t>
            </a:r>
            <a:endParaRPr sz="8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0A3A5F22-447B-467A-AE99-5D13B04598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2DAC11-4DEB-4467-88DF-3A973D8B15B2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C48FB4-EE9D-49E8-83A2-7858D4A4624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第七部分 / DOCKER、KUBERNETES、KUBEFLOW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A35077-2450-4589-9294-1EDAD1BC507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261412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已有容器化与调度原型文件，但目前是训练任务模板，不是完整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F26346-674F-44F2-A4CD-E26BF027823D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857500" cy="18097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CA1B77-AF02-40DF-96EE-084DA8D79C3E}"/>
              </a:ext>
            </a:extLst>
          </p:cNvPr>
          <p:cNvSpPr>
            <a:spLocks noGrp="1"/>
          </p:cNvSpPr>
          <p:nvPr/>
        </p:nvSpPr>
        <p:spPr>
          <a:xfrm>
            <a:off x="1047750" y="25336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Docker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FE0E1C-8E70-4163-841C-F39FBF0C5AE5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00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deploy/docker/Dockerfile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docker-compose.yml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可封装训练环境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8F184C-3EA1-4B74-B453-30D9F6EA4CE7}"/>
              </a:ext>
            </a:extLst>
          </p:cNvPr>
          <p:cNvSpPr>
            <a:spLocks noGrp="1"/>
          </p:cNvSpPr>
          <p:nvPr/>
        </p:nvSpPr>
        <p:spPr>
          <a:xfrm>
            <a:off x="4248150" y="2247900"/>
            <a:ext cx="2857500" cy="18097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D73E1C-4E2A-43E9-AD18-3103CC0ED4BD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Kubernetes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97D306-28F1-45F1-A76F-C9CCA5B4025B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764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deploy/k8s/mnist-training-job.yaml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定义 Job、资源请求、数据卷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56E58F-4D91-4D3B-AFCA-6615D00A9602}"/>
              </a:ext>
            </a:extLst>
          </p:cNvPr>
          <p:cNvSpPr>
            <a:spLocks noGrp="1"/>
          </p:cNvSpPr>
          <p:nvPr/>
        </p:nvSpPr>
        <p:spPr>
          <a:xfrm>
            <a:off x="7753350" y="2247900"/>
            <a:ext cx="2857500" cy="18097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53C004-26F7-413B-A5BB-C1EE2D31D8E4}"/>
              </a:ext>
            </a:extLst>
          </p:cNvPr>
          <p:cNvSpPr>
            <a:spLocks noGrp="1"/>
          </p:cNvSpPr>
          <p:nvPr/>
        </p:nvSpPr>
        <p:spPr>
          <a:xfrm>
            <a:off x="8058150" y="25336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Kubeflow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D8CA52-0746-4D62-AA1C-496A09CAD87B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kuflow/kfp_pipeline.py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TaskOperator / pipeline demo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可扩展为训练算子调度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D95E520-DB83-4BED-835E-35D7F10BB5FA}"/>
              </a:ext>
            </a:extLst>
          </p:cNvPr>
          <p:cNvSpPr>
            <a:spLocks noGrp="1"/>
          </p:cNvSpPr>
          <p:nvPr/>
        </p:nvSpPr>
        <p:spPr>
          <a:xfrm>
            <a:off x="1066800" y="4400550"/>
            <a:ext cx="2628900" cy="15240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440632-F0F3-47BE-A0AF-4F2A442AFB80}"/>
              </a:ext>
            </a:extLst>
          </p:cNvPr>
          <p:cNvSpPr>
            <a:spLocks noGrp="1"/>
          </p:cNvSpPr>
          <p:nvPr/>
        </p:nvSpPr>
        <p:spPr>
          <a:xfrm>
            <a:off x="1066800" y="4400550"/>
            <a:ext cx="26289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BC1323-CDD5-496A-9B2B-BAB74A984E87}"/>
              </a:ext>
            </a:extLst>
          </p:cNvPr>
          <p:cNvSpPr>
            <a:spLocks noGrp="1"/>
          </p:cNvSpPr>
          <p:nvPr/>
        </p:nvSpPr>
        <p:spPr>
          <a:xfrm>
            <a:off x="1238250" y="4591050"/>
            <a:ext cx="228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完成情况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2D53B3-D735-4287-845B-F53158D2226D}"/>
              </a:ext>
            </a:extLst>
          </p:cNvPr>
          <p:cNvSpPr>
            <a:spLocks noGrp="1"/>
          </p:cNvSpPr>
          <p:nvPr/>
        </p:nvSpPr>
        <p:spPr>
          <a:xfrm>
            <a:off x="1238250" y="4895850"/>
            <a:ext cx="228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已有文件级原型与任务描述，可作为下一阶段工程化基础。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42949C-BBE8-44BB-B8A8-E4843B54A062}"/>
              </a:ext>
            </a:extLst>
          </p:cNvPr>
          <p:cNvSpPr>
            <a:spLocks noGrp="1"/>
          </p:cNvSpPr>
          <p:nvPr/>
        </p:nvSpPr>
        <p:spPr>
          <a:xfrm>
            <a:off x="4324350" y="4400550"/>
            <a:ext cx="2857500" cy="15240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A9BD8B4-3BC8-4042-B78C-8FC277AFCC76}"/>
              </a:ext>
            </a:extLst>
          </p:cNvPr>
          <p:cNvSpPr>
            <a:spLocks noGrp="1"/>
          </p:cNvSpPr>
          <p:nvPr/>
        </p:nvSpPr>
        <p:spPr>
          <a:xfrm>
            <a:off x="4495800" y="4552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C03C19C-2C90-41FE-9266-E2CC362DAD34}"/>
              </a:ext>
            </a:extLst>
          </p:cNvPr>
          <p:cNvSpPr>
            <a:spLocks noGrp="1"/>
          </p:cNvSpPr>
          <p:nvPr/>
        </p:nvSpPr>
        <p:spPr>
          <a:xfrm>
            <a:off x="4495800" y="48196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部署实验缺失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0B9FCE-0A0E-4615-A23D-9B7D37298191}"/>
              </a:ext>
            </a:extLst>
          </p:cNvPr>
          <p:cNvSpPr>
            <a:spLocks noGrp="1"/>
          </p:cNvSpPr>
          <p:nvPr/>
        </p:nvSpPr>
        <p:spPr>
          <a:xfrm>
            <a:off x="4495800" y="5143500"/>
            <a:ext cx="2514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补 docker build/run、K8s Job、Kubeflow pipeline 日志和资源占用。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F93747B-8B6D-4713-8AA5-CB038389C4CB}"/>
              </a:ext>
            </a:extLst>
          </p:cNvPr>
          <p:cNvSpPr>
            <a:spLocks noGrp="1"/>
          </p:cNvSpPr>
          <p:nvPr/>
        </p:nvSpPr>
        <p:spPr>
          <a:xfrm>
            <a:off x="7734300" y="4400550"/>
            <a:ext cx="2857500" cy="15240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E59EAA0-1BEB-4787-9607-B4DC368BB593}"/>
              </a:ext>
            </a:extLst>
          </p:cNvPr>
          <p:cNvSpPr>
            <a:spLocks noGrp="1"/>
          </p:cNvSpPr>
          <p:nvPr/>
        </p:nvSpPr>
        <p:spPr>
          <a:xfrm>
            <a:off x="7905750" y="4552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740E3D4-9147-4BCF-AC70-4619F232E146}"/>
              </a:ext>
            </a:extLst>
          </p:cNvPr>
          <p:cNvSpPr>
            <a:spLocks noGrp="1"/>
          </p:cNvSpPr>
          <p:nvPr/>
        </p:nvSpPr>
        <p:spPr>
          <a:xfrm>
            <a:off x="7905750" y="48196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服务化缺失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30F62CD-DF2E-4F42-973E-7903E0AFE8DB}"/>
              </a:ext>
            </a:extLst>
          </p:cNvPr>
          <p:cNvSpPr>
            <a:spLocks noGrp="1"/>
          </p:cNvSpPr>
          <p:nvPr/>
        </p:nvSpPr>
        <p:spPr>
          <a:xfrm>
            <a:off x="7905750" y="5143500"/>
            <a:ext cx="2514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gRPC server/client 与 DonkeyCar 在线推理服务尚未完成。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258AB49-C129-4B90-A65B-8A9B6F0892D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B616853-8669-4A25-AE3F-4181D7E7A0C7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可以完成训练，但性能和转向误差仍明显落后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相同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同一数据集、同一训练配置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</a:t>
            </a: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6745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4860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48600" y="41338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7260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6745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PyTorch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4860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4860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7260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275B8F9-EBA6-4A9D-8924-F039F1D3BF75}"/>
              </a:ext>
            </a:extLst>
          </p:cNvPr>
          <p:cNvSpPr>
            <a:spLocks noGrp="1"/>
          </p:cNvSpPr>
          <p:nvPr/>
        </p:nvSpPr>
        <p:spPr>
          <a:xfrm>
            <a:off x="6267450" y="49530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补充：显存峰值 MyTorch 4206.5MB，PyTorch 2822.5MB。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backward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阶段，而不是数据读取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BA62EE-21AC-4045-BE6C-EFF961A4B49C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p50 batch 记录把“慢在哪里”变成可量化证据。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11049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40055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6096000" y="2171700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41070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41070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41070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524000" y="5943600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下阶段目标：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增加速度控制</a:t>
            </a:r>
            <a:r>
              <a:rPr lang="en-US" altLang="zh-CN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在原本转向角控制的基础上，下一步增加速度控制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训练监控完善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增加模型训练过程的可视化模块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</a:t>
            </a: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211671" y="2762250"/>
            <a:ext cx="2094379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当前方案实现的是基于</a:t>
            </a:r>
            <a:r>
              <a:rPr lang="en-US" altLang="zh-CN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</a:t>
            </a:r>
            <a:r>
              <a:rPr lang="zh-CN" altLang="en-US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的简化版的算子融合，还未实现训练编译器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模型的保存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lang="en-US" altLang="zh-CN" sz="1013" dirty="0"/>
              <a:t>JSON+NPZ </a:t>
            </a:r>
            <a:r>
              <a:rPr lang="zh-CN" altLang="en-US" sz="1013" dirty="0"/>
              <a:t>方式，可以拓展 </a:t>
            </a:r>
            <a:r>
              <a:rPr lang="en-US" altLang="zh-CN" sz="1013" dirty="0"/>
              <a:t>ONNX </a:t>
            </a:r>
            <a:r>
              <a:rPr lang="zh-CN" altLang="en-US" sz="1013" dirty="0"/>
              <a:t>方式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卷积算法优化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193741" y="4400550"/>
            <a:ext cx="2112309" cy="6017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完成例如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Winograd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卷积算法，例如数据重排优化循环分块提高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L1/L2 Cache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命中率</a:t>
            </a:r>
          </a:p>
          <a:p>
            <a:endParaRPr lang="zh-CN" altLang="en-US"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数据增强困难：从增强无效到定位数据泄漏与标签冲突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数据增强卡片 50"/>
          <p:cNvSpPr>
            <a:spLocks noGrp="1"/>
          </p:cNvSpPr>
          <p:nvPr/>
        </p:nvSpPr>
        <p:spPr>
          <a:xfrm>
            <a:off x="6096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卡片强调线 51"/>
          <p:cNvSpPr>
            <a:spLocks noGrp="1"/>
          </p:cNvSpPr>
          <p:nvPr/>
        </p:nvSpPr>
        <p:spPr>
          <a:xfrm>
            <a:off x="609600" y="1765300"/>
            <a:ext cx="5334000" cy="571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卡片标题 52"/>
          <p:cNvSpPr>
            <a:spLocks noGrp="1"/>
          </p:cNvSpPr>
          <p:nvPr/>
        </p:nvSpPr>
        <p:spPr>
          <a:xfrm>
            <a:off x="8001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1. 现象：增强组损失普遍高于 none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卡片正文 53"/>
          <p:cNvSpPr>
            <a:spLocks noGrp="1"/>
          </p:cNvSpPr>
          <p:nvPr/>
        </p:nvSpPr>
        <p:spPr>
          <a:xfrm>
            <a:off x="8001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随机帧划分下，none 验证 MSE 最低。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flip_only / donkey_safe / MixUp / CutMix 等均未超过 baseline。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增强没有直接带来收益，甚至表现为反向效果。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数据增强卡片 54"/>
          <p:cNvSpPr>
            <a:spLocks noGrp="1"/>
          </p:cNvSpPr>
          <p:nvPr/>
        </p:nvSpPr>
        <p:spPr>
          <a:xfrm>
            <a:off x="62484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卡片强调线 55"/>
          <p:cNvSpPr>
            <a:spLocks noGrp="1"/>
          </p:cNvSpPr>
          <p:nvPr/>
        </p:nvSpPr>
        <p:spPr>
          <a:xfrm>
            <a:off x="6248400" y="1765300"/>
            <a:ext cx="5334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卡片标题 56"/>
          <p:cNvSpPr>
            <a:spLocks noGrp="1"/>
          </p:cNvSpPr>
          <p:nvPr/>
        </p:nvSpPr>
        <p:spPr>
          <a:xfrm>
            <a:off x="64389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2. 判断：几何增强造成标签冲突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卡片正文 57"/>
          <p:cNvSpPr>
            <a:spLocks noGrp="1"/>
          </p:cNvSpPr>
          <p:nvPr/>
        </p:nvSpPr>
        <p:spPr>
          <a:xfrm>
            <a:off x="64389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随机裁剪改变车道线在图像中的相对位置。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随机旋转改变车道方向和地平线结构。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steering label 未同步修正时，形成冲突样本。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数据增强卡片 58"/>
          <p:cNvSpPr>
            <a:spLocks noGrp="1"/>
          </p:cNvSpPr>
          <p:nvPr/>
        </p:nvSpPr>
        <p:spPr>
          <a:xfrm>
            <a:off x="6096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卡片强调线 59"/>
          <p:cNvSpPr>
            <a:spLocks noGrp="1"/>
          </p:cNvSpPr>
          <p:nvPr/>
        </p:nvSpPr>
        <p:spPr>
          <a:xfrm>
            <a:off x="609600" y="3524250"/>
            <a:ext cx="5334000" cy="571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卡片标题 60"/>
          <p:cNvSpPr>
            <a:spLocks noGrp="1"/>
          </p:cNvSpPr>
          <p:nvPr/>
        </p:nvSpPr>
        <p:spPr>
          <a:xfrm>
            <a:off x="8001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3. 排查：关闭裁剪/旋转后仍然变差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卡片正文 61"/>
          <p:cNvSpPr>
            <a:spLocks noGrp="1"/>
          </p:cNvSpPr>
          <p:nvPr/>
        </p:nvSpPr>
        <p:spPr>
          <a:xfrm>
            <a:off x="8001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说明问题不只来自几何增强。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DonkeyCar 是连续视频帧，随机划分会产生大量相邻帧泄漏。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none 的低损失包含记忆相邻帧的水分。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数据增强卡片 62"/>
          <p:cNvSpPr>
            <a:spLocks noGrp="1"/>
          </p:cNvSpPr>
          <p:nvPr/>
        </p:nvSpPr>
        <p:spPr>
          <a:xfrm>
            <a:off x="62484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卡片强调线 63"/>
          <p:cNvSpPr>
            <a:spLocks noGrp="1"/>
          </p:cNvSpPr>
          <p:nvPr/>
        </p:nvSpPr>
        <p:spPr>
          <a:xfrm>
            <a:off x="6248400" y="3524250"/>
            <a:ext cx="5334000" cy="571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卡片标题 64"/>
          <p:cNvSpPr>
            <a:spLocks noGrp="1"/>
          </p:cNvSpPr>
          <p:nvPr/>
        </p:nvSpPr>
        <p:spPr>
          <a:xfrm>
            <a:off x="64389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4. 修正：任务一致增强 + 时间划分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卡片正文 65"/>
          <p:cNvSpPr>
            <a:spLocks noGrp="1"/>
          </p:cNvSpPr>
          <p:nvPr/>
        </p:nvSpPr>
        <p:spPr>
          <a:xfrm>
            <a:off x="64389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暂时关闭随机裁剪、随机旋转。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保留水平翻转，并对 steering label 取反。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轻量光照/噪声扰动，加入 temporal split + purge gap。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新增 val loss 曲线，比较各策略收敛过程。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结论卡片"/>
          <p:cNvSpPr>
            <a:spLocks noGrp="1"/>
          </p:cNvSpPr>
          <p:nvPr/>
        </p:nvSpPr>
        <p:spPr>
          <a:xfrm>
            <a:off x="609600" y="5238750"/>
            <a:ext cx="10972800" cy="762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结论强调线"/>
          <p:cNvSpPr>
            <a:spLocks noGrp="1"/>
          </p:cNvSpPr>
          <p:nvPr/>
        </p:nvSpPr>
        <p:spPr>
          <a:xfrm>
            <a:off x="609600" y="5238750"/>
            <a:ext cx="57150" cy="7620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结论文字"/>
          <p:cNvSpPr>
            <a:spLocks noGrp="1"/>
          </p:cNvSpPr>
          <p:nvPr/>
        </p:nvSpPr>
        <p:spPr>
          <a:xfrm>
            <a:off x="800100" y="5381625"/>
            <a:ext cx="10591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结论：行为克隆回归任务的数据增强必须保证视觉变化与 steering label 物理一致；否则增强会制造错误监督。</a:t>
            </a:r>
            <a:endParaRPr sz="11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关键证据"/>
          <p:cNvSpPr>
            <a:spLocks noGrp="1"/>
          </p:cNvSpPr>
          <p:nvPr/>
        </p:nvSpPr>
        <p:spPr>
          <a:xfrm>
            <a:off x="800100" y="5686425"/>
            <a:ext cx="10591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5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关键证据：随机帧划分中，验证帧附近 ±1 帧训练邻居约 96.2%，±5 帧约 100%；新 split 使用 temporal block + purge gap 降低泄漏。</a:t>
            </a:r>
            <a:endParaRPr sz="85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页脚分隔线"/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页码"/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0047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0D47373A-E432-8938-83DC-F905A0CE52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5C3466-32D6-079C-B712-1B185C618EE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0682F5-2E32-96D7-C246-28D83080BDE2}"/>
              </a:ext>
            </a:extLst>
          </p:cNvPr>
          <p:cNvSpPr txBox="1"/>
          <p:nvPr/>
        </p:nvSpPr>
        <p:spPr>
          <a:xfrm>
            <a:off x="609600" y="381000"/>
            <a:ext cx="279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第十部分 </a:t>
            </a:r>
            <a:r>
              <a:rPr lang="en-US" altLang="zh-CN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困难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60C526-5BA6-9B57-A25D-D14B516B3104}"/>
              </a:ext>
            </a:extLst>
          </p:cNvPr>
          <p:cNvSpPr txBox="1"/>
          <p:nvPr/>
        </p:nvSpPr>
        <p:spPr>
          <a:xfrm>
            <a:off x="609600" y="736600"/>
            <a:ext cx="965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困难二：完整 </a:t>
            </a:r>
            <a:r>
              <a:rPr lang="en-US" altLang="zh-CN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大融合没有比不融合更快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3789B2-E835-7B6F-AE33-40FA1DB90A9A}"/>
              </a:ext>
            </a:extLst>
          </p:cNvPr>
          <p:cNvSpPr txBox="1"/>
          <p:nvPr/>
        </p:nvSpPr>
        <p:spPr>
          <a:xfrm>
            <a:off x="609600" y="1320800"/>
            <a:ext cx="10414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这不是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或图扫描失败，而是“融合粒度变大”后，底层卷积、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workspace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没有同步升级为 </a:t>
            </a:r>
            <a:r>
              <a:rPr lang="en-US" altLang="zh-CN" sz="105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cuDNN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/CUTLASS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级高性能实现。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53C3C6-B77C-15A8-3E2A-6E42389C1203}"/>
              </a:ext>
            </a:extLst>
          </p:cNvPr>
          <p:cNvSpPr/>
          <p:nvPr/>
        </p:nvSpPr>
        <p:spPr>
          <a:xfrm>
            <a:off x="698500" y="1905000"/>
            <a:ext cx="38100" cy="736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DEBADD-A2FC-98A6-4418-CF3182098338}"/>
              </a:ext>
            </a:extLst>
          </p:cNvPr>
          <p:cNvSpPr txBox="1"/>
          <p:nvPr/>
        </p:nvSpPr>
        <p:spPr>
          <a:xfrm>
            <a:off x="8509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13.63x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B72999-E939-A857-DFB3-D9785CE73BBE}"/>
              </a:ext>
            </a:extLst>
          </p:cNvPr>
          <p:cNvSpPr txBox="1"/>
          <p:nvPr/>
        </p:nvSpPr>
        <p:spPr>
          <a:xfrm>
            <a:off x="8509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total batch p50 </a:t>
            </a:r>
            <a:r>
              <a:rPr lang="zh-CN" altLang="en-US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慢于 </a:t>
            </a:r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PyTorch</a:t>
            </a:r>
            <a:endParaRPr lang="zh-CN" altLang="en-US" sz="82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2BD978-2751-84A1-F4BC-6ECFFEAF4FD6}"/>
              </a:ext>
            </a:extLst>
          </p:cNvPr>
          <p:cNvSpPr/>
          <p:nvPr/>
        </p:nvSpPr>
        <p:spPr>
          <a:xfrm>
            <a:off x="3022600" y="1905000"/>
            <a:ext cx="38100" cy="736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C899FE-58E6-5B9C-4465-A29D031CB05D}"/>
              </a:ext>
            </a:extLst>
          </p:cNvPr>
          <p:cNvSpPr txBox="1"/>
          <p:nvPr/>
        </p:nvSpPr>
        <p:spPr>
          <a:xfrm>
            <a:off x="31750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28.20x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ADC0B9-22F9-9A2D-5B71-577D954D080D}"/>
              </a:ext>
            </a:extLst>
          </p:cNvPr>
          <p:cNvSpPr txBox="1"/>
          <p:nvPr/>
        </p:nvSpPr>
        <p:spPr>
          <a:xfrm>
            <a:off x="31750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backward p50 </a:t>
            </a:r>
            <a:r>
              <a:rPr lang="zh-CN" altLang="en-US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是最大瓶颈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06E175-D584-7A14-8F37-CA602755CCC5}"/>
              </a:ext>
            </a:extLst>
          </p:cNvPr>
          <p:cNvSpPr/>
          <p:nvPr/>
        </p:nvSpPr>
        <p:spPr>
          <a:xfrm>
            <a:off x="5346700" y="1905000"/>
            <a:ext cx="38100" cy="7366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FD707B-2101-FCCB-6818-E1DEDF902BEE}"/>
              </a:ext>
            </a:extLst>
          </p:cNvPr>
          <p:cNvSpPr txBox="1"/>
          <p:nvPr/>
        </p:nvSpPr>
        <p:spPr>
          <a:xfrm>
            <a:off x="54991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0.0047 ms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DB17E0-0755-5ADC-22FF-73E4D0BC3210}"/>
              </a:ext>
            </a:extLst>
          </p:cNvPr>
          <p:cNvSpPr txBox="1"/>
          <p:nvPr/>
        </p:nvSpPr>
        <p:spPr>
          <a:xfrm>
            <a:off x="54991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loader fetch p50 </a:t>
            </a:r>
            <a:r>
              <a:rPr lang="zh-CN" altLang="en-US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很低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1D9ADD-6CFA-6A1B-25C6-492E216DF75F}"/>
              </a:ext>
            </a:extLst>
          </p:cNvPr>
          <p:cNvSpPr/>
          <p:nvPr/>
        </p:nvSpPr>
        <p:spPr>
          <a:xfrm>
            <a:off x="8077200" y="1905000"/>
            <a:ext cx="38100" cy="736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B76ED3-90CF-0B7A-3F70-4FF4DBA44374}"/>
              </a:ext>
            </a:extLst>
          </p:cNvPr>
          <p:cNvSpPr txBox="1"/>
          <p:nvPr/>
        </p:nvSpPr>
        <p:spPr>
          <a:xfrm>
            <a:off x="82296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302ADA-F944-5288-8277-C1715298699A}"/>
              </a:ext>
            </a:extLst>
          </p:cNvPr>
          <p:cNvSpPr txBox="1"/>
          <p:nvPr/>
        </p:nvSpPr>
        <p:spPr>
          <a:xfrm>
            <a:off x="82296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当前训练 </a:t>
            </a:r>
            <a:r>
              <a:rPr lang="en-US" altLang="zh-CN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默认策略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7CE944-858F-D31C-C521-21F36D7BD137}"/>
              </a:ext>
            </a:extLst>
          </p:cNvPr>
          <p:cNvSpPr/>
          <p:nvPr/>
        </p:nvSpPr>
        <p:spPr>
          <a:xfrm>
            <a:off x="889000" y="3048000"/>
            <a:ext cx="1651000" cy="558800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17C2A84-57DB-C10D-6958-6403CEC65E1B}"/>
              </a:ext>
            </a:extLst>
          </p:cNvPr>
          <p:cNvSpPr txBox="1"/>
          <p:nvPr/>
        </p:nvSpPr>
        <p:spPr>
          <a:xfrm>
            <a:off x="965200" y="3162300"/>
            <a:ext cx="1498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期望：节点更少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359C0A5-6480-AC99-12AB-D7A8C72317A0}"/>
              </a:ext>
            </a:extLst>
          </p:cNvPr>
          <p:cNvCxnSpPr/>
          <p:nvPr/>
        </p:nvCxnSpPr>
        <p:spPr>
          <a:xfrm>
            <a:off x="2641600" y="3327400"/>
            <a:ext cx="698500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0DC5FCC-FCA6-885D-BC95-B368468EC960}"/>
              </a:ext>
            </a:extLst>
          </p:cNvPr>
          <p:cNvSpPr txBox="1"/>
          <p:nvPr/>
        </p:nvSpPr>
        <p:spPr>
          <a:xfrm>
            <a:off x="32385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0F766E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9D1C0D-42E8-0831-20B0-C9DDC084E40A}"/>
              </a:ext>
            </a:extLst>
          </p:cNvPr>
          <p:cNvSpPr/>
          <p:nvPr/>
        </p:nvSpPr>
        <p:spPr>
          <a:xfrm>
            <a:off x="3454400" y="3048000"/>
            <a:ext cx="2032000" cy="55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584396-8D36-666D-582F-CAAC31A9FA02}"/>
              </a:ext>
            </a:extLst>
          </p:cNvPr>
          <p:cNvSpPr txBox="1"/>
          <p:nvPr/>
        </p:nvSpPr>
        <p:spPr>
          <a:xfrm>
            <a:off x="3530600" y="3162300"/>
            <a:ext cx="1879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Conv+BN+ReLU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大融合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379E129-0590-C65F-EE2A-9B23DEC36E0D}"/>
              </a:ext>
            </a:extLst>
          </p:cNvPr>
          <p:cNvCxnSpPr/>
          <p:nvPr/>
        </p:nvCxnSpPr>
        <p:spPr>
          <a:xfrm>
            <a:off x="5588000" y="3327400"/>
            <a:ext cx="698500" cy="0"/>
          </a:xfrm>
          <a:prstGeom prst="line">
            <a:avLst/>
          </a:prstGeom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D20C681-9C7C-CF2E-3BEA-FA5E571AE9E1}"/>
              </a:ext>
            </a:extLst>
          </p:cNvPr>
          <p:cNvSpPr txBox="1"/>
          <p:nvPr/>
        </p:nvSpPr>
        <p:spPr>
          <a:xfrm>
            <a:off x="61849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F9731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F973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0D978E9-7FE1-3654-EB11-F1A8954B2D8B}"/>
              </a:ext>
            </a:extLst>
          </p:cNvPr>
          <p:cNvSpPr/>
          <p:nvPr/>
        </p:nvSpPr>
        <p:spPr>
          <a:xfrm>
            <a:off x="6400800" y="3048000"/>
            <a:ext cx="1905000" cy="5588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22CF7A0-E830-9C75-8E15-E25BDF5755C7}"/>
              </a:ext>
            </a:extLst>
          </p:cNvPr>
          <p:cNvSpPr txBox="1"/>
          <p:nvPr/>
        </p:nvSpPr>
        <p:spPr>
          <a:xfrm>
            <a:off x="6477000" y="3162300"/>
            <a:ext cx="1752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实际：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workspace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变重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33F6EFC-6BE3-C5CA-5969-5F615FCA884B}"/>
              </a:ext>
            </a:extLst>
          </p:cNvPr>
          <p:cNvCxnSpPr/>
          <p:nvPr/>
        </p:nvCxnSpPr>
        <p:spPr>
          <a:xfrm>
            <a:off x="8407400" y="3327400"/>
            <a:ext cx="698500" cy="0"/>
          </a:xfrm>
          <a:prstGeom prst="line">
            <a:avLst/>
          </a:prstGeom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E480DF7-F4A5-D440-2086-EBE5B0852F0B}"/>
              </a:ext>
            </a:extLst>
          </p:cNvPr>
          <p:cNvSpPr txBox="1"/>
          <p:nvPr/>
        </p:nvSpPr>
        <p:spPr>
          <a:xfrm>
            <a:off x="90043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DC262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32D4A99-2540-D587-168E-2508625B607C}"/>
              </a:ext>
            </a:extLst>
          </p:cNvPr>
          <p:cNvSpPr/>
          <p:nvPr/>
        </p:nvSpPr>
        <p:spPr>
          <a:xfrm>
            <a:off x="9220200" y="3048000"/>
            <a:ext cx="2159000" cy="55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BA0243-746C-CFF5-274B-73FBE49F3751}"/>
              </a:ext>
            </a:extLst>
          </p:cNvPr>
          <p:cNvSpPr txBox="1"/>
          <p:nvPr/>
        </p:nvSpPr>
        <p:spPr>
          <a:xfrm>
            <a:off x="9296400" y="3162300"/>
            <a:ext cx="2006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结果：不如 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稳定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BE9F9A2-E21A-3566-1E7A-3C19F97DA07A}"/>
              </a:ext>
            </a:extLst>
          </p:cNvPr>
          <p:cNvSpPr/>
          <p:nvPr/>
        </p:nvSpPr>
        <p:spPr>
          <a:xfrm>
            <a:off x="698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F1F3D4C-3BF9-4276-AD95-BE3190655FC5}"/>
              </a:ext>
            </a:extLst>
          </p:cNvPr>
          <p:cNvSpPr/>
          <p:nvPr/>
        </p:nvSpPr>
        <p:spPr>
          <a:xfrm>
            <a:off x="698500" y="4064000"/>
            <a:ext cx="50800" cy="1371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B50A6F0-17BE-C14F-F6C6-C20F2DE6728D}"/>
              </a:ext>
            </a:extLst>
          </p:cNvPr>
          <p:cNvSpPr txBox="1"/>
          <p:nvPr/>
        </p:nvSpPr>
        <p:spPr>
          <a:xfrm>
            <a:off x="901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：只是图结构融合，不是高性能卷积内核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25BA499-DECA-D567-0EFA-5E426761D91A}"/>
              </a:ext>
            </a:extLst>
          </p:cNvPr>
          <p:cNvSpPr txBox="1"/>
          <p:nvPr/>
        </p:nvSpPr>
        <p:spPr>
          <a:xfrm>
            <a:off x="901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FusedConvBNReLU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内部仍然离不开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im2col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GEMM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BN mean/var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ReLU mask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dCol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col2im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。节点少了，但核心计算路径并没有自动变成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cuDNN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级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kernel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F477004-CF68-3CAA-DF29-8CF97C82C567}"/>
              </a:ext>
            </a:extLst>
          </p:cNvPr>
          <p:cNvSpPr/>
          <p:nvPr/>
        </p:nvSpPr>
        <p:spPr>
          <a:xfrm>
            <a:off x="4381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D8D81D5-4E1A-91EB-950B-AC7EC0B2125B}"/>
              </a:ext>
            </a:extLst>
          </p:cNvPr>
          <p:cNvSpPr/>
          <p:nvPr/>
        </p:nvSpPr>
        <p:spPr>
          <a:xfrm>
            <a:off x="4381500" y="4064000"/>
            <a:ext cx="50800" cy="1371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3228DEE-3507-73D2-F965-D8C2FEAB58FC}"/>
              </a:ext>
            </a:extLst>
          </p:cNvPr>
          <p:cNvSpPr txBox="1"/>
          <p:nvPr/>
        </p:nvSpPr>
        <p:spPr>
          <a:xfrm>
            <a:off x="4584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stem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大输入卷积放大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im2col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成本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CD772AD-1AD6-692B-7C93-5763DB8731DE}"/>
              </a:ext>
            </a:extLst>
          </p:cNvPr>
          <p:cNvSpPr txBox="1"/>
          <p:nvPr/>
        </p:nvSpPr>
        <p:spPr>
          <a:xfrm>
            <a:off x="4584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ResNet18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第一层输入空间大，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大融合会产生更大的临时展开矩阵和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workspace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中最慢节点集中在这类大输入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 conv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上。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D18FD08-4A51-1FA2-B6C1-3B63BEECB9A3}"/>
              </a:ext>
            </a:extLst>
          </p:cNvPr>
          <p:cNvSpPr/>
          <p:nvPr/>
        </p:nvSpPr>
        <p:spPr>
          <a:xfrm>
            <a:off x="8064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B591E09-A8B8-D6B8-B5E0-CEAF09E729D9}"/>
              </a:ext>
            </a:extLst>
          </p:cNvPr>
          <p:cNvSpPr/>
          <p:nvPr/>
        </p:nvSpPr>
        <p:spPr>
          <a:xfrm>
            <a:off x="8064500" y="4064000"/>
            <a:ext cx="50800" cy="13716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6213E76-411F-43F4-DA58-09BECA27A582}"/>
              </a:ext>
            </a:extLst>
          </p:cNvPr>
          <p:cNvSpPr txBox="1"/>
          <p:nvPr/>
        </p:nvSpPr>
        <p:spPr>
          <a:xfrm>
            <a:off x="8267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：训练看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backward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，不只看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forward</a:t>
            </a:r>
            <a:endParaRPr lang="zh-CN" altLang="en-US" sz="135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1DB9AA-9A79-1D94-628F-ED987F4E4DE9}"/>
              </a:ext>
            </a:extLst>
          </p:cNvPr>
          <p:cNvSpPr txBox="1"/>
          <p:nvPr/>
        </p:nvSpPr>
        <p:spPr>
          <a:xfrm>
            <a:off x="8267700" y="4597400"/>
            <a:ext cx="3073400" cy="5786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Conv-BN-Add-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ReLU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要同时处理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gamma/beta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weight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input grad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identity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；当前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比 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PyTorch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慢得多。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7C5848E-3C44-2AE9-C578-0AF242603E9F}"/>
              </a:ext>
            </a:extLst>
          </p:cNvPr>
          <p:cNvSpPr/>
          <p:nvPr/>
        </p:nvSpPr>
        <p:spPr>
          <a:xfrm>
            <a:off x="698500" y="5791200"/>
            <a:ext cx="10795000" cy="609600"/>
          </a:xfrm>
          <a:prstGeom prst="rect">
            <a:avLst/>
          </a:prstGeom>
          <a:solidFill>
            <a:srgbClr val="ECFDF5"/>
          </a:solidFill>
          <a:ln w="952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43A50ED-FBDE-103D-8E9E-80616AA83EFE}"/>
              </a:ext>
            </a:extLst>
          </p:cNvPr>
          <p:cNvSpPr txBox="1"/>
          <p:nvPr/>
        </p:nvSpPr>
        <p:spPr>
          <a:xfrm>
            <a:off x="952500" y="5943600"/>
            <a:ext cx="139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F766E"/>
                </a:solidFill>
                <a:latin typeface="Microsoft YaHei" panose="020B0503020204020204" pitchFamily="34" charset="-122"/>
              </a:rPr>
              <a:t>答辩表述建议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938A955-B692-69E1-7C88-7638735AE5F4}"/>
              </a:ext>
            </a:extLst>
          </p:cNvPr>
          <p:cNvSpPr txBox="1"/>
          <p:nvPr/>
        </p:nvSpPr>
        <p:spPr>
          <a:xfrm>
            <a:off x="2413000" y="5905500"/>
            <a:ext cx="8572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完整 </a:t>
            </a:r>
            <a:r>
              <a:rPr lang="en-US" altLang="zh-CN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的困难不是“不会融合”，而是融合后算子内部还没有真正高性能化；因此训练默认选择 </a:t>
            </a:r>
            <a:r>
              <a:rPr lang="en-US" altLang="zh-CN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融合，把 </a:t>
            </a:r>
            <a:r>
              <a:rPr lang="en-US" altLang="zh-CN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大融合作为实验策略保留。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8BE3C5F-5EFA-51F1-F4A8-38AAC56FA0E8}"/>
              </a:ext>
            </a:extLst>
          </p:cNvPr>
          <p:cNvSpPr txBox="1"/>
          <p:nvPr/>
        </p:nvSpPr>
        <p:spPr>
          <a:xfrm>
            <a:off x="9398000" y="6527800"/>
            <a:ext cx="2159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750">
                <a:solidFill>
                  <a:srgbClr val="64748B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50">
                <a:solidFill>
                  <a:srgbClr val="64748B"/>
                </a:solidFill>
                <a:latin typeface="Microsoft YaHei" panose="020B0503020204020204" pitchFamily="34" charset="-122"/>
              </a:rPr>
              <a:t>自动驾驶框架答辩 </a:t>
            </a:r>
            <a:r>
              <a:rPr lang="en-US" altLang="zh-CN" sz="750">
                <a:solidFill>
                  <a:srgbClr val="64748B"/>
                </a:solidFill>
                <a:latin typeface="Microsoft YaHei" panose="020B0503020204020204" pitchFamily="34" charset="-122"/>
              </a:rPr>
              <a:t>| 18</a:t>
            </a:r>
            <a:endParaRPr lang="zh-CN" altLang="en-US" sz="75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6941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2220</Words>
  <Application>Microsoft Office PowerPoint</Application>
  <DocSecurity>0</DocSecurity>
  <PresentationFormat>宽屏</PresentationFormat>
  <Paragraphs>414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6</cp:revision>
  <dcterms:created xsi:type="dcterms:W3CDTF">2026-05-19T13:12:39Z</dcterms:created>
  <dcterms:modified xsi:type="dcterms:W3CDTF">2026-05-20T16:30:13Z</dcterms:modified>
</cp:coreProperties>
</file>