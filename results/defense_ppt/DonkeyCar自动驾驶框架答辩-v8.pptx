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928384-22F7-0831-B6B2-BFA2185BAF23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C0392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5CEBBD-D2FA-5CDF-DD3B-2EBDBB14DCAC}"/>
              </a:ext>
            </a:extLst>
          </p:cNvPr>
          <p:cNvSpPr txBox="1"/>
          <p:nvPr/>
        </p:nvSpPr>
        <p:spPr>
          <a:xfrm>
            <a:off x="571500" y="241300"/>
            <a:ext cx="4953000" cy="2718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100" b="1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9F0739-F876-507A-1BC1-C50230AFF696}"/>
              </a:ext>
            </a:extLst>
          </p:cNvPr>
          <p:cNvSpPr txBox="1"/>
          <p:nvPr/>
        </p:nvSpPr>
        <p:spPr>
          <a:xfrm>
            <a:off x="330200" y="698500"/>
            <a:ext cx="11430000" cy="456535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1F2933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2300" b="1">
                <a:solidFill>
                  <a:srgbClr val="1F2933"/>
                </a:solidFill>
                <a:latin typeface="Microsoft YaHei" panose="020B0503020204020204" pitchFamily="34" charset="-122"/>
              </a:rPr>
              <a:t>部署链路已迁移：</a:t>
            </a:r>
            <a:r>
              <a:rPr lang="en-US" altLang="zh-CN" sz="2300" b="1">
                <a:solidFill>
                  <a:srgbClr val="1F2933"/>
                </a:solidFill>
                <a:latin typeface="Microsoft YaHei" panose="020B0503020204020204" pitchFamily="34" charset="-122"/>
              </a:rPr>
              <a:t>Docker → K8s Job → Kuflow/Kubeflow </a:t>
            </a:r>
            <a:r>
              <a:rPr lang="zh-CN" altLang="en-US" sz="2300" b="1">
                <a:solidFill>
                  <a:srgbClr val="1F2933"/>
                </a:solidFill>
                <a:latin typeface="Microsoft YaHei" panose="020B0503020204020204" pitchFamily="34" charset="-122"/>
              </a:rPr>
              <a:t>算子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DE3318-1E34-7A8C-43E4-4CA1306897F3}"/>
              </a:ext>
            </a:extLst>
          </p:cNvPr>
          <p:cNvSpPr txBox="1"/>
          <p:nvPr/>
        </p:nvSpPr>
        <p:spPr>
          <a:xfrm>
            <a:off x="355600" y="1409700"/>
            <a:ext cx="114300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当前已从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MNIST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模板扩展到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训练任务：挂载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数据集，运行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ResNet18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转向角回归训练，并输出结果到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/outputs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53CAE8-916D-28C6-EAA9-46ED66231CDB}"/>
              </a:ext>
            </a:extLst>
          </p:cNvPr>
          <p:cNvSpPr/>
          <p:nvPr/>
        </p:nvSpPr>
        <p:spPr>
          <a:xfrm>
            <a:off x="533400" y="2095500"/>
            <a:ext cx="3429000" cy="1905000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7010A2-74E7-0B75-B1D1-D616C24C854E}"/>
              </a:ext>
            </a:extLst>
          </p:cNvPr>
          <p:cNvSpPr/>
          <p:nvPr/>
        </p:nvSpPr>
        <p:spPr>
          <a:xfrm>
            <a:off x="4381500" y="2095500"/>
            <a:ext cx="3429000" cy="1905000"/>
          </a:xfrm>
          <a:prstGeom prst="rect">
            <a:avLst/>
          </a:prstGeom>
          <a:solidFill>
            <a:srgbClr val="F0FDF4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B6EE2C-045F-CBBC-8793-5EDBE5697EA5}"/>
              </a:ext>
            </a:extLst>
          </p:cNvPr>
          <p:cNvSpPr/>
          <p:nvPr/>
        </p:nvSpPr>
        <p:spPr>
          <a:xfrm>
            <a:off x="8229600" y="2095500"/>
            <a:ext cx="3429000" cy="19050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E3DAEC-EE6C-DB1E-F442-01A86A526605}"/>
              </a:ext>
            </a:extLst>
          </p:cNvPr>
          <p:cNvSpPr/>
          <p:nvPr/>
        </p:nvSpPr>
        <p:spPr>
          <a:xfrm>
            <a:off x="533400" y="2095500"/>
            <a:ext cx="3429000" cy="63500"/>
          </a:xfrm>
          <a:prstGeom prst="rect">
            <a:avLst/>
          </a:prstGeom>
          <a:solidFill>
            <a:srgbClr val="2563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5F6E81-49B5-3921-4B9D-98410B07AF64}"/>
              </a:ext>
            </a:extLst>
          </p:cNvPr>
          <p:cNvSpPr/>
          <p:nvPr/>
        </p:nvSpPr>
        <p:spPr>
          <a:xfrm>
            <a:off x="4381500" y="2095500"/>
            <a:ext cx="3429000" cy="63500"/>
          </a:xfrm>
          <a:prstGeom prst="rect">
            <a:avLst/>
          </a:prstGeom>
          <a:solidFill>
            <a:srgbClr val="238B5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EFCE47-D42B-B9F5-1DDD-7D903B586F44}"/>
              </a:ext>
            </a:extLst>
          </p:cNvPr>
          <p:cNvSpPr/>
          <p:nvPr/>
        </p:nvSpPr>
        <p:spPr>
          <a:xfrm>
            <a:off x="8229600" y="2095500"/>
            <a:ext cx="3429000" cy="635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DE6DFE-BEF9-1C93-5940-3850878410E6}"/>
              </a:ext>
            </a:extLst>
          </p:cNvPr>
          <p:cNvSpPr txBox="1"/>
          <p:nvPr/>
        </p:nvSpPr>
        <p:spPr>
          <a:xfrm>
            <a:off x="762000" y="2336800"/>
            <a:ext cx="2921000" cy="31803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Level 1  Docker </a:t>
            </a:r>
            <a:r>
              <a:rPr lang="zh-CN" altLang="en-US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封装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C4AE60-39B4-AF3D-6C8F-B1B62570A847}"/>
              </a:ext>
            </a:extLst>
          </p:cNvPr>
          <p:cNvSpPr txBox="1"/>
          <p:nvPr/>
        </p:nvSpPr>
        <p:spPr>
          <a:xfrm>
            <a:off x="762000" y="2717800"/>
            <a:ext cx="2921000" cy="5180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固化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MyTorch + OpenCV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依赖；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compose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挂载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数据根目录和输出目录，入口为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训练脚本。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B7D26CE-3631-CC6E-492E-FC973135479F}"/>
              </a:ext>
            </a:extLst>
          </p:cNvPr>
          <p:cNvSpPr txBox="1"/>
          <p:nvPr/>
        </p:nvSpPr>
        <p:spPr>
          <a:xfrm>
            <a:off x="762000" y="3644900"/>
            <a:ext cx="2921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 b="1">
                <a:solidFill>
                  <a:srgbClr val="2563EB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00" b="1">
                <a:solidFill>
                  <a:srgbClr val="2563EB"/>
                </a:solidFill>
                <a:latin typeface="Microsoft YaHei" panose="020B0503020204020204" pitchFamily="34" charset="-122"/>
              </a:rPr>
              <a:t>deploy/docker/Dockerfile.donkeycar</a:t>
            </a:r>
            <a:endParaRPr lang="zh-CN" altLang="en-US" sz="7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B80FC1-3F81-ACAD-3371-405B05D6C9B1}"/>
              </a:ext>
            </a:extLst>
          </p:cNvPr>
          <p:cNvSpPr txBox="1"/>
          <p:nvPr/>
        </p:nvSpPr>
        <p:spPr>
          <a:xfrm>
            <a:off x="4610100" y="2336800"/>
            <a:ext cx="2921000" cy="31803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Level 2  Kubernetes Job</a:t>
            </a:r>
            <a:endParaRPr lang="zh-CN" altLang="en-US" sz="1400" b="1">
              <a:solidFill>
                <a:srgbClr val="1F29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526A21-4057-04D9-2DB3-0235E206608E}"/>
              </a:ext>
            </a:extLst>
          </p:cNvPr>
          <p:cNvSpPr txBox="1"/>
          <p:nvPr/>
        </p:nvSpPr>
        <p:spPr>
          <a:xfrm>
            <a:off x="4610100" y="2717800"/>
            <a:ext cx="2921000" cy="5180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donkeycar-training-job.yaml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提交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batch/v1 Job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；数据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PVC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挂载到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/data/donkeycar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，结果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PVC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挂载到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/outputs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，资源限制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4CPU/8Gi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5F0F6B-C40B-06B1-0142-11294E4E1A24}"/>
              </a:ext>
            </a:extLst>
          </p:cNvPr>
          <p:cNvSpPr txBox="1"/>
          <p:nvPr/>
        </p:nvSpPr>
        <p:spPr>
          <a:xfrm>
            <a:off x="4610100" y="3644900"/>
            <a:ext cx="2921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 b="1">
                <a:solidFill>
                  <a:srgbClr val="238B57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00" b="1">
                <a:solidFill>
                  <a:srgbClr val="238B57"/>
                </a:solidFill>
                <a:latin typeface="Microsoft YaHei" panose="020B0503020204020204" pitchFamily="34" charset="-122"/>
              </a:rPr>
              <a:t>deploy/k8s/donkeycar-training-job.yaml</a:t>
            </a:r>
            <a:endParaRPr lang="zh-CN" altLang="en-US" sz="700" b="1">
              <a:solidFill>
                <a:srgbClr val="238B5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66DC69-605B-C54F-AA0D-43DCE75BAF60}"/>
              </a:ext>
            </a:extLst>
          </p:cNvPr>
          <p:cNvSpPr txBox="1"/>
          <p:nvPr/>
        </p:nvSpPr>
        <p:spPr>
          <a:xfrm>
            <a:off x="8458200" y="2336800"/>
            <a:ext cx="2921000" cy="31803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Level 3  Kuflow / Kubeflow</a:t>
            </a:r>
            <a:endParaRPr lang="zh-CN" altLang="en-US" sz="1400" b="1">
              <a:solidFill>
                <a:srgbClr val="1F29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4958846-BEED-3CF1-CFEB-19D330527867}"/>
              </a:ext>
            </a:extLst>
          </p:cNvPr>
          <p:cNvSpPr txBox="1"/>
          <p:nvPr/>
        </p:nvSpPr>
        <p:spPr>
          <a:xfrm>
            <a:off x="8458200" y="2717800"/>
            <a:ext cx="2921000" cy="5180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新增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DONKEYCAR_TRAIN operator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；统一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image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argv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PVC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、资源规格，可编译为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Kubeflow pipeline YAML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DE840FD-F3FB-DBE4-ED77-0A036D65A887}"/>
              </a:ext>
            </a:extLst>
          </p:cNvPr>
          <p:cNvSpPr txBox="1"/>
          <p:nvPr/>
        </p:nvSpPr>
        <p:spPr>
          <a:xfrm>
            <a:off x="8458200" y="3644900"/>
            <a:ext cx="2921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 b="1">
                <a:solidFill>
                  <a:srgbClr val="D99118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00" b="1">
                <a:solidFill>
                  <a:srgbClr val="D99118"/>
                </a:solidFill>
                <a:latin typeface="Microsoft YaHei" panose="020B0503020204020204" pitchFamily="34" charset="-122"/>
              </a:rPr>
              <a:t>kuflow/operators.py, kfp_pipeline.py</a:t>
            </a:r>
            <a:endParaRPr lang="zh-CN" altLang="en-US" sz="700" b="1">
              <a:solidFill>
                <a:srgbClr val="D9911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FBCE44E2-754F-C4F7-CB1C-1ED39512491F}"/>
              </a:ext>
            </a:extLst>
          </p:cNvPr>
          <p:cNvSpPr/>
          <p:nvPr/>
        </p:nvSpPr>
        <p:spPr>
          <a:xfrm>
            <a:off x="4000500" y="2857500"/>
            <a:ext cx="342900" cy="279400"/>
          </a:xfrm>
          <a:prstGeom prst="rightArrow">
            <a:avLst/>
          </a:prstGeom>
          <a:solidFill>
            <a:srgbClr val="5B69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65D98A04-C8F6-5EFD-E9A6-CD78E2D9CB4E}"/>
              </a:ext>
            </a:extLst>
          </p:cNvPr>
          <p:cNvSpPr/>
          <p:nvPr/>
        </p:nvSpPr>
        <p:spPr>
          <a:xfrm>
            <a:off x="7848600" y="2857500"/>
            <a:ext cx="342900" cy="279400"/>
          </a:xfrm>
          <a:prstGeom prst="rightArrow">
            <a:avLst/>
          </a:prstGeom>
          <a:solidFill>
            <a:srgbClr val="5B69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10AD737-7F2A-5D67-9172-7895292D2DC3}"/>
              </a:ext>
            </a:extLst>
          </p:cNvPr>
          <p:cNvSpPr/>
          <p:nvPr/>
        </p:nvSpPr>
        <p:spPr>
          <a:xfrm>
            <a:off x="533400" y="4292600"/>
            <a:ext cx="5283200" cy="914400"/>
          </a:xfrm>
          <a:prstGeom prst="rect">
            <a:avLst/>
          </a:prstGeom>
          <a:solidFill>
            <a:srgbClr val="FDFCF8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BD416B4-E0D6-E49B-2718-4F9F885217D2}"/>
              </a:ext>
            </a:extLst>
          </p:cNvPr>
          <p:cNvSpPr txBox="1"/>
          <p:nvPr/>
        </p:nvSpPr>
        <p:spPr>
          <a:xfrm>
            <a:off x="736600" y="4470400"/>
            <a:ext cx="48895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已补齐能力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867C3FE-871D-391D-7112-6E7959F07AD4}"/>
              </a:ext>
            </a:extLst>
          </p:cNvPr>
          <p:cNvSpPr txBox="1"/>
          <p:nvPr/>
        </p:nvSpPr>
        <p:spPr>
          <a:xfrm>
            <a:off x="736600" y="4775200"/>
            <a:ext cx="4889500" cy="3795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 Docker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镜像、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compose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启动、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K8s Job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Kuflow operator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deployment benchmark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脚本均已新增。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A75C917-C30C-BF3D-A236-34388FFA29DB}"/>
              </a:ext>
            </a:extLst>
          </p:cNvPr>
          <p:cNvSpPr/>
          <p:nvPr/>
        </p:nvSpPr>
        <p:spPr>
          <a:xfrm>
            <a:off x="6375400" y="4292600"/>
            <a:ext cx="5283200" cy="914400"/>
          </a:xfrm>
          <a:prstGeom prst="rect">
            <a:avLst/>
          </a:prstGeom>
          <a:solidFill>
            <a:srgbClr val="F5F3FF"/>
          </a:solidFill>
          <a:ln w="13970">
            <a:solidFill>
              <a:srgbClr val="7048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94FE204-9EE7-9752-F1B7-FF757F11C1EE}"/>
              </a:ext>
            </a:extLst>
          </p:cNvPr>
          <p:cNvSpPr txBox="1"/>
          <p:nvPr/>
        </p:nvSpPr>
        <p:spPr>
          <a:xfrm>
            <a:off x="6578600" y="4470400"/>
            <a:ext cx="48895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仍需实验证明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06AB59C-8D3C-E489-F238-C12D7B961BBB}"/>
              </a:ext>
            </a:extLst>
          </p:cNvPr>
          <p:cNvSpPr txBox="1"/>
          <p:nvPr/>
        </p:nvSpPr>
        <p:spPr>
          <a:xfrm>
            <a:off x="6578600" y="4775200"/>
            <a:ext cx="48895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需要补跑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Docker/K8s/Kubeflow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的实际日志、墙钟时间、资源占用和可复现实验截图。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1CFDFA4-15E2-7832-F734-6BFBD0CBFC27}"/>
              </a:ext>
            </a:extLst>
          </p:cNvPr>
          <p:cNvSpPr/>
          <p:nvPr/>
        </p:nvSpPr>
        <p:spPr>
          <a:xfrm>
            <a:off x="533400" y="5410200"/>
            <a:ext cx="11125200" cy="965200"/>
          </a:xfrm>
          <a:prstGeom prst="rect">
            <a:avLst/>
          </a:prstGeom>
          <a:solidFill>
            <a:srgbClr val="FDFCF8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4B40BDA-4089-1988-D3C9-55B384D64488}"/>
              </a:ext>
            </a:extLst>
          </p:cNvPr>
          <p:cNvSpPr txBox="1"/>
          <p:nvPr/>
        </p:nvSpPr>
        <p:spPr>
          <a:xfrm>
            <a:off x="736600" y="5588000"/>
            <a:ext cx="20320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需要补充的实验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01EC82C-024C-8050-FF9C-0AA4DAD078D3}"/>
              </a:ext>
            </a:extLst>
          </p:cNvPr>
          <p:cNvSpPr txBox="1"/>
          <p:nvPr/>
        </p:nvSpPr>
        <p:spPr>
          <a:xfrm>
            <a:off x="736600" y="5892800"/>
            <a:ext cx="10414000" cy="348813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1. docker build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镜像大小与构建耗时；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2. docker run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训练日志、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wall time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、输出文件；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3. kubectl apply/logs/pod describe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CPU/Mem requests/limits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4. Kubeflow pipeline YAML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编译与运行截图；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5. local vs Docker vs K8s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训练耗时对比，至少重复 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次。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09DB9E9-D4EA-5020-E326-9A7F0D7BA991}"/>
              </a:ext>
            </a:extLst>
          </p:cNvPr>
          <p:cNvSpPr/>
          <p:nvPr/>
        </p:nvSpPr>
        <p:spPr>
          <a:xfrm>
            <a:off x="330200" y="66040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DEF3C8A-CB64-C9DA-888D-7AAFF86D94D8}"/>
              </a:ext>
            </a:extLst>
          </p:cNvPr>
          <p:cNvSpPr txBox="1"/>
          <p:nvPr/>
        </p:nvSpPr>
        <p:spPr>
          <a:xfrm>
            <a:off x="355600" y="6654800"/>
            <a:ext cx="10604500" cy="194925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600">
                <a:solidFill>
                  <a:srgbClr val="5B6978"/>
                </a:solidFill>
                <a:latin typeface="Microsoft YaHei" panose="020B0503020204020204" pitchFamily="34" charset="-122"/>
              </a:rPr>
              <a:t>新增代码：</a:t>
            </a:r>
            <a:r>
              <a:rPr lang="en-US" altLang="zh-CN" sz="600">
                <a:solidFill>
                  <a:srgbClr val="5B6978"/>
                </a:solidFill>
                <a:latin typeface="Microsoft YaHei" panose="020B0503020204020204" pitchFamily="34" charset="-122"/>
              </a:rPr>
              <a:t>deploy/docker/Dockerfile.donkeycar</a:t>
            </a:r>
            <a:r>
              <a:rPr lang="zh-CN" altLang="en-US" sz="6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600">
                <a:solidFill>
                  <a:srgbClr val="5B6978"/>
                </a:solidFill>
                <a:latin typeface="Microsoft YaHei" panose="020B0503020204020204" pitchFamily="34" charset="-122"/>
              </a:rPr>
              <a:t>docker-compose.donkeycar.yml</a:t>
            </a:r>
            <a:r>
              <a:rPr lang="zh-CN" altLang="en-US" sz="6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600">
                <a:solidFill>
                  <a:srgbClr val="5B6978"/>
                </a:solidFill>
                <a:latin typeface="Microsoft YaHei" panose="020B0503020204020204" pitchFamily="34" charset="-122"/>
              </a:rPr>
              <a:t>deploy/k8s/donkeycar-training-job.yaml</a:t>
            </a:r>
            <a:r>
              <a:rPr lang="zh-CN" altLang="en-US" sz="6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600">
                <a:solidFill>
                  <a:srgbClr val="5B6978"/>
                </a:solidFill>
                <a:latin typeface="Microsoft YaHei" panose="020B0503020204020204" pitchFamily="34" charset="-122"/>
              </a:rPr>
              <a:t>kuflow/operators.py</a:t>
            </a:r>
            <a:r>
              <a:rPr lang="zh-CN" altLang="en-US" sz="6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600">
                <a:solidFill>
                  <a:srgbClr val="5B6978"/>
                </a:solidFill>
                <a:latin typeface="Microsoft YaHei" panose="020B0503020204020204" pitchFamily="34" charset="-122"/>
              </a:rPr>
              <a:t>experiments/benchmark_donkeycar_deployment_modes.py</a:t>
            </a:r>
            <a:endParaRPr lang="zh-CN" altLang="en-US" sz="6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07A9BDD-10A6-1FB3-49D6-D69F41D37F90}"/>
              </a:ext>
            </a:extLst>
          </p:cNvPr>
          <p:cNvSpPr txBox="1"/>
          <p:nvPr/>
        </p:nvSpPr>
        <p:spPr>
          <a:xfrm>
            <a:off x="11747500" y="6654800"/>
            <a:ext cx="381000" cy="225703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5715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donkey_safe / MixUp / CutMix 等均未超过 baseline。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5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85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或图扫描失败，而是“融合粒度变大”后，底层卷积、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43A50ED-FBDE-103D-8E9E-80616AA83EFE}"/>
              </a:ext>
            </a:extLst>
          </p:cNvPr>
          <p:cNvSpPr txBox="1"/>
          <p:nvPr/>
        </p:nvSpPr>
        <p:spPr>
          <a:xfrm>
            <a:off x="952500" y="59436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F766E"/>
                </a:solidFill>
                <a:latin typeface="Microsoft YaHei" panose="020B0503020204020204" pitchFamily="34" charset="-122"/>
              </a:rPr>
              <a:t>答辩表述建议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8BE3C5F-5EFA-51F1-F4A8-38AAC56FA0E8}"/>
              </a:ext>
            </a:extLst>
          </p:cNvPr>
          <p:cNvSpPr txBox="1"/>
          <p:nvPr/>
        </p:nvSpPr>
        <p:spPr>
          <a:xfrm>
            <a:off x="9398000" y="6527800"/>
            <a:ext cx="2159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50">
                <a:solidFill>
                  <a:srgbClr val="64748B"/>
                </a:solidFill>
                <a:latin typeface="Microsoft YaHei" panose="020B0503020204020204" pitchFamily="34" charset="-122"/>
              </a:rPr>
              <a:t>自动驾驶框架答辩 </a:t>
            </a:r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| 18</a:t>
            </a:r>
            <a:endParaRPr lang="zh-CN" altLang="en-US" sz="75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2416</Words>
  <Application>Microsoft Office PowerPoint</Application>
  <DocSecurity>0</DocSecurity>
  <PresentationFormat>宽屏</PresentationFormat>
  <Paragraphs>400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13</cp:revision>
  <dcterms:created xsi:type="dcterms:W3CDTF">2026-05-19T13:12:39Z</dcterms:created>
  <dcterms:modified xsi:type="dcterms:W3CDTF">2026-05-21T03:32:17Z</dcterms:modified>
</cp:coreProperties>
</file>