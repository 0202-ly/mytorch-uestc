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4d2186837e486f" /><Relationship Type="http://schemas.openxmlformats.org/officeDocument/2006/relationships/extended-properties" Target="/docProps/app.xml" Id="R9ebb58b46f6a49b5" /><Relationship Type="http://schemas.openxmlformats.org/officeDocument/2006/relationships/officeDocument" Target="/ppt/presentation.xml" Id="R8a3e85f34df346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ea2e6b074d4785"/>
  </p:sldMasterIdLst>
  <p:notesMasterIdLst>
    <p:notesMasterId xmlns:r="http://schemas.openxmlformats.org/officeDocument/2006/relationships" r:id="R03e4e85b56da46a7"/>
  </p:notesMasterIdLst>
  <p:sldIdLst>
    <p:sldId xmlns:r="http://schemas.openxmlformats.org/officeDocument/2006/relationships" id="256" r:id="Rbeea692bc1f34c37"/>
    <p:sldId xmlns:r="http://schemas.openxmlformats.org/officeDocument/2006/relationships" id="257" r:id="Rcb2da148b3124c95"/>
    <p:sldId xmlns:r="http://schemas.openxmlformats.org/officeDocument/2006/relationships" id="258" r:id="Rc5c39c212480401b"/>
    <p:sldId xmlns:r="http://schemas.openxmlformats.org/officeDocument/2006/relationships" id="259" r:id="Ref5b5ae856a84305"/>
    <p:sldId xmlns:r="http://schemas.openxmlformats.org/officeDocument/2006/relationships" id="260" r:id="R829b05f1a8ed41b3"/>
    <p:sldId xmlns:r="http://schemas.openxmlformats.org/officeDocument/2006/relationships" id="261" r:id="R129650a35b4b40f2"/>
    <p:sldId xmlns:r="http://schemas.openxmlformats.org/officeDocument/2006/relationships" id="262" r:id="R244a2a12ec244af2"/>
    <p:sldId xmlns:r="http://schemas.openxmlformats.org/officeDocument/2006/relationships" id="263" r:id="Rc453e34477fe4f5c"/>
    <p:sldId xmlns:r="http://schemas.openxmlformats.org/officeDocument/2006/relationships" id="264" r:id="R3468ec7fb0fb4e83"/>
    <p:sldId xmlns:r="http://schemas.openxmlformats.org/officeDocument/2006/relationships" id="265" r:id="Rfc699e16496e4225"/>
    <p:sldId xmlns:r="http://schemas.openxmlformats.org/officeDocument/2006/relationships" id="266" r:id="R4e614234273a4034"/>
    <p:sldId xmlns:r="http://schemas.openxmlformats.org/officeDocument/2006/relationships" id="267" r:id="Rfc846185132549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a2e6b074d4785" /><Relationship Type="http://schemas.openxmlformats.org/officeDocument/2006/relationships/theme" Target="/ppt/theme/theme1.xml" Id="Rdfa17149a102463c" /><Relationship Type="http://schemas.openxmlformats.org/officeDocument/2006/relationships/notesMaster" Target="/ppt/notesMasters/notesMaster1.xml" Id="R03e4e85b56da46a7" /><Relationship Type="http://schemas.openxmlformats.org/officeDocument/2006/relationships/presProps" Target="/ppt/presProps.xml" Id="R77383d138966478a" /><Relationship Type="http://schemas.openxmlformats.org/officeDocument/2006/relationships/viewProps" Target="/ppt/viewProps.xml" Id="R1438c14cf2e04c1d" /><Relationship Type="http://schemas.openxmlformats.org/officeDocument/2006/relationships/tableStyles" Target="/ppt/tableStyles.xml" Id="Rb733f1201b7f46b9" /><Relationship Type="http://schemas.openxmlformats.org/officeDocument/2006/relationships/slide" Target="/ppt/slides/slide1.xml" Id="Rbeea692bc1f34c37" /><Relationship Type="http://schemas.openxmlformats.org/officeDocument/2006/relationships/slide" Target="/ppt/slides/slide2.xml" Id="Rcb2da148b3124c95" /><Relationship Type="http://schemas.openxmlformats.org/officeDocument/2006/relationships/slide" Target="/ppt/slides/slide3.xml" Id="Rc5c39c212480401b" /><Relationship Type="http://schemas.openxmlformats.org/officeDocument/2006/relationships/slide" Target="/ppt/slides/slide4.xml" Id="Ref5b5ae856a84305" /><Relationship Type="http://schemas.openxmlformats.org/officeDocument/2006/relationships/slide" Target="/ppt/slides/slide5.xml" Id="R829b05f1a8ed41b3" /><Relationship Type="http://schemas.openxmlformats.org/officeDocument/2006/relationships/slide" Target="/ppt/slides/slide6.xml" Id="R129650a35b4b40f2" /><Relationship Type="http://schemas.openxmlformats.org/officeDocument/2006/relationships/slide" Target="/ppt/slides/slide7.xml" Id="R244a2a12ec244af2" /><Relationship Type="http://schemas.openxmlformats.org/officeDocument/2006/relationships/slide" Target="/ppt/slides/slide8.xml" Id="Rc453e34477fe4f5c" /><Relationship Type="http://schemas.openxmlformats.org/officeDocument/2006/relationships/slide" Target="/ppt/slides/slide9.xml" Id="R3468ec7fb0fb4e83" /><Relationship Type="http://schemas.openxmlformats.org/officeDocument/2006/relationships/slide" Target="/ppt/slides/slide10.xml" Id="Rfc699e16496e4225" /><Relationship Type="http://schemas.openxmlformats.org/officeDocument/2006/relationships/slide" Target="/ppt/slides/slide11.xml" Id="R4e614234273a4034" /><Relationship Type="http://schemas.openxmlformats.org/officeDocument/2006/relationships/slide" Target="/ppt/slides/slide12.xml" Id="Rfc846185132549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64647731f4744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8ea8d5a1364d69" /><Relationship Type="http://schemas.openxmlformats.org/officeDocument/2006/relationships/notesMaster" Target="/ppt/notesMasters/notesMaster1.xml" Id="R647298d7a8514d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b1fa48b7aa449a" /><Relationship Type="http://schemas.openxmlformats.org/officeDocument/2006/relationships/notesMaster" Target="/ppt/notesMasters/notesMaster1.xml" Id="Rf3058db438de4b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04ca131e0f439e" /><Relationship Type="http://schemas.openxmlformats.org/officeDocument/2006/relationships/notesMaster" Target="/ppt/notesMasters/notesMaster1.xml" Id="R2d4ce4ca1abc45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9bf04e549a45fa" /><Relationship Type="http://schemas.openxmlformats.org/officeDocument/2006/relationships/notesMaster" Target="/ppt/notesMasters/notesMaster1.xml" Id="R0c5fda9302464e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01d9903bb94cf3" /><Relationship Type="http://schemas.openxmlformats.org/officeDocument/2006/relationships/notesMaster" Target="/ppt/notesMasters/notesMaster1.xml" Id="R28ecea053f9a45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0b4485b2224f2d" /><Relationship Type="http://schemas.openxmlformats.org/officeDocument/2006/relationships/notesMaster" Target="/ppt/notesMasters/notesMaster1.xml" Id="Re543b9c11f7d4a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7e58037e994c4f" /><Relationship Type="http://schemas.openxmlformats.org/officeDocument/2006/relationships/notesMaster" Target="/ppt/notesMasters/notesMaster1.xml" Id="R171b5b226fd34f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6b91eb70914526" /><Relationship Type="http://schemas.openxmlformats.org/officeDocument/2006/relationships/notesMaster" Target="/ppt/notesMasters/notesMaster1.xml" Id="Ra095f199177341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e0992f75a444ac" /><Relationship Type="http://schemas.openxmlformats.org/officeDocument/2006/relationships/notesMaster" Target="/ppt/notesMasters/notesMaster1.xml" Id="Rb9ab8664c2be4c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fb53a9631b45ac" /><Relationship Type="http://schemas.openxmlformats.org/officeDocument/2006/relationships/notesMaster" Target="/ppt/notesMasters/notesMaster1.xml" Id="Rb6293d870bf040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9cb8a8d42c4c53" /><Relationship Type="http://schemas.openxmlformats.org/officeDocument/2006/relationships/notesMaster" Target="/ppt/notesMasters/notesMaster1.xml" Id="R1d0b83d3bc3141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9a147833154858" /><Relationship Type="http://schemas.openxmlformats.org/officeDocument/2006/relationships/notesMaster" Target="/ppt/notesMasters/notesMaster1.xml" Id="R97ddb8bcd4d24c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609cf2b92843e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1124a6a876e4eae" /><Relationship Type="http://schemas.openxmlformats.org/officeDocument/2006/relationships/slideLayout" Target="/ppt/slideLayouts/slideLayout2.xml" Id="R56cbae1fbc4e41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cbae1fbc4e41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fa2c945b384e96" /><Relationship Type="http://schemas.openxmlformats.org/officeDocument/2006/relationships/notesSlide" Target="/ppt/notesSlides/notesSlide1.xml" Id="Re9bf53f0d5e44c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236b2ffcef48f2" /><Relationship Type="http://schemas.openxmlformats.org/officeDocument/2006/relationships/notesSlide" Target="/ppt/notesSlides/notesSlide2.xml" Id="R9b35e9f8de5d44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68605e49024fcc" /><Relationship Type="http://schemas.openxmlformats.org/officeDocument/2006/relationships/notesSlide" Target="/ppt/notesSlides/notesSlide3.xml" Id="R8ca18a7a673a4a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2039b6fc6240c7" /><Relationship Type="http://schemas.openxmlformats.org/officeDocument/2006/relationships/notesSlide" Target="/ppt/notesSlides/notesSlide4.xml" Id="Rdb085ca202104f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754d5d3a2642c2" /><Relationship Type="http://schemas.openxmlformats.org/officeDocument/2006/relationships/notesSlide" Target="/ppt/notesSlides/notesSlide5.xml" Id="Re4354782d98149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c8c9df8a644201" /><Relationship Type="http://schemas.openxmlformats.org/officeDocument/2006/relationships/notesSlide" Target="/ppt/notesSlides/notesSlide6.xml" Id="R52596173fd974c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d46135f3c247dd" /><Relationship Type="http://schemas.openxmlformats.org/officeDocument/2006/relationships/notesSlide" Target="/ppt/notesSlides/notesSlide7.xml" Id="Rbcd25e155d0444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e0d982218a435c" /><Relationship Type="http://schemas.openxmlformats.org/officeDocument/2006/relationships/notesSlide" Target="/ppt/notesSlides/notesSlide8.xml" Id="R7f2eeb9ecbcc48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826dfdd0cb465f" /><Relationship Type="http://schemas.openxmlformats.org/officeDocument/2006/relationships/image" Target="/ppt/media/image.png" Id="Rcabc7df18755474c" /><Relationship Type="http://schemas.openxmlformats.org/officeDocument/2006/relationships/notesSlide" Target="/ppt/notesSlides/notesSlide9.xml" Id="R5f8ce95837d74f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82761ecef344e9" /><Relationship Type="http://schemas.openxmlformats.org/officeDocument/2006/relationships/notesSlide" Target="/ppt/notesSlides/notesSlide10.xml" Id="R8741641e056a4e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fa6ba9f2984556" /><Relationship Type="http://schemas.openxmlformats.org/officeDocument/2006/relationships/notesSlide" Target="/ppt/notesSlides/notesSlide11.xml" Id="R6c0c244f3f4e49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9007f655c14bea" /><Relationship Type="http://schemas.openxmlformats.org/officeDocument/2006/relationships/notesSlide" Target="/ppt/notesSlides/notesSlide12.xml" Id="R3159cf55cb1845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B969F3-B1EC-4B51-8684-9DAC7601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AE938-C294-4AF8-B58E-1B4CB0B5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002A1-E37F-49DF-A239-0281528C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深度学习框架系统级完善与实验验证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CA6DB-99CA-4164-8FCE-13565ACB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从核心算子、训练图、数据增强到 DonkeyCar 任务的阶段性答辩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27CD4-336B-465D-91BC-1A9DADCC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76300"/>
            <a:ext cx="27432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3"/>
          </a:solidFill>
          <a:ln xmlns:a="http://schemas.openxmlformats.org/drawingml/2006/main" w="0">
            <a:solidFill>
              <a:srgbClr val="2028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7AEA6-744E-405D-A8CD-556378EC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200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MyTorch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BCA2F-1F12-4862-9114-C8B72686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5260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6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DE6F6"/>
                </a:solidFill>
                <a:latin typeface="Microsoft YaHei"/>
                <a:ea typeface="Microsoft YaHei"/>
                <a:cs typeface="Microsoft YaHei"/>
              </a:rPr>
              <a:t>Autograd</a:t>
            </a:r>
          </a:p>
          <a:p xmlns:a="http://schemas.openxmlformats.org/drawingml/2006/main">
            <a:pPr algn="l">
              <a:defRPr sz="1500" b="0">
                <a:solidFill>
                  <a:srgbClr val="DDE6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DE6F6"/>
                </a:solidFill>
                <a:latin typeface="Microsoft YaHei"/>
                <a:ea typeface="Microsoft YaHei"/>
                <a:cs typeface="Microsoft YaHei"/>
              </a:rPr>
              <a:t>Im2col + GEMM</a:t>
            </a:r>
          </a:p>
          <a:p xmlns:a="http://schemas.openxmlformats.org/drawingml/2006/main">
            <a:pPr algn="l">
              <a:defRPr sz="1500" b="0">
                <a:solidFill>
                  <a:srgbClr val="DDE6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DE6F6"/>
                </a:solidFill>
                <a:latin typeface="Microsoft YaHei"/>
                <a:ea typeface="Microsoft YaHei"/>
                <a:cs typeface="Microsoft YaHei"/>
              </a:rPr>
              <a:t>JIT / Fusion</a:t>
            </a:r>
          </a:p>
          <a:p xmlns:a="http://schemas.openxmlformats.org/drawingml/2006/main">
            <a:pPr algn="l">
              <a:defRPr sz="1500" b="0">
                <a:solidFill>
                  <a:srgbClr val="DDE6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DE6F6"/>
                </a:solidFill>
                <a:latin typeface="Microsoft YaHei"/>
                <a:ea typeface="Microsoft YaHei"/>
                <a:cs typeface="Microsoft YaHei"/>
              </a:rPr>
              <a:t>Data Pipeline</a:t>
            </a:r>
          </a:p>
          <a:p xmlns:a="http://schemas.openxmlformats.org/drawingml/2006/main">
            <a:pPr algn="l">
              <a:defRPr sz="1500" b="0">
                <a:solidFill>
                  <a:srgbClr val="DDE6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DE6F6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37226-C471-4335-998E-9F5AAE2B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EAE2D-632D-464C-B44C-E9BFF828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卷积/池化正确性用例通过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A1168-A346-4000-9231-5FDCCA70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95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10k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217BB-F2DB-43D8-89C9-8C113B5D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958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0B995-0BF7-4E8C-813C-8B511E20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5组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E879F-7446-4FD0-A53B-70E66A3A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数据增强消融实验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C5C56-66F8-4104-946F-826546EB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65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65B4A"/>
                </a:solidFill>
                <a:latin typeface="Microsoft YaHei"/>
                <a:ea typeface="Microsoft YaHei"/>
                <a:cs typeface="Microsoft YaHei"/>
              </a:rPr>
              <a:t>路线图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F97FE-6EC8-4393-BFAC-D5A09929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958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未完成项转入下一阶段目标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54C43-15F8-4D82-A101-B62C7CCD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2A3B8-F455-4043-8CB4-5B0F7EA4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答辩主线：完成度 + 实验证据 + 下一步目标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03748A-384D-42A9-AC5D-6E12286E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53838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D7361C-F736-4617-88B4-70DE70AF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396BB984-4B0E-4F6F-9762-05B68020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484CD8A4-EAAC-4015-A93D-64B87F68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COMPLETION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4006C-1250-47F8-AD9A-22229063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项目已形成系统原型；未完成项已收敛成明确工程目标。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2A103-8578-42AC-9DE9-270340A2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状态不是简单打勾，而是把每项要求映射到代码、实验和待补证据。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FD082-79C4-49EA-8800-8F9667CF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5727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7F784-5C79-4615-AF8E-15C1E41D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任务模块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1181E-EDDF-4AEC-9297-62EB4160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38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5E9A7-7C4C-4934-913C-E6A93586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3835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当前证据 / 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0DA7C-A96F-4C30-B996-56BB84C4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C46E5-3E5C-4D6C-9D70-572BD7D4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训练可视化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0998C-9D75-4410-8BAD-1F541615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050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D6154-5C66-4473-804D-98770018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146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AA119-3FD1-4160-8F87-C445FFF5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9555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loss/epoch/batch 记录与曲线已有；缺完整训练面板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3C48F-A2EF-40EC-966C-0F59E87E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EE2"/>
          </a:solidFill>
          <a:ln xmlns:a="http://schemas.openxmlformats.org/drawingml/2006/main" w="0">
            <a:solidFill>
              <a:srgbClr val="F4EE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B6AA4-8D71-4976-86A4-49074D19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数据处理/增强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355180-A819-4075-A50C-6F7F5D91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622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807392-B9C3-4808-B4C6-74EBC8B5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718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CC7D3-88B5-4345-93C6-A1A68AB1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5275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Crop/Rotate/Jitter/MixUp/CutMix 消融已完成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B5444-99B0-49FC-BB7C-60ACE1AC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模型保存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E4164-6925-44E8-A2EE-B20F4704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194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A03F8-2960-4628-A5AE-F9552CBC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290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C0A18F-B0B0-4228-ACFD-2B1FA2AF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0995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当前以 pickle/PT 为主；JSON+NPZ/ONNX 进入下一阶段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CD99E-3DD3-4124-B47E-FB00FEF5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EE2"/>
          </a:solidFill>
          <a:ln xmlns:a="http://schemas.openxmlformats.org/drawingml/2006/main" w="0">
            <a:solidFill>
              <a:srgbClr val="F4EE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24A99E-FFCD-4EE9-A2BA-8D9EF007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推理/量化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75BA34-A798-44E1-AD37-1FDF2AF4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766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7B216F-552E-428E-BEDD-4178B333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862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8FCCC7-2DB0-42BB-B051-4ABAB22E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6715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JIT/FP16 推理有实现；INT8 量化待补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23EE68-DF42-456C-8A0B-E8D3B87F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gRPC 服务化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0D54C2-5388-4064-A43F-AC52CA75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338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86C3CA-7AA2-4D3B-A284-667A153C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434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7A0CC4-8427-434B-AC49-679467F8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2435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Docker/K8s/Kubeflow 原型有；gRPC 未完成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8D4FE8-E85C-4CB9-A639-DB703F59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EE2"/>
          </a:solidFill>
          <a:ln xmlns:a="http://schemas.openxmlformats.org/drawingml/2006/main" w="0">
            <a:solidFill>
              <a:srgbClr val="F4EE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C9E733-5D78-4FF7-903A-47AE5EBA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指标评价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3C637F-A44A-41C9-A1C3-BE88F6F2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910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0CEDCC-1F75-4CF1-A211-8D31020D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006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56EF83-0730-4ABD-B281-F3DEA584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8155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MSE/RMSE/MAE、吞吐、显存、FLOPS 已记录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F1C571-0332-4C65-AF75-7ABC53EE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卷积/池化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9E2F10-BDE9-4B54-8F84-15BC607E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482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270A1B-0543-4EFF-B3B7-C30C9B02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578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8F2E21-21CF-444B-8E93-4B25F5EE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3875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im2col+GEMM 与池化通过 11/11 正确性实验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781199-FE4B-4F11-A5DE-9E500A7E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EE2"/>
          </a:solidFill>
          <a:ln xmlns:a="http://schemas.openxmlformats.org/drawingml/2006/main" w="0">
            <a:solidFill>
              <a:srgbClr val="F4EE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420EED-3A93-4502-BD12-62ED267E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DonkeyCar 对比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3163A3-79F5-4ED9-B9E6-64151129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05475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128732-132A-489C-9ACB-7263A74F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7150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5B7ED3-C2FD-4B25-8DDA-0C193E80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95950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ResNet18 MyTorch vs PyTorch 完成；VGG/TF/Paddle 待补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EF8AB7-7036-4306-85AE-AB1CFFEA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CC9B9B-E8DC-46EB-BC49-EE67F4B9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来源：代码目录 mytorch/, model/, deploy/, kuflow/ 与已生成实验结果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E2C184-8336-45E3-A838-22AC682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719544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057ED4-52B2-4F0F-82F8-26E8E565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96686287-7A45-4943-96C2-8BC32FD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42E0E82D-BB14-4E0B-8D7B-B49462D9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77F89-F9B2-4FBA-9E0D-A85C10F0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框架结构已经从单点算子扩展为训练、评估与部署链路。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3758F-9803-4A55-92EE-8CCE43F0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每个模块都有对应代码目录或实验输出，下一阶段重点是接口标准化与服务化。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23232-49DE-456B-B394-1E84492A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F6F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23F04-8F9A-4B7A-8C3A-6B53802D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B4410-BE4D-4A84-A7D7-E649E91D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3477E-2C5A-4CAF-BD78-42CA333B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Dataset / DataLoader</a:t>
            </a:r>
          </a:p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随机增强</a:t>
            </a:r>
          </a:p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异步预取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E1492-0316-4704-81F1-419A97E7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050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E9B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12A73-5951-447A-BB79-834F7B64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05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8BDBC-5996-429B-B1F5-AB147598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574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Tensor &amp; Autograd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089CA-8F1D-4126-A4D5-A47BA8F6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Tensor device</a:t>
            </a:r>
          </a:p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Function graph</a:t>
            </a:r>
          </a:p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数值梯度检查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58DA8-CEF1-45E1-965B-0CDB4B55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050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E9B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7C422-1DD3-43F2-B73F-A9B92073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05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953F4-DBE4-43AC-AC08-180F7089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574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9A973-496E-480F-BC30-C8746A5B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813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Conv2d im2col+GEMM</a:t>
            </a:r>
          </a:p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BN / Fusion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FFE34-8339-4CBA-9321-85D004CC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050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9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AF0E8-2CE4-4346-A3D7-7B65DFA2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05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36D1A9-7073-421E-848B-81784B3A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90ACF-25BB-4F89-8EC0-C83F349F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LeNet / AutoDrive</a:t>
            </a:r>
          </a:p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PyTorch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59973-1249-48AD-A28E-E9D9F019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050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65B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DC9ED7-6224-4C41-AC0A-DF3B4AE4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050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2E5BB-4203-4497-9A5A-CE984575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2F710-4A51-409E-9780-149C72B6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JIT / metrics</a:t>
            </a:r>
          </a:p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Docker / K8s</a:t>
            </a:r>
          </a:p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gRPC next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E14C5-65B6-43A3-B7D9-58430076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289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2641C-8C63-4328-BE79-AAE80C02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289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075F3C-B56E-4BF5-A716-B3515209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289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D8174C-07AC-4608-940F-43CA7158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28925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0EFB2E-1A7D-41D4-A4C1-9AC082AB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9334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3"/>
          </a:solidFill>
          <a:ln xmlns:a="http://schemas.openxmlformats.org/drawingml/2006/main" w="9525">
            <a:solidFill>
              <a:srgbClr val="2028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468A37-D2B6-4199-8930-86068890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0CB176-5ECB-427A-97BD-A40E2B0C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672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EE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9EEF7"/>
                </a:solidFill>
                <a:latin typeface="Microsoft YaHei"/>
                <a:ea typeface="Microsoft YaHei"/>
                <a:cs typeface="Microsoft YaHei"/>
              </a:rPr>
              <a:t>正确性实验验证算子可信度；DonkeyCar 对比暴露训练效率差距；增强消融验证数据策略；未完成项进入下一阶段工程化闭环。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975879-F957-43E8-BB15-9147BBBB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B1D4FD-5BBB-45CB-93EA-822AE60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架构证据：mytorch/function.py, modules.py, transforms.py, jit.py, model/resnet.py, deploy/, kuflow/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EFFBFC-2CD2-4F66-8D07-3375D9A6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40286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8DCB98-E8FA-4807-ABF5-791B7C23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FB392919-8A56-4497-8560-11528CC3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4176C02C-E323-491D-A41B-2C1DDD9E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CORE OPERATORS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B8001-A516-46AE-8140-CB0036A3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卷积走 im2col+GEMM 主路径，池化复用窗口展开并完成反向传播。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D8831-F5AE-44A7-BCA0-38A71DDB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核心算子实现不是黑箱：forward/backward 都能落到可验证的矩阵与窗口逻辑。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EBF9B-171F-49F7-BB92-53AE4627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B52AA-1DE8-4881-801E-BF368E6D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Conv2d forward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CBB92-37B1-4F52-966C-922622FC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952A7-EEFD-4260-BAD3-C0407AF8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A61EB-F391-4886-A877-B0F85346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N,C,H,W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15C2F-62FD-494A-82DC-73AC8A1E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28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3DEAC-7454-415C-9308-6A7C5167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9080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37E861-3876-4ED8-B69A-FA35A457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E43DE-386B-4D8D-84BF-3A8445FE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051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0D0B1-2173-4CFF-BD33-6B3B43E6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28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A959E-3E47-43F9-AC03-A478527C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9080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E9B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2ECA3-3EEE-461C-8A33-5BEB7304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03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B03DD-6C7A-4C2C-A00E-6791455D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051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52E247-5CE3-4C17-921C-D28CD70E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28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38BC6-1A0C-4C38-A542-67C1968F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3670DF-5DE1-43CC-BB28-CC2BE8F3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B1768-0517-477A-83F1-8CBD4F17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N,Cout,OH,OW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6A2F7-A533-4953-8F37-C76AF9D8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3DEE28-D8B2-4547-B8CA-45B03B5D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Backward &amp; pooling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AEDEEE-67BF-4D26-8E60-AC945C89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0">
            <a:solidFill>
              <a:srgbClr val="EFE8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F03F5-25A1-44E1-9135-B082523A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dW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6170A-9BC4-43DE-B7F3-5CAF54ED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dO.T @ col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FEACA4-B6C7-42BA-A52E-12B3997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958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0">
            <a:solidFill>
              <a:srgbClr val="EFE8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2D1319-EB38-4C51-B5A2-8F3B1CEB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291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dCol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D52AAC-E957-4334-A89B-C345128C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768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dO @ 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5CD9D0-CC55-4185-A316-B74F3360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958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C"/>
          </a:solidFill>
          <a:ln xmlns:a="http://schemas.openxmlformats.org/drawingml/2006/main" w="0">
            <a:solidFill>
              <a:srgbClr val="EFE8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55021A-4EEF-4039-81CE-B99182F6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291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dX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A9309D-0591-4003-8A86-7EBEBF5F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768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col2im 还原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42D9C-5F9C-4532-9691-F07163E3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958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0">
            <a:solidFill>
              <a:srgbClr val="EFE8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672FB7-F68D-4A2C-A398-37D7D9DB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291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Pool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66961E-A5BD-4506-823B-92A29333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768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max/avg 窗口梯度分配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9A6BB1-4C34-49EF-87D4-7B83764C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6C7660-81C9-43EC-A873-C17DB3AA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实现位置：mytorch/function.py::Conv2dOp / MaxPoolOp / AvgPoolOp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8FA917-B143-4F20-89D4-81CFF083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4425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0851A-2C1A-4D12-ABF5-30F7B282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71096872-1E55-406E-8F80-F28E5527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056C9E2E-C4CD-4714-B23E-9FA8DBD3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CORRECTNESS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63712-1DBC-471B-B00A-937E7F81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11 组卷积/池化用例全部通过，误差处于数值舍入量级。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1B7E8-BB7C-45F8-8964-2998C8C0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覆盖 stride、padding、dilation、groups、depthwise、MaxPool 与 AvgPool。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9EA6E-E117-47F2-BCBA-B8F6597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3184C-DAF1-45E9-8F75-35558CB6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NumPy naive / PyTorch / MyTorch 三方对比通过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16FFC-591F-4CAB-8536-F35F887A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1145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ED70A-5C8E-4711-B831-5A6AA879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146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实验通过阈值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38B9B-1E4D-4273-9B69-61F104FE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FD9BF-87A8-4544-A012-45F41724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A396E-F8DE-41BE-B60B-3BBB1DED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96202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A45BF-A55E-4E51-BCFC-A9A39E4C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38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086A6-2D2E-4AD5-937F-69BF9D98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B643F-1D42-4577-AD97-630D1F75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8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08517-A87E-4296-A541-E8738EAE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EBB5C-32D5-4B08-BBB0-F2264AC8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Conv fwd max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1833F6-4C21-4E90-B2B2-F5AC362B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57A89-4E8E-4B6E-8C04-355F3C3A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95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对齐 NumPy naive backward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4E751-2E1A-4EF4-BF41-F1DABB3E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Conv bwd max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9FEAC-F045-48D0-BA61-E0A66E7B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121E64-5540-4234-9CB7-75C78C65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815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对齐 NumPy naive backward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0283B-BCCB-46FB-875B-3CBB34F8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Conv gradcheck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DF29D-B4AD-4EBF-A31B-8E4C3C3D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569147-7CAE-4590-AD17-19CD4CC3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672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0CC377-304D-4AD4-9647-CE2CE480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Pool gradcheck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30E12-0A77-479B-AC38-58EBC6D9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F07BAD-BA3F-4B4B-B003-77FB3A80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530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364AA4-CFD0-486B-8560-30CCD31E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E48E23-5A2A-4ED1-9D71-CF1B9C7A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结果：results/conv_pool_correctness/20260519_155002/summary.md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FDE1C3-38C5-48ED-AFE0-0213F1A1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27290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7DF676-7478-48C0-939E-1D4A6FEA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933209AD-E90B-44F1-B0C6-AEBBFF3B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7F296120-4446-4C4E-BAD4-836A3DF4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DONKEYCAR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C2007-2881-4B4A-8624-B3EF9E65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DonkeyCar 实验验证了框架能训练真实图像回归任务。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C79B1-7875-4BC6-A81F-2E2B3862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同一 ResNet18 图上比较 MyTorch JIT 与 PyTorch，既证明可用，也暴露性能差距。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5804F-B57F-4870-85D8-352A0356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BA5DE-8653-418D-B137-42145F78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18589-1960-4CA5-A846-C04FE29C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8DE8F-2B86-454B-A92F-D4FEBE0A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图像样本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FAE0E-563B-418C-BCE8-5781B5A8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rPr>
              <a:t>8k / 2k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51050-01C2-4608-BB01-A7F3673F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训练 / 验证划分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EC065-D1E7-497F-B3D4-FB6AAB47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741AA-DA30-45C9-8D8D-2D3B045E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955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模型与任务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CEE5E-3E30-4AB7-9B6C-75533274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850"/>
            <a:ext cx="219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  <a:p xmlns:a="http://schemas.openxmlformats.org/drawingml/2006/main">
            <a:pPr algn="l">
              <a:defRPr sz="142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输出维度 1</a:t>
            </a:r>
          </a:p>
          <a:p xmlns:a="http://schemas.openxmlformats.org/drawingml/2006/main">
            <a:pPr algn="l">
              <a:defRPr sz="142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MSELoss</a:t>
            </a:r>
          </a:p>
          <a:p xmlns:a="http://schemas.openxmlformats.org/drawingml/2006/main">
            <a:pPr algn="l">
              <a:defRPr sz="142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20 epoch</a:t>
            </a:r>
          </a:p>
          <a:p xmlns:a="http://schemas.openxmlformats.org/drawingml/2006/main">
            <a:pPr algn="l">
              <a:defRPr sz="142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batch size 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F9FE3-FEFB-49CB-A8EE-2F39814B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3"/>
          </a:solidFill>
          <a:ln xmlns:a="http://schemas.openxmlformats.org/drawingml/2006/main" w="9525">
            <a:solidFill>
              <a:srgbClr val="2028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CB6B5-03AF-4EE2-B61D-A0A35473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955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比较对象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B03E5-40BA-47AC-93EA-894882FB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  <a:p xmlns:a="http://schemas.openxmlformats.org/drawingml/2006/main">
            <a:pPr algn="ctr">
              <a:defRPr sz="16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  <a:p xmlns:a="http://schemas.openxmlformats.org/drawingml/2006/main">
            <a:pPr algn="ctr">
              <a:defRPr sz="16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35C90-B794-4BBC-ADD6-DFE694B9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A9BF3-9ECD-4A64-B575-A78B1A6C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配置：results/donkeycar_resnet18_jit_vs_pytorch/20260516_184610/config.json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63BBE9-5595-4D7E-BF44-A5C42DE9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84572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8D2E43-EB68-4427-9F83-57967ECA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19829028-1D13-4236-B20D-EE0CD5F2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A565B352-A615-423E-95A1-C39EC829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FRAMEWORK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F2187-CF5C-4AFC-91DD-5ED53857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MyTorch 能完成训练，但训练效率与收敛质量仍明显落后 PyTorch。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21B63-6A3C-441A-8437-42BDE3A1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这组结果把下一阶段优化方向从“感觉慢”变成了可量化瓶颈。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17223-9F0D-47EB-A20C-B881B79E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1195C-4E71-48A4-850F-D3B28B1C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训练效率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C0314-0912-42C6-97F6-88E3EAA7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01379-E571-4B58-9448-2F434E04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099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5B123-C027-4845-93BC-D05B891F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099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0BE2B-F18C-4441-818E-D54F6169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72D02-F6EA-488C-B5DB-59084D3B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25C82-8663-4968-8FF8-1E157B08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909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09136-FC91-467E-9469-0A8FBB66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90900"/>
            <a:ext cx="12704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09373-921E-4FB9-8003-36C78F81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245.4s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467E0-03D8-45EC-B2E3-99DCC31C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1C026-BE27-4E00-B20B-D48B8BD9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386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6AB56-C22D-4EB2-87BA-9E8A9036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38600"/>
            <a:ext cx="12703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0C054-A62A-4880-85FE-EC20CF6F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EE1DA-7C8B-439B-92DD-580A42DC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202EBD-13BC-4C15-AE41-C7FF4953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196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C708F-400E-4D98-BF13-897CC5EC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19600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9869D-EEB2-4E51-91B6-05795E82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2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652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D983CC-C5D3-4B0E-9229-198F46F5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4572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D40C8A-DDEE-43C7-99A9-FEECDCA1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质量与资源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4A65DF-EF16-4396-863D-2E3B499E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E5986-6858-4317-BA09-1D036F81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C8E6A-610F-4249-A122-EAB6B16C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111899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D14E23-065B-4FD1-9747-EE79F6DC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146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778093-4C12-4F9B-AEF9-CB73E069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TFLOP/s PyTorch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ED255-1686-4685-A0C4-E4D6331D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909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4AA323-E6C7-4A51-959B-90637014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909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0A942B-124C-4FC9-A2CB-AB88B8C8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956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87798-F419-4B24-ABD9-32D76B3C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E0B162-42C3-459F-AE72-AF21F8A0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87706A-C69B-40B3-AE10-7AC9E4A4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6B9FC6-A7F5-41FE-B617-430D3BD3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109251-27B1-4B49-90C0-D1EC9BBA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9B2FC6-29A0-4632-A823-2F3AEB32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196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0ADAD1-26C7-4A44-9361-7BD99D1D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19600"/>
            <a:ext cx="19587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C901F7-72AB-4B10-B86A-A0AEE290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243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2BB3E5-2054-4345-9072-7AF84FE6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959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关键解释：MyTorch 的 backward 与中间内存管理仍是主要瓶颈；本结果支持继续做算子融合、图优化和内存复用。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737EC6-7E93-4F3A-BB19-7449F4CF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E6EE75-9BDB-49B3-A181-95FA077F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结果：comparison.md；MyTorch/PyTorch 训练时间比约 12.75x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7DC8D8-FDA0-4F98-83FC-DC7051A9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690788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6F6418-6D40-47BF-88C7-D36B8523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7E369898-0286-4E18-B94E-FA3A1FA2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59C4DD3A-6D14-411A-8FED-50D608B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AUGMENTATION ABLATION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AB5D7-0127-4293-9F34-DA7DC558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短训练下增强没有提升验证 MSE，说明策略强度与标签混合仍需调参。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5299F-E879-4B62-8B0D-8674208A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消融结果本身很有价值：它避免把增强当作默认收益，而是指出下一步该怎么调。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4B0DF-FA49-4097-B229-969C2A92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5048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B758B-CC48-44DC-AA6A-27D0D95B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验证指标排行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7858C-16D7-4217-86FD-5B33F653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variant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64595-DF8A-489A-B617-E51382DB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194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ABED1-D160-4D20-A133-D5AA7CF7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194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9A901-DDDF-4621-9BEC-D1931917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none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19B9E-45C0-462E-964A-905D13EB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rPr>
              <a:t>0.02983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97504-C38F-492D-901D-323C2FF5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0.17270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7F390-CD3A-4EF8-9669-98F9CECD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crop_rotate_jitter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F7B60-CBC3-405D-8171-75C4C691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0.04164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FE7AF-7C9C-4159-91F0-262CC7D3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671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0.20406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BB66A-9669-4B70-9199-A2355856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mixup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D5621-D64F-43D4-B432-FB81D840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29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0.04730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BC1F3-C22F-445B-859E-086D91DB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290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0.21750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E5C60-551F-4DA4-9A92-C9F553E1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cutmix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C8313-0477-491A-A1EF-F9DF3DD8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91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0.05445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08410-E6D4-4D4A-B3BB-8FFDC459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0.23335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BC333-8396-4701-999C-EDFF7C69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basic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DEBAA8-0498-4C2D-BF53-C068119A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0.05967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3D419-105C-4682-B847-BFAB7A1E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529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0.24427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AAA57-6A05-439B-A009-72E4BA7B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305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EB127E-7241-471E-BE26-18D2664A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Best Val MSE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F4FF0-4551-44EC-BE8F-C61EC873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52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none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86601-EA31-440A-8B75-BA956CAC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A195EC-D648-4C1E-84DE-F8D624A6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619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E92E71-F247-4DA3-AF96-0BDCC4C1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52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782496-5C88-424A-AE1D-96E31746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33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crop_rotate_jitter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3D06BA-291E-4621-A1F8-B82E21B9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90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00C4EB-52B6-4167-BE81-22E4CC1C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9000"/>
            <a:ext cx="8667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963D6A-AD5C-4790-B635-95736E41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0.042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AE0F8E-05C2-4D69-97E7-3E5ADC19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mixup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49E9C9-E93B-464D-85A0-73A8BB2D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798DB2-4871-4688-A147-7D9B00DA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96996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D2113C-AF2B-4AB6-B15C-7403BF2D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14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0.047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DD0F2F-4A93-410E-A115-A2CDBE31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95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cutmix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6F0D18-4700-4D98-801B-A77A4901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910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893F0A-8A72-4B84-85A3-5712C7A4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91000"/>
            <a:ext cx="11144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30708A-81D6-45C6-88FB-1BB416C6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95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0.054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9ECC27-C31E-40FC-ABE2-8335EDCB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76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basic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E39A0D-0B83-44A3-AEE4-3963617F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720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5C8"/>
          </a:solidFill>
          <a:ln xmlns:a="http://schemas.openxmlformats.org/drawingml/2006/main" w="0">
            <a:solidFill>
              <a:srgbClr val="DDD5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495403-F928-4A61-9B40-EC57C1A8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72000"/>
            <a:ext cx="123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98ED30-4115-4487-B25D-1E7F2217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76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0.06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2DBB97-BBC5-4764-933F-0BCBC526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57850"/>
            <a:ext cx="876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当前结论：基础增强、MixUp、CutMix 会改变转向标签分布；短训练不足以吸收这种扰动，正式版应延长 epoch 并调低增强强度。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8F479D-84B3-4113-91EB-B2C0F06A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BBDDB0-CB19-49A6-B34D-9834078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结果：results/augmentation_ablation/20260519_163259/summary.md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02E7B5-52F7-4AC1-89F2-136C00BD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79651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2C9054-5F36-4346-B316-4D989776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3"/>
          </a:solidFill>
          <a:ln xmlns:a="http://schemas.openxmlformats.org/drawingml/2006/main" w="0">
            <a:solidFill>
              <a:srgbClr val="202833"/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ED9BCD0B-67F1-4D11-8078-FAA9DF8D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241A0DE3-0366-4682-BE21-848AA145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VISUAL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2AB9F-13EC-4CCD-B372-E9DE146D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增强样例图显示五组策略对图像和连续标签的实际影响。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25951-57E6-420B-A735-5DD4BD79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2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2E1"/>
                </a:solidFill>
                <a:latin typeface="Microsoft YaHei"/>
                <a:ea typeface="Microsoft YaHei"/>
                <a:cs typeface="Microsoft YaHei"/>
              </a:rPr>
              <a:t>MixUp/CutMix 对转向角按比例混合；水平翻转会同步反转转向符号。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c7df18755474c"/>
          <a:stretch xmlns:a="http://schemas.openxmlformats.org/drawingml/2006/main"/>
        </p:blipFill>
        <p:spPr>
          <a:xfrm xmlns:a="http://schemas.openxmlformats.org/drawingml/2006/main">
            <a:off x="3179128" y="1924050"/>
            <a:ext cx="5071745" cy="3733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179A6-D337-49CC-B972-EB8AEDB5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365"/>
          </a:solidFill>
          <a:ln xmlns:a="http://schemas.openxmlformats.org/drawingml/2006/main" w="0">
            <a:solidFill>
              <a:srgbClr val="4653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16906-0466-4E12-A420-D44C1636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A8B3C4"/>
                </a:solidFill>
                <a:latin typeface="Microsoft YaHei"/>
                <a:ea typeface="Microsoft YaHei"/>
                <a:cs typeface="Microsoft YaHei"/>
              </a:rPr>
              <a:t>图像：augmentation_samples.png，来自本地 DonkeyCar 数据与增强脚本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76426-1466-4D5D-A84E-A5196518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3C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718961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4452D9-1DCC-4C85-8922-B86EDDD2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B6E02B3B-3C97-4689-8C76-6D232FEF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91027963-D1D9-4A87-98AC-EF3D36A7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OPTIMIZATION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9C1D9-1855-4E14-AB1F-30C3E4B5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可选拓展中已有多条优化进入代码层，下一步要补定量实验。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AAD99-BE6A-48D0-8432-50977756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ResNet18、残差/BN、融合算子、JIT 训练图和异步加载都已成为可继续迭代的技术面。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166EF-1988-48A6-BBCC-49A37B4D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E9B7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21DB0-BC52-47DA-A1A7-CF8E8922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93B50-02B7-4EFA-877D-61606730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950EF-A0C0-41AE-8E1A-050A6F48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BasicBlock、BN、残差分支与 fused block 已实现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33F4A-4755-4ABD-A542-0AED623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669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F6F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A0073-B53C-4771-A377-A83F9508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669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D9EA0-D3CC-45BF-BD75-06818B15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384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JIT / Fusion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3EBBD-E45F-42AE-B25C-EC39258F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622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FusedBNReLU、FusedAddReLU、FusedMSELoss 等路径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57540-6B03-4CAB-BA59-65844943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9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514A6-5004-4BF3-AEB2-402A2AFC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C71D1-88D5-468D-9461-CDE1F959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384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Async DataLoader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D0A5A-84D9-405C-B62E-4215F6DD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生产者消费者队列、prefetch、worker 统计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D76DF-9464-4A26-892E-DA7026F2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669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65B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FBB1C-607B-4C95-847D-A33FD95B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669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26474-FC67-43AC-B69D-F860D1D4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384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Deploy Proto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80CB2-B4A5-43BF-B48B-C770596F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Dockerfile、K8s Job、Kubeflow Pipeline 草案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E4533-353C-4B94-BFA2-8C51D40C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3"/>
          </a:solidFill>
          <a:ln xmlns:a="http://schemas.openxmlformats.org/drawingml/2006/main" w="9525">
            <a:solidFill>
              <a:srgbClr val="2028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91E83-C847-42C6-9BE9-0EB80D26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证据缺口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B5A05-E523-4650-B90E-3C95F35F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577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EE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9EEF7"/>
                </a:solidFill>
                <a:latin typeface="Microsoft YaHei"/>
                <a:ea typeface="Microsoft YaHei"/>
                <a:cs typeface="Microsoft YaHei"/>
              </a:rPr>
              <a:t>这些优化已有代码与局部测试，但还需要系统性消融：eager vs JIT、同步 vs 异步、融合前后、CPU/GPU、端到端训练收益。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14FEF-A646-4C90-9254-03BC0B91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24985-9CE6-4CD6-8E74-FC501512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代码证据：model/resnet.py, mytorch/jit.py, mytorch/function.py, mytorch/async_dataloader.py, deploy/, kuflow/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F6F6A4-8CAC-4D54-AEF1-236A9B25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892654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DD6E08-66BC-4E03-AD31-0FF8FF0E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F7F4EC"/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A4970994-7BAF-497E-A42E-67A6B21B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FAA84266-C1C0-4C76-AD26-41748247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NEXT GOALS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0FEBC-D043-40F4-ABB7-FF5D835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95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未完成部分不回避：它们已经变成下一阶段可验收目标。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835AE-D10B-4C5B-8CF8-DFA6B0E2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每个目标都配套一个能放进报告的证明实验。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2B844-110E-4562-A8CF-DD46408E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381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F6F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4AAF0-EC0C-43AA-97B5-64367349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32DC3-C4D8-422D-A3B7-18759E60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模型交付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39C44-479D-4C06-9C11-AB2FF953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BFA9E-DC87-47D1-8C31-21C1CA8C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JSON+NPZ 保存/加载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FD2A8-FA38-4A79-BA0E-7A1E1CB3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42619-85B3-4624-9B7D-C6FC3B01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ONNX 导出接口预研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0A49F-9AFE-427B-B268-AB41EAF6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DB"/>
          </a:solidFill>
          <a:ln xmlns:a="http://schemas.openxmlformats.org/drawingml/2006/main" w="0">
            <a:solidFill>
              <a:srgbClr val="2F6F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E188F-E444-4448-B3BC-065F42F1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加载前后输出误差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79194-913C-43F2-8019-24B24435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2381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E9B7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CD6E0-A7FE-4E41-9A7C-37186456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23BD8-289F-4CE6-A597-F3584AD7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推理服务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1B04E2-895D-4B8A-9AFE-1519577A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8BBBA6-0B27-465A-9199-A2318D56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289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FP32 -&gt; INT8 量化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D143D-A10F-48A3-9B6C-337DA201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23C92E-8ADF-4DD6-BDEE-29B0FCC5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242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gRPC server/client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0A693-4774-46E3-825F-3CB7723D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2F148-D434-497D-89A0-3B944371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95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p50/p95 延迟与 QPS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C326A-EF99-4024-82FC-27E806B1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381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9A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ABFE51-601F-4B06-92DC-5E5EE23E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7F69FB-A0EA-4D35-9FE0-9A812CDE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任务对比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5A127-A85F-4E4B-A134-78D1BFAB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95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30A935-9E2A-4E73-B455-F9FA6411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VGG 图像分类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5267B8-CAC3-4D2F-A9C1-79ADF043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4B10CE-9813-488A-BDFB-B00E2FAB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MyTorch/PyTorch/TF/Paddle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54843D-DD06-45A4-B05F-63E71DF7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A2B"/>
          </a:solidFill>
          <a:ln xmlns:a="http://schemas.openxmlformats.org/drawingml/2006/main" w="0">
            <a:solidFill>
              <a:srgbClr val="D89A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043402-40FA-4011-A0CB-437291C5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时间/资源/FLOPS/精度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ADBB1F-260A-4163-B383-ED1936D6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66950"/>
            <a:ext cx="2381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65B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AA19BE-F13A-40FB-99FD-6816F6F6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669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64EFE1-0DF7-4D6D-9088-1A0356B8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765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202A"/>
                </a:solidFill>
                <a:latin typeface="Microsoft YaHei"/>
                <a:ea typeface="Microsoft YaHei"/>
                <a:cs typeface="Microsoft YaHei"/>
              </a:rPr>
              <a:t>部署调度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542821-2C51-4485-A5C8-E744632A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95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CB7669-C962-4393-A6B1-993C716D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289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Docker 镜像实测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842DB9-0A9D-40A6-BF7F-570C756D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29AC31-923D-41F0-87CE-576869C3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242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K8s Job 日志与资源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369E31-67E8-43BD-A058-1E3CFEB9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B4A"/>
          </a:solidFill>
          <a:ln xmlns:a="http://schemas.openxmlformats.org/drawingml/2006/main" w="0">
            <a:solidFill>
              <a:srgbClr val="C65B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C4BFA4-3BAE-4561-B8AC-F49F3C42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19550"/>
            <a:ext cx="1752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Kubeflow 算子编排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A40D79-A59D-4BE9-906F-B9920A15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AB7B54-2844-4578-AD3F-72903918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下一步目标来自任务书未完成项：JSON+NPZ、INT8、gRPC、VGG、TensorFlow/PaddlePaddle、部署验证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C3A3EE-ED3B-4E74-9360-E7221D7E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051460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42CF8D-6014-49B2-A550-BB189FDB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33"/>
          </a:solidFill>
          <a:ln xmlns:a="http://schemas.openxmlformats.org/drawingml/2006/main" w="0">
            <a:solidFill>
              <a:srgbClr val="202833"/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7A049514-AF5F-4973-BD79-127FD534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3"/>
          </a:solidFill>
          <a:ln xmlns:a="http://schemas.openxmlformats.org/drawingml/2006/main" w="0">
            <a:solidFill>
              <a:srgbClr val="2E9B73"/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1B9C07CE-657F-43B0-B866-54E7DABF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CLOSING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C987E-8F3C-437F-9F10-7EC80775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结论：框架已具备系统雏形，下一阶段要用更完整的实验闭环证明工程价值。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81E77-2233-4258-A1FD-1807203C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2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2E1"/>
                </a:solidFill>
                <a:latin typeface="Microsoft YaHei"/>
                <a:ea typeface="Microsoft YaHei"/>
                <a:cs typeface="Microsoft YaHei"/>
              </a:rPr>
              <a:t>答辩后优先补齐四类证据，让报告从“实现说明”升级为“可复现实验包”。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BE9A6-19B0-4D12-861E-C474297F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FD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CB35C-0F69-4692-9BA1-18AF0C08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模型序列化与 INT8/gRPC 推理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2B1C4-0086-43A6-A5AE-AE414904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9B7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5FE12-A93A-4723-87BE-9A86451A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480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VGG + 三框架公平对比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B1274-2562-4547-A049-A8DB3ADC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89A2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2C38A-498D-4B63-B9EE-55573B9F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卷积性能 latency/FLOPS/显存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8EBDE-8A00-44FB-AF28-46A3E528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65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65B4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5A08F-547C-41AE-AF2D-4A29AA04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480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626B76"/>
                </a:solidFill>
                <a:latin typeface="Microsoft YaHei"/>
                <a:ea typeface="Microsoft YaHei"/>
                <a:cs typeface="Microsoft YaHei"/>
              </a:rPr>
              <a:t>Docker/K8s/Kubeflow 部署实测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08804-0930-4246-A8FC-B4007DD6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8858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542"/>
          </a:solidFill>
          <a:ln xmlns:a="http://schemas.openxmlformats.org/drawingml/2006/main" w="9525">
            <a:solidFill>
              <a:srgbClr val="2B35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ED7C7-194F-4D9E-A8A7-4C4B480E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最终交付形态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7ABEC-FC23-4EAF-9EB2-D781E94C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7205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9EE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9EEF7"/>
                </a:solidFill>
                <a:latin typeface="Microsoft YaHei"/>
                <a:ea typeface="Microsoft YaHei"/>
                <a:cs typeface="Microsoft YaHei"/>
              </a:rPr>
              <a:t>代码仓库 + 实验脚本 + 结果表 + 样例图 + 设计报告，所有结论都能由本地命令复现。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A8B22-973D-4192-B1E2-CF6144CC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365"/>
          </a:solidFill>
          <a:ln xmlns:a="http://schemas.openxmlformats.org/drawingml/2006/main" w="0">
            <a:solidFill>
              <a:srgbClr val="4653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C60B7-41E3-440B-92CE-8F0DB127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8B3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A8B3C4"/>
                </a:solidFill>
                <a:latin typeface="Microsoft YaHei"/>
                <a:ea typeface="Microsoft YaHei"/>
                <a:cs typeface="Microsoft YaHei"/>
              </a:rPr>
              <a:t>阶段结论：已完成核心证明，下一步补齐工程化与跨框架证据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4A87D-4D66-4E9E-8BC0-912312E8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8B3C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59622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2026-05-19T08:52:07.4010000Z</dcterms:created>
  <dcterms:modified xsi:type="dcterms:W3CDTF">2026-05-19T08:52:07.4010000Z</dcterms:modified>
</coreProperties>
</file>