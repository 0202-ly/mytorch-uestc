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卷积形态消融已完成：groups=2 与转置卷积 Val MSE 最低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DonkeyCar ResNet18-style、base_channels=32、temporal split、20 epoch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0" name="表格底板"/>
          <p:cNvSpPr>
            <a:spLocks noGrp="1"/>
          </p:cNvSpPr>
          <p:nvPr/>
        </p:nvSpPr>
        <p:spPr>
          <a:xfrm>
            <a:off x="666750" y="2133600"/>
            <a:ext cx="7170000" cy="2475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1" name="表头底色"/>
          <p:cNvSpPr>
            <a:spLocks noGrp="1"/>
          </p:cNvSpPr>
          <p:nvPr/>
        </p:nvSpPr>
        <p:spPr>
          <a:xfrm>
            <a:off x="666750" y="2133600"/>
            <a:ext cx="7170000" cy="27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02" name="表头102"/>
          <p:cNvSpPr>
            <a:spLocks noGrp="1"/>
          </p:cNvSpPr>
          <p:nvPr/>
        </p:nvSpPr>
        <p:spPr>
          <a:xfrm>
            <a:off x="736750" y="2198600"/>
            <a:ext cx="17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变体</a:t>
            </a:r>
            <a:endParaRPr sz="10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表头103"/>
          <p:cNvSpPr>
            <a:spLocks noGrp="1"/>
          </p:cNvSpPr>
          <p:nvPr/>
        </p:nvSpPr>
        <p:spPr>
          <a:xfrm>
            <a:off x="2636750" y="2198600"/>
            <a:ext cx="123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0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头104"/>
          <p:cNvSpPr>
            <a:spLocks noGrp="1"/>
          </p:cNvSpPr>
          <p:nvPr/>
        </p:nvSpPr>
        <p:spPr>
          <a:xfrm>
            <a:off x="398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acc@0.10</a:t>
            </a:r>
            <a:endParaRPr sz="10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头105"/>
          <p:cNvSpPr>
            <a:spLocks noGrp="1"/>
          </p:cNvSpPr>
          <p:nvPr/>
        </p:nvSpPr>
        <p:spPr>
          <a:xfrm>
            <a:off x="5246750" y="2198600"/>
            <a:ext cx="114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GFLOPs</a:t>
            </a:r>
            <a:endParaRPr sz="10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头106"/>
          <p:cNvSpPr>
            <a:spLocks noGrp="1"/>
          </p:cNvSpPr>
          <p:nvPr/>
        </p:nvSpPr>
        <p:spPr>
          <a:xfrm>
            <a:off x="6506750" y="2198600"/>
            <a:ext cx="1280000" cy="17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p50 latency</a:t>
            </a:r>
            <a:endParaRPr sz="10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736750" y="24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group2_k3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2636750" y="24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0.01881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表格文字109"/>
          <p:cNvSpPr>
            <a:spLocks noGrp="1"/>
          </p:cNvSpPr>
          <p:nvPr/>
        </p:nvSpPr>
        <p:spPr>
          <a:xfrm>
            <a:off x="398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95.55%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5246750" y="24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0.215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6506750" y="24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11.36ms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隔行底色112"/>
          <p:cNvSpPr>
            <a:spLocks noGrp="1"/>
          </p:cNvSpPr>
          <p:nvPr/>
        </p:nvSpPr>
        <p:spPr>
          <a:xfrm>
            <a:off x="666750" y="26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36750" y="27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transpose_k3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636750" y="27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0.01884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98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95.20%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表格文字116"/>
          <p:cNvSpPr>
            <a:spLocks noGrp="1"/>
          </p:cNvSpPr>
          <p:nvPr/>
        </p:nvSpPr>
        <p:spPr>
          <a:xfrm>
            <a:off x="5246750" y="27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6506750" y="27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13.23ms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736750" y="30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kernel31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2636750" y="30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0.01943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398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94.35%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5246750" y="30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35.40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6506750" y="30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182.83ms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隔行底色123"/>
          <p:cNvSpPr>
            <a:spLocks noGrp="1"/>
          </p:cNvSpPr>
          <p:nvPr/>
        </p:nvSpPr>
        <p:spPr>
          <a:xfrm>
            <a:off x="666750" y="32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24" name="表格文字124"/>
          <p:cNvSpPr>
            <a:spLocks noGrp="1"/>
          </p:cNvSpPr>
          <p:nvPr/>
        </p:nvSpPr>
        <p:spPr>
          <a:xfrm>
            <a:off x="736750" y="32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dilation2_k3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5" name="表格文字125"/>
          <p:cNvSpPr>
            <a:spLocks noGrp="1"/>
          </p:cNvSpPr>
          <p:nvPr/>
        </p:nvSpPr>
        <p:spPr>
          <a:xfrm>
            <a:off x="2636750" y="32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0.01997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表格文字126"/>
          <p:cNvSpPr>
            <a:spLocks noGrp="1"/>
          </p:cNvSpPr>
          <p:nvPr/>
        </p:nvSpPr>
        <p:spPr>
          <a:xfrm>
            <a:off x="398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94.10%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7" name="表格文字127"/>
          <p:cNvSpPr>
            <a:spLocks noGrp="1"/>
          </p:cNvSpPr>
          <p:nvPr/>
        </p:nvSpPr>
        <p:spPr>
          <a:xfrm>
            <a:off x="5246750" y="32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8" name="表格文字128"/>
          <p:cNvSpPr>
            <a:spLocks noGrp="1"/>
          </p:cNvSpPr>
          <p:nvPr/>
        </p:nvSpPr>
        <p:spPr>
          <a:xfrm>
            <a:off x="6506750" y="32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11.82ms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9" name="表格文字129"/>
          <p:cNvSpPr>
            <a:spLocks noGrp="1"/>
          </p:cNvSpPr>
          <p:nvPr/>
        </p:nvSpPr>
        <p:spPr>
          <a:xfrm>
            <a:off x="736750" y="356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kernel5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0" name="表格文字130"/>
          <p:cNvSpPr>
            <a:spLocks noGrp="1"/>
          </p:cNvSpPr>
          <p:nvPr/>
        </p:nvSpPr>
        <p:spPr>
          <a:xfrm>
            <a:off x="2636750" y="356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0.02097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1" name="表格文字131"/>
          <p:cNvSpPr>
            <a:spLocks noGrp="1"/>
          </p:cNvSpPr>
          <p:nvPr/>
        </p:nvSpPr>
        <p:spPr>
          <a:xfrm>
            <a:off x="398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91.10%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2" name="表格文字132"/>
          <p:cNvSpPr>
            <a:spLocks noGrp="1"/>
          </p:cNvSpPr>
          <p:nvPr/>
        </p:nvSpPr>
        <p:spPr>
          <a:xfrm>
            <a:off x="5246750" y="356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0.969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表格文字133"/>
          <p:cNvSpPr>
            <a:spLocks noGrp="1"/>
          </p:cNvSpPr>
          <p:nvPr/>
        </p:nvSpPr>
        <p:spPr>
          <a:xfrm>
            <a:off x="6506750" y="356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19.82ms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4" name="隔行底色134"/>
          <p:cNvSpPr>
            <a:spLocks noGrp="1"/>
          </p:cNvSpPr>
          <p:nvPr/>
        </p:nvSpPr>
        <p:spPr>
          <a:xfrm>
            <a:off x="666750" y="378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35" name="表格文字135"/>
          <p:cNvSpPr>
            <a:spLocks noGrp="1"/>
          </p:cNvSpPr>
          <p:nvPr/>
        </p:nvSpPr>
        <p:spPr>
          <a:xfrm>
            <a:off x="736750" y="383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standard_k3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表格文字136"/>
          <p:cNvSpPr>
            <a:spLocks noGrp="1"/>
          </p:cNvSpPr>
          <p:nvPr/>
        </p:nvSpPr>
        <p:spPr>
          <a:xfrm>
            <a:off x="2636750" y="383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0.02107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7" name="表格文字137"/>
          <p:cNvSpPr>
            <a:spLocks noGrp="1"/>
          </p:cNvSpPr>
          <p:nvPr/>
        </p:nvSpPr>
        <p:spPr>
          <a:xfrm>
            <a:off x="398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96.30%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8" name="表格文字138"/>
          <p:cNvSpPr>
            <a:spLocks noGrp="1"/>
          </p:cNvSpPr>
          <p:nvPr/>
        </p:nvSpPr>
        <p:spPr>
          <a:xfrm>
            <a:off x="5246750" y="383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0.380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表格文字139"/>
          <p:cNvSpPr>
            <a:spLocks noGrp="1"/>
          </p:cNvSpPr>
          <p:nvPr/>
        </p:nvSpPr>
        <p:spPr>
          <a:xfrm>
            <a:off x="6506750" y="383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11.83ms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0" name="表格文字140"/>
          <p:cNvSpPr>
            <a:spLocks noGrp="1"/>
          </p:cNvSpPr>
          <p:nvPr/>
        </p:nvSpPr>
        <p:spPr>
          <a:xfrm>
            <a:off x="736750" y="4114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depthwise_k3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1" name="表格文字141"/>
          <p:cNvSpPr>
            <a:spLocks noGrp="1"/>
          </p:cNvSpPr>
          <p:nvPr/>
        </p:nvSpPr>
        <p:spPr>
          <a:xfrm>
            <a:off x="2636750" y="4114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0.02422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2" name="表格文字142"/>
          <p:cNvSpPr>
            <a:spLocks noGrp="1"/>
          </p:cNvSpPr>
          <p:nvPr/>
        </p:nvSpPr>
        <p:spPr>
          <a:xfrm>
            <a:off x="398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79.95%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3" name="表格文字143"/>
          <p:cNvSpPr>
            <a:spLocks noGrp="1"/>
          </p:cNvSpPr>
          <p:nvPr/>
        </p:nvSpPr>
        <p:spPr>
          <a:xfrm>
            <a:off x="5246750" y="4114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0.091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表格文字144"/>
          <p:cNvSpPr>
            <a:spLocks noGrp="1"/>
          </p:cNvSpPr>
          <p:nvPr/>
        </p:nvSpPr>
        <p:spPr>
          <a:xfrm>
            <a:off x="6506750" y="4114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10.70ms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5" name="隔行底色145"/>
          <p:cNvSpPr>
            <a:spLocks noGrp="1"/>
          </p:cNvSpPr>
          <p:nvPr/>
        </p:nvSpPr>
        <p:spPr>
          <a:xfrm>
            <a:off x="666750" y="4333600"/>
            <a:ext cx="7170000" cy="27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46" name="表格文字146"/>
          <p:cNvSpPr>
            <a:spLocks noGrp="1"/>
          </p:cNvSpPr>
          <p:nvPr/>
        </p:nvSpPr>
        <p:spPr>
          <a:xfrm>
            <a:off x="736750" y="4389600"/>
            <a:ext cx="17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kernel1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表格文字147"/>
          <p:cNvSpPr>
            <a:spLocks noGrp="1"/>
          </p:cNvSpPr>
          <p:nvPr/>
        </p:nvSpPr>
        <p:spPr>
          <a:xfrm>
            <a:off x="2636750" y="4389600"/>
            <a:ext cx="12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0.02761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8" name="表格文字148"/>
          <p:cNvSpPr>
            <a:spLocks noGrp="1"/>
          </p:cNvSpPr>
          <p:nvPr/>
        </p:nvSpPr>
        <p:spPr>
          <a:xfrm>
            <a:off x="398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90.70%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9" name="表格文字149"/>
          <p:cNvSpPr>
            <a:spLocks noGrp="1"/>
          </p:cNvSpPr>
          <p:nvPr/>
        </p:nvSpPr>
        <p:spPr>
          <a:xfrm>
            <a:off x="5246750" y="4389600"/>
            <a:ext cx="114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0.086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0" name="表格文字150"/>
          <p:cNvSpPr>
            <a:spLocks noGrp="1"/>
          </p:cNvSpPr>
          <p:nvPr/>
        </p:nvSpPr>
        <p:spPr>
          <a:xfrm>
            <a:off x="6506750" y="4389600"/>
            <a:ext cx="128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6.75ms</a:t>
            </a:r>
            <a:endParaRPr sz="10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1" name="结论卡151"/>
          <p:cNvSpPr>
            <a:spLocks noGrp="1"/>
          </p:cNvSpPr>
          <p:nvPr/>
        </p:nvSpPr>
        <p:spPr>
          <a:xfrm>
            <a:off x="8953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2" name="结论顶线152"/>
          <p:cNvSpPr>
            <a:spLocks noGrp="1"/>
          </p:cNvSpPr>
          <p:nvPr/>
        </p:nvSpPr>
        <p:spPr>
          <a:xfrm>
            <a:off x="8953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3" name="结论标题153"/>
          <p:cNvSpPr>
            <a:spLocks noGrp="1"/>
          </p:cNvSpPr>
          <p:nvPr/>
        </p:nvSpPr>
        <p:spPr>
          <a:xfrm>
            <a:off x="10668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尺寸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" name="结论正文154"/>
          <p:cNvSpPr>
            <a:spLocks noGrp="1"/>
          </p:cNvSpPr>
          <p:nvPr/>
        </p:nvSpPr>
        <p:spPr>
          <a:xfrm>
            <a:off x="10668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k1 精度最差；k31 MSE 较好但 FLOPs 达 35.40，约为 standard_k3 的 93 倍。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5" name="结论卡155"/>
          <p:cNvSpPr>
            <a:spLocks noGrp="1"/>
          </p:cNvSpPr>
          <p:nvPr/>
        </p:nvSpPr>
        <p:spPr>
          <a:xfrm>
            <a:off x="434340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6" name="结论顶线156"/>
          <p:cNvSpPr>
            <a:spLocks noGrp="1"/>
          </p:cNvSpPr>
          <p:nvPr/>
        </p:nvSpPr>
        <p:spPr>
          <a:xfrm>
            <a:off x="434340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57" name="结论标题157"/>
          <p:cNvSpPr>
            <a:spLocks noGrp="1"/>
          </p:cNvSpPr>
          <p:nvPr/>
        </p:nvSpPr>
        <p:spPr>
          <a:xfrm>
            <a:off x="451485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8" name="结论正文158"/>
          <p:cNvSpPr>
            <a:spLocks noGrp="1"/>
          </p:cNvSpPr>
          <p:nvPr/>
        </p:nvSpPr>
        <p:spPr>
          <a:xfrm>
            <a:off x="451485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group2_k3 取得最低 Val MSE，同时 FLOPs 降到 0.215，可作为后续候选结构。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结论卡159"/>
          <p:cNvSpPr>
            <a:spLocks noGrp="1"/>
          </p:cNvSpPr>
          <p:nvPr/>
        </p:nvSpPr>
        <p:spPr>
          <a:xfrm>
            <a:off x="7791450" y="5010150"/>
            <a:ext cx="3048000" cy="1143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0" name="结论顶线160"/>
          <p:cNvSpPr>
            <a:spLocks noGrp="1"/>
          </p:cNvSpPr>
          <p:nvPr/>
        </p:nvSpPr>
        <p:spPr>
          <a:xfrm>
            <a:off x="7791450" y="5010150"/>
            <a:ext cx="3048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800"/>
          </a:p>
        </p:txBody>
      </p:sp>
      <p:sp>
        <p:nvSpPr>
          <p:cNvPr id="161" name="结论标题161"/>
          <p:cNvSpPr>
            <a:spLocks noGrp="1"/>
          </p:cNvSpPr>
          <p:nvPr/>
        </p:nvSpPr>
        <p:spPr>
          <a:xfrm>
            <a:off x="7962900" y="5191125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应用结论</a:t>
            </a:r>
            <a:endParaRPr sz="11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结论正文162"/>
          <p:cNvSpPr>
            <a:spLocks noGrp="1"/>
          </p:cNvSpPr>
          <p:nvPr/>
        </p:nvSpPr>
        <p:spPr>
          <a:xfrm>
            <a:off x="7962900" y="5505450"/>
            <a:ext cx="2705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depthwise 参数和 FLOPs 最低，但当前结构下精度下降，需要重新设计通道配置。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61412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5715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donkey_safe / MixUp / CutMix 等均未超过 baseline。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85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85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或图扫描失败，而是“融合粒度变大”后，底层卷积、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43A50ED-FBDE-103D-8E9E-80616AA83EFE}"/>
              </a:ext>
            </a:extLst>
          </p:cNvPr>
          <p:cNvSpPr txBox="1"/>
          <p:nvPr/>
        </p:nvSpPr>
        <p:spPr>
          <a:xfrm>
            <a:off x="952500" y="59436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0F766E"/>
                </a:solidFill>
                <a:latin typeface="Microsoft YaHei" panose="020B0503020204020204" pitchFamily="34" charset="-122"/>
              </a:rPr>
              <a:t>答辩表述建议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8BE3C5F-5EFA-51F1-F4A8-38AAC56FA0E8}"/>
              </a:ext>
            </a:extLst>
          </p:cNvPr>
          <p:cNvSpPr txBox="1"/>
          <p:nvPr/>
        </p:nvSpPr>
        <p:spPr>
          <a:xfrm>
            <a:off x="9398000" y="6527800"/>
            <a:ext cx="2159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50">
                <a:solidFill>
                  <a:srgbClr val="64748B"/>
                </a:solidFill>
                <a:latin typeface="Microsoft YaHei" panose="020B0503020204020204" pitchFamily="34" charset="-122"/>
              </a:rPr>
              <a:t>自动驾驶框架答辩 </a:t>
            </a:r>
            <a:r>
              <a:rPr lang="en-US" altLang="zh-CN" sz="750">
                <a:solidFill>
                  <a:srgbClr val="64748B"/>
                </a:solidFill>
                <a:latin typeface="Microsoft YaHei" panose="020B0503020204020204" pitchFamily="34" charset="-122"/>
              </a:rPr>
              <a:t>| 18</a:t>
            </a:r>
            <a:endParaRPr lang="zh-CN" altLang="en-US" sz="75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2103</Words>
  <Application>Microsoft Office PowerPoint</Application>
  <DocSecurity>0</DocSecurity>
  <PresentationFormat>宽屏</PresentationFormat>
  <Paragraphs>411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10</cp:revision>
  <dcterms:created xsi:type="dcterms:W3CDTF">2026-05-19T13:12:39Z</dcterms:created>
  <dcterms:modified xsi:type="dcterms:W3CDTF">2026-05-21T02:52:40Z</dcterms:modified>
</cp:coreProperties>
</file>